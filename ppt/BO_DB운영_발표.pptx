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  <p:sldMasterId id="2147483669" r:id="rId2"/>
  </p:sldMasterIdLst>
  <p:notesMasterIdLst>
    <p:notesMasterId r:id="rId8"/>
  </p:notesMasterIdLst>
  <p:sldIdLst>
    <p:sldId id="258" r:id="rId3"/>
    <p:sldId id="259" r:id="rId4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  <p:sldId id="295" r:id="rId45"/>
    <p:sldId id="296" r:id="rId46"/>
    <p:sldId id="297" r:id="rId47"/>
    <p:sldId id="298" r:id="rId48"/>
    <p:sldId id="299" r:id="rId49"/>
    <p:sldId id="300" r:id="rId50"/>
    <p:sldId id="301" r:id="rId51"/>
    <p:sldId id="302" r:id="rId52"/>
    <p:sldId id="303" r:id="rId53"/>
    <p:sldId id="304" r:id="rId54"/>
    <p:sldId id="305" r:id="rId55"/>
    <p:sldId id="306" r:id="rId56"/>
    <p:sldId id="307" r:id="rId57"/>
    <p:sldId id="308" r:id="rId58"/>
    <p:sldId id="309" r:id="rId59"/>
    <p:sldId id="310" r:id="rId60"/>
    <p:sldId id="311" r:id="rId61"/>
    <p:sldId id="312" r:id="rId62"/>
    <p:sldId id="313" r:id="rId63"/>
    <p:sldId id="314" r:id="rId64"/>
    <p:sldId id="315" r:id="rId65"/>
    <p:sldId id="316" r:id="rId66"/>
    <p:sldId id="317" r:id="rId67"/>
    <p:sldId id="318" r:id="rId68"/>
    <p:sldId id="319" r:id="rId69"/>
    <p:sldId id="320" r:id="rId70"/>
    <p:sldId id="321" r:id="rId71"/>
    <p:sldId id="322" r:id="rId72"/>
    <p:sldId id="323" r:id="rId73"/>
    <p:sldId id="324" r:id="rId74"/>
    <p:sldId id="325" r:id="rId75"/>
    <p:sldId id="326" r:id="rId76"/>
    <p:sldId id="327" r:id="rId77"/>
    <p:sldId id="328" r:id="rId78"/>
    <p:sldId id="329" r:id="rId79"/>
    <p:sldId id="330" r:id="rId80"/>
    <p:sldId id="331" r:id="rId81"/>
    <p:sldId id="332" r:id="rId82"/>
    <p:sldId id="333" r:id="rId83"/>
    <p:sldId id="334" r:id="rId84"/>
    <p:sldId id="335" r:id="rId85"/>
    <p:sldId id="336" r:id="rId86"/>
    <p:sldId id="337" r:id="rId87"/>
    <p:sldId id="338" r:id="rId88"/>
    <p:sldId id="339" r:id="rId89"/>
    <p:sldId id="340" r:id="rId90"/>
    <p:sldId id="341" r:id="rId91"/>
    <p:sldId id="342" r:id="rId92"/>
    <p:sldId id="343" r:id="rId93"/>
    <p:sldId id="344" r:id="rId94"/>
    <p:sldId id="345" r:id="rId95"/>
    <p:sldId id="346" r:id="rId96"/>
    <p:sldId id="347" r:id="rId97"/>
    <p:sldId id="348" r:id="rId98"/>
    <p:sldId id="349" r:id="rId99"/>
    <p:sldId id="350" r:id="rId100"/>
    <p:sldId id="351" r:id="rId101"/>
    <p:sldId id="352" r:id="rId102"/>
    <p:sldId id="353" r:id="rId103"/>
    <p:sldId id="354" r:id="rId104"/>
    <p:sldId id="355" r:id="rId105"/>
    <p:sldId id="356" r:id="rId106"/>
    <p:sldId id="357" r:id="rId107"/>
    <p:sldId id="358" r:id="rId108"/>
    <p:sldId id="359" r:id="rId109"/>
    <p:sldId id="360" r:id="rId110"/>
    <p:sldId id="361" r:id="rId111"/>
    <p:sldId id="362" r:id="rId112"/>
    <p:sldId id="363" r:id="rId113"/>
    <p:sldId id="364" r:id="rId114"/>
    <p:sldId id="365" r:id="rId115"/>
    <p:sldId id="366" r:id="rId116"/>
    <p:sldId id="367" r:id="rId117"/>
    <p:sldId id="368" r:id="rId118"/>
    <p:sldId id="369" r:id="rId119"/>
    <p:sldId id="370" r:id="rId120"/>
    <p:sldId id="371" r:id="rId121"/>
    <p:sldId id="372" r:id="rId122"/>
    <p:sldId id="373" r:id="rId123"/>
    <p:sldId id="374" r:id="rId124"/>
    <p:sldId id="375" r:id="rId125"/>
    <p:sldId id="376" r:id="rId126"/>
    <p:sldId id="377" r:id="rId127"/>
    <p:sldId id="378" r:id="rId128"/>
    <p:sldId id="262" r:id="rId7"/>
  </p:sldIdLst>
  <p:sldSz cx="10693400" cy="756126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 clrMode="gray" scaleToFitPaper="1"/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484C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63" d="100"/>
          <a:sy n="63" d="100"/>
        </p:scale>
        <p:origin x="326" y="5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66.xml"/><Relationship Id="rId74" Type="http://schemas.openxmlformats.org/officeDocument/2006/relationships/slide" Target="slides/slide67.xml"/><Relationship Id="rId75" Type="http://schemas.openxmlformats.org/officeDocument/2006/relationships/slide" Target="slides/slide68.xml"/><Relationship Id="rId76" Type="http://schemas.openxmlformats.org/officeDocument/2006/relationships/slide" Target="slides/slide69.xml"/><Relationship Id="rId77" Type="http://schemas.openxmlformats.org/officeDocument/2006/relationships/slide" Target="slides/slide70.xml"/><Relationship Id="rId78" Type="http://schemas.openxmlformats.org/officeDocument/2006/relationships/slide" Target="slides/slide71.xml"/><Relationship Id="rId79" Type="http://schemas.openxmlformats.org/officeDocument/2006/relationships/slide" Target="slides/slide72.xml"/><Relationship Id="rId80" Type="http://schemas.openxmlformats.org/officeDocument/2006/relationships/slide" Target="slides/slide73.xml"/><Relationship Id="rId81" Type="http://schemas.openxmlformats.org/officeDocument/2006/relationships/slide" Target="slides/slide74.xml"/><Relationship Id="rId82" Type="http://schemas.openxmlformats.org/officeDocument/2006/relationships/slide" Target="slides/slide75.xml"/><Relationship Id="rId83" Type="http://schemas.openxmlformats.org/officeDocument/2006/relationships/slide" Target="slides/slide76.xml"/><Relationship Id="rId84" Type="http://schemas.openxmlformats.org/officeDocument/2006/relationships/slide" Target="slides/slide77.xml"/><Relationship Id="rId85" Type="http://schemas.openxmlformats.org/officeDocument/2006/relationships/slide" Target="slides/slide78.xml"/><Relationship Id="rId86" Type="http://schemas.openxmlformats.org/officeDocument/2006/relationships/slide" Target="slides/slide79.xml"/><Relationship Id="rId87" Type="http://schemas.openxmlformats.org/officeDocument/2006/relationships/slide" Target="slides/slide80.xml"/><Relationship Id="rId88" Type="http://schemas.openxmlformats.org/officeDocument/2006/relationships/slide" Target="slides/slide81.xml"/><Relationship Id="rId89" Type="http://schemas.openxmlformats.org/officeDocument/2006/relationships/slide" Target="slides/slide82.xml"/><Relationship Id="rId90" Type="http://schemas.openxmlformats.org/officeDocument/2006/relationships/slide" Target="slides/slide83.xml"/><Relationship Id="rId91" Type="http://schemas.openxmlformats.org/officeDocument/2006/relationships/slide" Target="slides/slide84.xml"/><Relationship Id="rId92" Type="http://schemas.openxmlformats.org/officeDocument/2006/relationships/slide" Target="slides/slide85.xml"/><Relationship Id="rId93" Type="http://schemas.openxmlformats.org/officeDocument/2006/relationships/slide" Target="slides/slide86.xml"/><Relationship Id="rId94" Type="http://schemas.openxmlformats.org/officeDocument/2006/relationships/slide" Target="slides/slide87.xml"/><Relationship Id="rId95" Type="http://schemas.openxmlformats.org/officeDocument/2006/relationships/slide" Target="slides/slide88.xml"/><Relationship Id="rId96" Type="http://schemas.openxmlformats.org/officeDocument/2006/relationships/slide" Target="slides/slide89.xml"/><Relationship Id="rId97" Type="http://schemas.openxmlformats.org/officeDocument/2006/relationships/slide" Target="slides/slide90.xml"/><Relationship Id="rId98" Type="http://schemas.openxmlformats.org/officeDocument/2006/relationships/slide" Target="slides/slide91.xml"/><Relationship Id="rId99" Type="http://schemas.openxmlformats.org/officeDocument/2006/relationships/slide" Target="slides/slide92.xml"/><Relationship Id="rId100" Type="http://schemas.openxmlformats.org/officeDocument/2006/relationships/slide" Target="slides/slide93.xml"/><Relationship Id="rId101" Type="http://schemas.openxmlformats.org/officeDocument/2006/relationships/slide" Target="slides/slide94.xml"/><Relationship Id="rId102" Type="http://schemas.openxmlformats.org/officeDocument/2006/relationships/slide" Target="slides/slide95.xml"/><Relationship Id="rId103" Type="http://schemas.openxmlformats.org/officeDocument/2006/relationships/slide" Target="slides/slide96.xml"/><Relationship Id="rId104" Type="http://schemas.openxmlformats.org/officeDocument/2006/relationships/slide" Target="slides/slide97.xml"/><Relationship Id="rId105" Type="http://schemas.openxmlformats.org/officeDocument/2006/relationships/slide" Target="slides/slide98.xml"/><Relationship Id="rId106" Type="http://schemas.openxmlformats.org/officeDocument/2006/relationships/slide" Target="slides/slide99.xml"/><Relationship Id="rId107" Type="http://schemas.openxmlformats.org/officeDocument/2006/relationships/slide" Target="slides/slide100.xml"/><Relationship Id="rId108" Type="http://schemas.openxmlformats.org/officeDocument/2006/relationships/slide" Target="slides/slide101.xml"/><Relationship Id="rId109" Type="http://schemas.openxmlformats.org/officeDocument/2006/relationships/slide" Target="slides/slide102.xml"/><Relationship Id="rId110" Type="http://schemas.openxmlformats.org/officeDocument/2006/relationships/slide" Target="slides/slide103.xml"/><Relationship Id="rId111" Type="http://schemas.openxmlformats.org/officeDocument/2006/relationships/slide" Target="slides/slide104.xml"/><Relationship Id="rId112" Type="http://schemas.openxmlformats.org/officeDocument/2006/relationships/slide" Target="slides/slide105.xml"/><Relationship Id="rId113" Type="http://schemas.openxmlformats.org/officeDocument/2006/relationships/slide" Target="slides/slide106.xml"/><Relationship Id="rId114" Type="http://schemas.openxmlformats.org/officeDocument/2006/relationships/slide" Target="slides/slide107.xml"/><Relationship Id="rId115" Type="http://schemas.openxmlformats.org/officeDocument/2006/relationships/slide" Target="slides/slide108.xml"/><Relationship Id="rId116" Type="http://schemas.openxmlformats.org/officeDocument/2006/relationships/slide" Target="slides/slide109.xml"/><Relationship Id="rId117" Type="http://schemas.openxmlformats.org/officeDocument/2006/relationships/slide" Target="slides/slide110.xml"/><Relationship Id="rId118" Type="http://schemas.openxmlformats.org/officeDocument/2006/relationships/slide" Target="slides/slide111.xml"/><Relationship Id="rId119" Type="http://schemas.openxmlformats.org/officeDocument/2006/relationships/slide" Target="slides/slide112.xml"/><Relationship Id="rId120" Type="http://schemas.openxmlformats.org/officeDocument/2006/relationships/slide" Target="slides/slide113.xml"/><Relationship Id="rId121" Type="http://schemas.openxmlformats.org/officeDocument/2006/relationships/slide" Target="slides/slide114.xml"/><Relationship Id="rId122" Type="http://schemas.openxmlformats.org/officeDocument/2006/relationships/slide" Target="slides/slide115.xml"/><Relationship Id="rId123" Type="http://schemas.openxmlformats.org/officeDocument/2006/relationships/slide" Target="slides/slide116.xml"/><Relationship Id="rId124" Type="http://schemas.openxmlformats.org/officeDocument/2006/relationships/slide" Target="slides/slide117.xml"/><Relationship Id="rId125" Type="http://schemas.openxmlformats.org/officeDocument/2006/relationships/slide" Target="slides/slide118.xml"/><Relationship Id="rId126" Type="http://schemas.openxmlformats.org/officeDocument/2006/relationships/slide" Target="slides/slide119.xml"/><Relationship Id="rId127" Type="http://schemas.openxmlformats.org/officeDocument/2006/relationships/slide" Target="slides/slide120.xml"/><Relationship Id="rId128" Type="http://schemas.openxmlformats.org/officeDocument/2006/relationships/slide" Target="slides/slide12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4543EC8-4E6D-46BD-944B-963EC29406E5}" type="datetimeFigureOut">
              <a:rPr lang="ko-KR" altLang="en-US" smtClean="0"/>
              <a:t>2026-07-07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1246188" y="1143000"/>
            <a:ext cx="4365625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643497E-7C23-425D-9327-51260E98B4A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7420041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pn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제목 1"/>
          <p:cNvSpPr>
            <a:spLocks noGrp="1"/>
          </p:cNvSpPr>
          <p:nvPr>
            <p:ph type="ctrTitle" hasCustomPrompt="1"/>
          </p:nvPr>
        </p:nvSpPr>
        <p:spPr>
          <a:xfrm>
            <a:off x="1206241" y="2109140"/>
            <a:ext cx="7992889" cy="874575"/>
          </a:xfrm>
          <a:prstGeom prst="rect">
            <a:avLst/>
          </a:prstGeom>
        </p:spPr>
        <p:txBody>
          <a:bodyPr/>
          <a:lstStyle>
            <a:lvl1pPr marL="0" indent="0" algn="l">
              <a:buFont typeface="Arial" panose="020B0604020202020204" pitchFamily="34" charset="0"/>
              <a:buNone/>
              <a:defRPr sz="5000">
                <a:solidFill>
                  <a:srgbClr val="2482C8"/>
                </a:solidFill>
                <a:latin typeface="다키 M Title" pitchFamily="2" charset="-127"/>
                <a:ea typeface="다키 M Title" pitchFamily="2" charset="-127"/>
              </a:defRPr>
            </a:lvl1pPr>
          </a:lstStyle>
          <a:p>
            <a:r>
              <a:rPr lang="ko-KR" altLang="en-US" dirty="0" smtClean="0"/>
              <a:t>표지 부제목 입력</a:t>
            </a:r>
            <a:endParaRPr lang="ko-KR" altLang="en-US" dirty="0"/>
          </a:p>
        </p:txBody>
      </p:sp>
      <p:sp>
        <p:nvSpPr>
          <p:cNvPr id="8" name="부제목 2"/>
          <p:cNvSpPr>
            <a:spLocks noGrp="1"/>
          </p:cNvSpPr>
          <p:nvPr>
            <p:ph type="subTitle" idx="1" hasCustomPrompt="1"/>
          </p:nvPr>
        </p:nvSpPr>
        <p:spPr>
          <a:xfrm>
            <a:off x="1314252" y="5131746"/>
            <a:ext cx="2594426" cy="397930"/>
          </a:xfrm>
          <a:prstGeom prst="rect">
            <a:avLst/>
          </a:prstGeom>
        </p:spPr>
        <p:txBody>
          <a:bodyPr/>
          <a:lstStyle>
            <a:lvl1pPr marL="0" indent="0" algn="l">
              <a:buFont typeface="Arial" panose="020B0604020202020204" pitchFamily="34" charset="0"/>
              <a:buNone/>
              <a:defRPr sz="1800">
                <a:solidFill>
                  <a:srgbClr val="9DA6AB"/>
                </a:solidFill>
                <a:latin typeface="다키 L" pitchFamily="2" charset="-127"/>
                <a:ea typeface="다키 L" pitchFamily="2" charset="-127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altLang="ko-KR" dirty="0" smtClean="0"/>
              <a:t>00 </a:t>
            </a:r>
            <a:r>
              <a:rPr lang="ko-KR" altLang="en-US" dirty="0" smtClean="0"/>
              <a:t>팀</a:t>
            </a:r>
            <a:endParaRPr lang="ko-KR" altLang="en-US" dirty="0"/>
          </a:p>
        </p:txBody>
      </p:sp>
      <p:sp>
        <p:nvSpPr>
          <p:cNvPr id="9" name="직사각형 8"/>
          <p:cNvSpPr/>
          <p:nvPr userDrawn="1"/>
        </p:nvSpPr>
        <p:spPr>
          <a:xfrm>
            <a:off x="1350256" y="0"/>
            <a:ext cx="1926000" cy="1595699"/>
          </a:xfrm>
          <a:prstGeom prst="rect">
            <a:avLst/>
          </a:prstGeom>
          <a:solidFill>
            <a:srgbClr val="2482C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indent="0" algn="ctr">
              <a:buFont typeface="Arial" panose="020B0604020202020204" pitchFamily="34" charset="0"/>
              <a:buNone/>
            </a:pPr>
            <a:endParaRPr lang="ko-KR" altLang="en-US"/>
          </a:p>
        </p:txBody>
      </p:sp>
      <p:cxnSp>
        <p:nvCxnSpPr>
          <p:cNvPr id="10" name="직선 연결선 9"/>
          <p:cNvCxnSpPr/>
          <p:nvPr userDrawn="1"/>
        </p:nvCxnSpPr>
        <p:spPr>
          <a:xfrm>
            <a:off x="1314252" y="4932759"/>
            <a:ext cx="2592288" cy="0"/>
          </a:xfrm>
          <a:prstGeom prst="line">
            <a:avLst/>
          </a:prstGeom>
          <a:ln>
            <a:solidFill>
              <a:srgbClr val="9DA6A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직선 연결선 10"/>
          <p:cNvCxnSpPr/>
          <p:nvPr userDrawn="1"/>
        </p:nvCxnSpPr>
        <p:spPr>
          <a:xfrm>
            <a:off x="1314252" y="6587727"/>
            <a:ext cx="2592288" cy="0"/>
          </a:xfrm>
          <a:prstGeom prst="line">
            <a:avLst/>
          </a:prstGeom>
          <a:ln>
            <a:solidFill>
              <a:srgbClr val="9DA6A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" name="Picture 2"/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1649958" y="998811"/>
            <a:ext cx="1326596" cy="1932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3" name="텍스트 개체 틀 15"/>
          <p:cNvSpPr>
            <a:spLocks noGrp="1"/>
          </p:cNvSpPr>
          <p:nvPr>
            <p:ph type="body" sz="quarter" idx="10" hasCustomPrompt="1"/>
          </p:nvPr>
        </p:nvSpPr>
        <p:spPr>
          <a:xfrm>
            <a:off x="1206501" y="3064278"/>
            <a:ext cx="7993063" cy="1152878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sz="2400">
                <a:solidFill>
                  <a:srgbClr val="323C46"/>
                </a:solidFill>
                <a:latin typeface="다키 M Title" pitchFamily="2" charset="-127"/>
                <a:ea typeface="다키 M Title" pitchFamily="2" charset="-127"/>
              </a:defRPr>
            </a:lvl1pPr>
          </a:lstStyle>
          <a:p>
            <a:pPr algn="l"/>
            <a:r>
              <a:rPr lang="ko-KR" altLang="en-US" sz="6000" dirty="0" smtClean="0">
                <a:solidFill>
                  <a:srgbClr val="323C46"/>
                </a:solidFill>
              </a:rPr>
              <a:t>타이틀을 입력해주세요</a:t>
            </a:r>
            <a:endParaRPr lang="ko-KR" altLang="en-US" sz="6000" dirty="0">
              <a:solidFill>
                <a:srgbClr val="323C46"/>
              </a:solidFill>
            </a:endParaRPr>
          </a:p>
        </p:txBody>
      </p:sp>
      <p:sp>
        <p:nvSpPr>
          <p:cNvPr id="14" name="텍스트 개체 틀 17"/>
          <p:cNvSpPr>
            <a:spLocks noGrp="1"/>
          </p:cNvSpPr>
          <p:nvPr>
            <p:ph type="body" sz="quarter" idx="11" hasCustomPrompt="1"/>
          </p:nvPr>
        </p:nvSpPr>
        <p:spPr>
          <a:xfrm>
            <a:off x="1314252" y="5569517"/>
            <a:ext cx="2592288" cy="397152"/>
          </a:xfrm>
          <a:prstGeom prst="rect">
            <a:avLst/>
          </a:prstGeom>
        </p:spPr>
        <p:txBody>
          <a:bodyPr anchor="ctr"/>
          <a:lstStyle>
            <a:lvl1pPr marL="0" indent="0">
              <a:buNone/>
              <a:defRPr sz="1800">
                <a:solidFill>
                  <a:srgbClr val="9DA6AB"/>
                </a:solidFill>
                <a:latin typeface="다키 L" pitchFamily="2" charset="-127"/>
                <a:ea typeface="다키 L" pitchFamily="2" charset="-127"/>
              </a:defRPr>
            </a:lvl1pPr>
          </a:lstStyle>
          <a:p>
            <a:r>
              <a:rPr lang="ko-KR" altLang="en-US" dirty="0" smtClean="0"/>
              <a:t>홍길동</a:t>
            </a:r>
            <a:endParaRPr lang="en-US" altLang="ko-KR" dirty="0" smtClean="0"/>
          </a:p>
        </p:txBody>
      </p:sp>
      <p:sp>
        <p:nvSpPr>
          <p:cNvPr id="15" name="텍스트 개체 틀 19"/>
          <p:cNvSpPr>
            <a:spLocks noGrp="1"/>
          </p:cNvSpPr>
          <p:nvPr>
            <p:ph type="body" sz="quarter" idx="12" hasCustomPrompt="1"/>
          </p:nvPr>
        </p:nvSpPr>
        <p:spPr>
          <a:xfrm>
            <a:off x="1314787" y="6006851"/>
            <a:ext cx="2593899" cy="39841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800">
                <a:solidFill>
                  <a:srgbClr val="9DA6AB"/>
                </a:solidFill>
                <a:latin typeface="다키 L" pitchFamily="2" charset="-127"/>
                <a:ea typeface="다키 L" pitchFamily="2" charset="-127"/>
              </a:defRPr>
            </a:lvl1pPr>
          </a:lstStyle>
          <a:p>
            <a:r>
              <a:rPr lang="en-US" altLang="ko-KR" dirty="0" smtClean="0"/>
              <a:t>2022.00.00</a:t>
            </a:r>
          </a:p>
        </p:txBody>
      </p:sp>
    </p:spTree>
    <p:extLst>
      <p:ext uri="{BB962C8B-B14F-4D97-AF65-F5344CB8AC3E}">
        <p14:creationId xmlns:p14="http://schemas.microsoft.com/office/powerpoint/2010/main" val="234639095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제목 슬라이드">
    <p:bg>
      <p:bgPr>
        <a:solidFill>
          <a:srgbClr val="2484C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제목 1"/>
          <p:cNvSpPr>
            <a:spLocks noGrp="1"/>
          </p:cNvSpPr>
          <p:nvPr>
            <p:ph type="ctrTitle" hasCustomPrompt="1"/>
          </p:nvPr>
        </p:nvSpPr>
        <p:spPr>
          <a:xfrm>
            <a:off x="1206241" y="2109140"/>
            <a:ext cx="7992889" cy="874575"/>
          </a:xfrm>
          <a:prstGeom prst="rect">
            <a:avLst/>
          </a:prstGeom>
        </p:spPr>
        <p:txBody>
          <a:bodyPr/>
          <a:lstStyle>
            <a:lvl1pPr marL="0" indent="0" algn="l">
              <a:buFont typeface="Arial" panose="020B0604020202020204" pitchFamily="34" charset="0"/>
              <a:buNone/>
              <a:defRPr sz="5000">
                <a:solidFill>
                  <a:srgbClr val="323C46"/>
                </a:solidFill>
                <a:latin typeface="다키 M Title" pitchFamily="2" charset="-127"/>
                <a:ea typeface="다키 M Title" pitchFamily="2" charset="-127"/>
              </a:defRPr>
            </a:lvl1pPr>
          </a:lstStyle>
          <a:p>
            <a:r>
              <a:rPr lang="ko-KR" altLang="en-US" dirty="0" smtClean="0"/>
              <a:t>표지 부제목 입력</a:t>
            </a:r>
            <a:endParaRPr lang="ko-KR" altLang="en-US" dirty="0"/>
          </a:p>
        </p:txBody>
      </p:sp>
      <p:sp>
        <p:nvSpPr>
          <p:cNvPr id="17" name="부제목 2"/>
          <p:cNvSpPr>
            <a:spLocks noGrp="1"/>
          </p:cNvSpPr>
          <p:nvPr>
            <p:ph type="subTitle" idx="1" hasCustomPrompt="1"/>
          </p:nvPr>
        </p:nvSpPr>
        <p:spPr>
          <a:xfrm>
            <a:off x="1314252" y="5132962"/>
            <a:ext cx="2594426" cy="397930"/>
          </a:xfrm>
          <a:prstGeom prst="rect">
            <a:avLst/>
          </a:prstGeom>
        </p:spPr>
        <p:txBody>
          <a:bodyPr/>
          <a:lstStyle>
            <a:lvl1pPr marL="0" indent="0" algn="l">
              <a:buFont typeface="Arial" panose="020B0604020202020204" pitchFamily="34" charset="0"/>
              <a:buNone/>
              <a:defRPr sz="1800">
                <a:solidFill>
                  <a:srgbClr val="D8E2E7"/>
                </a:solidFill>
                <a:latin typeface="다키 L" pitchFamily="2" charset="-127"/>
                <a:ea typeface="다키 L" pitchFamily="2" charset="-127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altLang="ko-KR" dirty="0" smtClean="0"/>
              <a:t>00 </a:t>
            </a:r>
            <a:r>
              <a:rPr lang="ko-KR" altLang="en-US" dirty="0" smtClean="0"/>
              <a:t>팀</a:t>
            </a:r>
            <a:endParaRPr lang="ko-KR" altLang="en-US" dirty="0"/>
          </a:p>
        </p:txBody>
      </p:sp>
      <p:sp>
        <p:nvSpPr>
          <p:cNvPr id="18" name="직사각형 17"/>
          <p:cNvSpPr/>
          <p:nvPr userDrawn="1"/>
        </p:nvSpPr>
        <p:spPr>
          <a:xfrm>
            <a:off x="1350256" y="0"/>
            <a:ext cx="1926000" cy="159569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indent="0" algn="ctr">
              <a:buFont typeface="Arial" panose="020B0604020202020204" pitchFamily="34" charset="0"/>
              <a:buNone/>
            </a:pPr>
            <a:endParaRPr lang="ko-KR" altLang="en-US"/>
          </a:p>
        </p:txBody>
      </p:sp>
      <p:cxnSp>
        <p:nvCxnSpPr>
          <p:cNvPr id="19" name="직선 연결선 18"/>
          <p:cNvCxnSpPr/>
          <p:nvPr userDrawn="1"/>
        </p:nvCxnSpPr>
        <p:spPr>
          <a:xfrm>
            <a:off x="1314252" y="4933975"/>
            <a:ext cx="2592288" cy="0"/>
          </a:xfrm>
          <a:prstGeom prst="line">
            <a:avLst/>
          </a:prstGeom>
          <a:ln>
            <a:solidFill>
              <a:srgbClr val="D8E2E7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직선 연결선 19"/>
          <p:cNvCxnSpPr/>
          <p:nvPr userDrawn="1"/>
        </p:nvCxnSpPr>
        <p:spPr>
          <a:xfrm>
            <a:off x="1314252" y="6588943"/>
            <a:ext cx="2592288" cy="0"/>
          </a:xfrm>
          <a:prstGeom prst="line">
            <a:avLst/>
          </a:prstGeom>
          <a:ln>
            <a:solidFill>
              <a:srgbClr val="D8E2E7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텍스트 개체 틀 17"/>
          <p:cNvSpPr>
            <a:spLocks noGrp="1"/>
          </p:cNvSpPr>
          <p:nvPr>
            <p:ph type="body" sz="quarter" idx="11" hasCustomPrompt="1"/>
          </p:nvPr>
        </p:nvSpPr>
        <p:spPr>
          <a:xfrm>
            <a:off x="1314252" y="5570733"/>
            <a:ext cx="2592288" cy="397152"/>
          </a:xfrm>
          <a:prstGeom prst="rect">
            <a:avLst/>
          </a:prstGeom>
        </p:spPr>
        <p:txBody>
          <a:bodyPr anchor="ctr"/>
          <a:lstStyle>
            <a:lvl1pPr marL="0" indent="0">
              <a:buNone/>
              <a:defRPr sz="1800">
                <a:solidFill>
                  <a:srgbClr val="D8E2E7"/>
                </a:solidFill>
                <a:latin typeface="다키 L" pitchFamily="2" charset="-127"/>
                <a:ea typeface="다키 L" pitchFamily="2" charset="-127"/>
              </a:defRPr>
            </a:lvl1pPr>
          </a:lstStyle>
          <a:p>
            <a:r>
              <a:rPr lang="ko-KR" altLang="en-US" dirty="0" smtClean="0"/>
              <a:t>홍길동</a:t>
            </a:r>
            <a:endParaRPr lang="en-US" altLang="ko-KR" dirty="0" smtClean="0"/>
          </a:p>
        </p:txBody>
      </p:sp>
      <p:sp>
        <p:nvSpPr>
          <p:cNvPr id="22" name="텍스트 개체 틀 19"/>
          <p:cNvSpPr>
            <a:spLocks noGrp="1"/>
          </p:cNvSpPr>
          <p:nvPr>
            <p:ph type="body" sz="quarter" idx="12" hasCustomPrompt="1"/>
          </p:nvPr>
        </p:nvSpPr>
        <p:spPr>
          <a:xfrm>
            <a:off x="1314787" y="6008067"/>
            <a:ext cx="2593899" cy="39841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800">
                <a:solidFill>
                  <a:srgbClr val="D8E2E7"/>
                </a:solidFill>
                <a:latin typeface="다키 L" pitchFamily="2" charset="-127"/>
                <a:ea typeface="다키 L" pitchFamily="2" charset="-127"/>
              </a:defRPr>
            </a:lvl1pPr>
          </a:lstStyle>
          <a:p>
            <a:r>
              <a:rPr lang="en-US" altLang="ko-KR" dirty="0" smtClean="0"/>
              <a:t>2022.00.00</a:t>
            </a:r>
          </a:p>
        </p:txBody>
      </p:sp>
      <p:pic>
        <p:nvPicPr>
          <p:cNvPr id="23" name="Picture 2"/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1649958" y="998049"/>
            <a:ext cx="1326596" cy="1932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4" name="텍스트 개체 틀 4"/>
          <p:cNvSpPr>
            <a:spLocks noGrp="1"/>
          </p:cNvSpPr>
          <p:nvPr>
            <p:ph type="body" sz="quarter" idx="13" hasCustomPrompt="1"/>
          </p:nvPr>
        </p:nvSpPr>
        <p:spPr>
          <a:xfrm>
            <a:off x="1206501" y="2984848"/>
            <a:ext cx="7993063" cy="147224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6000">
                <a:solidFill>
                  <a:schemeClr val="bg1"/>
                </a:solidFill>
                <a:latin typeface="다키 M Title" pitchFamily="2" charset="-127"/>
                <a:ea typeface="다키 M Title" pitchFamily="2" charset="-127"/>
              </a:defRPr>
            </a:lvl1pPr>
          </a:lstStyle>
          <a:p>
            <a:pPr lvl="0"/>
            <a:r>
              <a:rPr lang="ko-KR" altLang="en-US" dirty="0" smtClean="0"/>
              <a:t>타이틀을 입력해주세요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25185156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제목 1"/>
          <p:cNvSpPr>
            <a:spLocks noGrp="1"/>
          </p:cNvSpPr>
          <p:nvPr>
            <p:ph type="title" hasCustomPrompt="1"/>
          </p:nvPr>
        </p:nvSpPr>
        <p:spPr>
          <a:xfrm>
            <a:off x="1242244" y="1949950"/>
            <a:ext cx="3276364" cy="2785819"/>
          </a:xfrm>
          <a:prstGeom prst="rect">
            <a:avLst/>
          </a:prstGeom>
        </p:spPr>
        <p:txBody>
          <a:bodyPr/>
          <a:lstStyle>
            <a:lvl1pPr algn="l">
              <a:defRPr sz="5400">
                <a:solidFill>
                  <a:srgbClr val="2482C8"/>
                </a:solidFill>
                <a:latin typeface="다키 L" pitchFamily="2" charset="-127"/>
                <a:ea typeface="다키 L" pitchFamily="2" charset="-127"/>
              </a:defRPr>
            </a:lvl1pPr>
          </a:lstStyle>
          <a:p>
            <a:r>
              <a:rPr lang="en-US" altLang="ko-KR" dirty="0" smtClean="0"/>
              <a:t>Table </a:t>
            </a:r>
            <a:br>
              <a:rPr lang="en-US" altLang="ko-KR" dirty="0" smtClean="0"/>
            </a:br>
            <a:r>
              <a:rPr lang="en-US" altLang="ko-KR" dirty="0" smtClean="0"/>
              <a:t>of </a:t>
            </a:r>
            <a:br>
              <a:rPr lang="en-US" altLang="ko-KR" dirty="0" smtClean="0"/>
            </a:br>
            <a:r>
              <a:rPr lang="en-US" altLang="ko-KR" dirty="0" smtClean="0"/>
              <a:t>contents</a:t>
            </a:r>
            <a:endParaRPr lang="ko-KR" altLang="en-US" dirty="0"/>
          </a:p>
        </p:txBody>
      </p:sp>
      <p:sp>
        <p:nvSpPr>
          <p:cNvPr id="8" name="직사각형 7"/>
          <p:cNvSpPr/>
          <p:nvPr userDrawn="1"/>
        </p:nvSpPr>
        <p:spPr>
          <a:xfrm>
            <a:off x="1350256" y="0"/>
            <a:ext cx="1926000" cy="1595699"/>
          </a:xfrm>
          <a:prstGeom prst="rect">
            <a:avLst/>
          </a:prstGeom>
          <a:solidFill>
            <a:srgbClr val="2482C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텍스트 개체 틀 19"/>
          <p:cNvSpPr>
            <a:spLocks noGrp="1"/>
          </p:cNvSpPr>
          <p:nvPr>
            <p:ph type="body" sz="quarter" idx="10" hasCustomPrompt="1"/>
          </p:nvPr>
        </p:nvSpPr>
        <p:spPr>
          <a:xfrm>
            <a:off x="5202685" y="1612738"/>
            <a:ext cx="792088" cy="5829256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buNone/>
              <a:defRPr sz="4000">
                <a:solidFill>
                  <a:srgbClr val="2482C8"/>
                </a:solidFill>
                <a:latin typeface="다키 M" pitchFamily="2" charset="-127"/>
                <a:ea typeface="다키 M" pitchFamily="2" charset="-127"/>
              </a:defRPr>
            </a:lvl1pPr>
          </a:lstStyle>
          <a:p>
            <a:pPr>
              <a:lnSpc>
                <a:spcPct val="150000"/>
              </a:lnSpc>
            </a:pPr>
            <a:r>
              <a:rPr lang="en-US" altLang="ko-KR" sz="3600" dirty="0" smtClean="0"/>
              <a:t>01</a:t>
            </a:r>
          </a:p>
          <a:p>
            <a:pPr>
              <a:lnSpc>
                <a:spcPct val="150000"/>
              </a:lnSpc>
            </a:pPr>
            <a:r>
              <a:rPr lang="en-US" altLang="ko-KR" sz="3600" dirty="0" smtClean="0"/>
              <a:t>02</a:t>
            </a:r>
          </a:p>
          <a:p>
            <a:pPr>
              <a:lnSpc>
                <a:spcPct val="150000"/>
              </a:lnSpc>
            </a:pPr>
            <a:r>
              <a:rPr lang="en-US" altLang="ko-KR" sz="3600" dirty="0" smtClean="0"/>
              <a:t>03</a:t>
            </a:r>
          </a:p>
          <a:p>
            <a:pPr>
              <a:lnSpc>
                <a:spcPct val="150000"/>
              </a:lnSpc>
            </a:pPr>
            <a:r>
              <a:rPr lang="en-US" altLang="ko-KR" sz="3600" dirty="0" smtClean="0"/>
              <a:t>04</a:t>
            </a:r>
            <a:endParaRPr lang="ko-KR" altLang="en-US" sz="4200" dirty="0"/>
          </a:p>
        </p:txBody>
      </p:sp>
      <p:sp>
        <p:nvSpPr>
          <p:cNvPr id="10" name="텍스트 개체 틀 25"/>
          <p:cNvSpPr>
            <a:spLocks noGrp="1"/>
          </p:cNvSpPr>
          <p:nvPr>
            <p:ph type="body" sz="quarter" idx="13" hasCustomPrompt="1"/>
          </p:nvPr>
        </p:nvSpPr>
        <p:spPr>
          <a:xfrm>
            <a:off x="5994773" y="2347925"/>
            <a:ext cx="4392487" cy="557164"/>
          </a:xfrm>
          <a:prstGeom prst="rect">
            <a:avLst/>
          </a:prstGeom>
        </p:spPr>
        <p:txBody>
          <a:bodyPr/>
          <a:lstStyle>
            <a:lvl1pPr marL="0" marR="0" indent="0" algn="l" defTabSz="360000" rtl="0" eaLnBrk="1" fontAlgn="auto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>
                <a:latin typeface="다키 M" pitchFamily="2" charset="-127"/>
                <a:ea typeface="다키 M" pitchFamily="2" charset="-127"/>
              </a:defRPr>
            </a:lvl1pPr>
          </a:lstStyle>
          <a:p>
            <a:pPr marL="0" marR="0" indent="0" algn="l" defTabSz="360000" rtl="0" eaLnBrk="1" fontAlgn="auto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400" dirty="0" smtClean="0">
                <a:solidFill>
                  <a:srgbClr val="9DA6AB"/>
                </a:solidFill>
              </a:rPr>
              <a:t>1) </a:t>
            </a:r>
            <a:r>
              <a:rPr lang="ko-KR" altLang="en-US" sz="1400" dirty="0" smtClean="0">
                <a:solidFill>
                  <a:srgbClr val="9DA6AB"/>
                </a:solidFill>
              </a:rPr>
              <a:t>소제목 작성해주세요</a:t>
            </a:r>
            <a:r>
              <a:rPr lang="en-US" altLang="ko-KR" sz="1400" dirty="0" smtClean="0">
                <a:solidFill>
                  <a:srgbClr val="9DA6AB"/>
                </a:solidFill>
              </a:rPr>
              <a:t>	2) </a:t>
            </a:r>
            <a:r>
              <a:rPr lang="ko-KR" altLang="en-US" sz="1400" dirty="0" smtClean="0">
                <a:solidFill>
                  <a:srgbClr val="9DA6AB"/>
                </a:solidFill>
              </a:rPr>
              <a:t>소제목 작성해주세요</a:t>
            </a:r>
          </a:p>
          <a:p>
            <a:endParaRPr lang="ko-KR" altLang="en-US" sz="1400" dirty="0">
              <a:solidFill>
                <a:srgbClr val="9DA6AB"/>
              </a:solidFill>
            </a:endParaRPr>
          </a:p>
        </p:txBody>
      </p:sp>
      <p:sp>
        <p:nvSpPr>
          <p:cNvPr id="11" name="텍스트 개체 틀 27"/>
          <p:cNvSpPr>
            <a:spLocks noGrp="1"/>
          </p:cNvSpPr>
          <p:nvPr>
            <p:ph type="body" sz="quarter" idx="14" hasCustomPrompt="1"/>
          </p:nvPr>
        </p:nvSpPr>
        <p:spPr>
          <a:xfrm>
            <a:off x="5994773" y="1949951"/>
            <a:ext cx="4392487" cy="397974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>
                <a:latin typeface="다키 L" pitchFamily="2" charset="-127"/>
                <a:ea typeface="다키 L" pitchFamily="2" charset="-127"/>
              </a:defRPr>
            </a:lvl1pPr>
          </a:lstStyle>
          <a:p>
            <a:r>
              <a:rPr lang="ko-KR" altLang="en-US" sz="2000" dirty="0" smtClean="0">
                <a:solidFill>
                  <a:srgbClr val="50646E"/>
                </a:solidFill>
              </a:rPr>
              <a:t>제목을 입력해주세요</a:t>
            </a:r>
            <a:endParaRPr lang="ko-KR" altLang="en-US" sz="1800" dirty="0">
              <a:solidFill>
                <a:srgbClr val="50646E"/>
              </a:solidFill>
            </a:endParaRPr>
          </a:p>
        </p:txBody>
      </p:sp>
      <p:pic>
        <p:nvPicPr>
          <p:cNvPr id="12" name="Picture 2"/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1649958" y="998049"/>
            <a:ext cx="1326596" cy="1932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3" name="텍스트 개체 틀 25"/>
          <p:cNvSpPr>
            <a:spLocks noGrp="1"/>
          </p:cNvSpPr>
          <p:nvPr>
            <p:ph type="body" sz="quarter" idx="15" hasCustomPrompt="1"/>
          </p:nvPr>
        </p:nvSpPr>
        <p:spPr>
          <a:xfrm>
            <a:off x="5994773" y="3382657"/>
            <a:ext cx="4392487" cy="557164"/>
          </a:xfrm>
          <a:prstGeom prst="rect">
            <a:avLst/>
          </a:prstGeom>
        </p:spPr>
        <p:txBody>
          <a:bodyPr/>
          <a:lstStyle>
            <a:lvl1pPr marL="0" marR="0" indent="0" algn="l" defTabSz="360000" rtl="0" eaLnBrk="1" fontAlgn="auto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>
                <a:latin typeface="다키 M" pitchFamily="2" charset="-127"/>
                <a:ea typeface="다키 M" pitchFamily="2" charset="-127"/>
              </a:defRPr>
            </a:lvl1pPr>
          </a:lstStyle>
          <a:p>
            <a:pPr marL="0" marR="0" indent="0" algn="l" defTabSz="360000" rtl="0" eaLnBrk="1" fontAlgn="auto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400" dirty="0" smtClean="0">
                <a:solidFill>
                  <a:srgbClr val="9DA6AB"/>
                </a:solidFill>
              </a:rPr>
              <a:t>1) </a:t>
            </a:r>
            <a:r>
              <a:rPr lang="ko-KR" altLang="en-US" sz="1400" dirty="0" smtClean="0">
                <a:solidFill>
                  <a:srgbClr val="9DA6AB"/>
                </a:solidFill>
              </a:rPr>
              <a:t>소제목 작성해주세요</a:t>
            </a:r>
            <a:r>
              <a:rPr lang="en-US" altLang="ko-KR" sz="1400" dirty="0" smtClean="0">
                <a:solidFill>
                  <a:srgbClr val="9DA6AB"/>
                </a:solidFill>
              </a:rPr>
              <a:t>	2) </a:t>
            </a:r>
            <a:r>
              <a:rPr lang="ko-KR" altLang="en-US" sz="1400" dirty="0" smtClean="0">
                <a:solidFill>
                  <a:srgbClr val="9DA6AB"/>
                </a:solidFill>
              </a:rPr>
              <a:t>소제목 작성해주세요</a:t>
            </a:r>
          </a:p>
          <a:p>
            <a:endParaRPr lang="ko-KR" altLang="en-US" sz="1400" dirty="0">
              <a:solidFill>
                <a:srgbClr val="9DA6AB"/>
              </a:solidFill>
            </a:endParaRPr>
          </a:p>
        </p:txBody>
      </p:sp>
      <p:sp>
        <p:nvSpPr>
          <p:cNvPr id="14" name="텍스트 개체 틀 27"/>
          <p:cNvSpPr>
            <a:spLocks noGrp="1"/>
          </p:cNvSpPr>
          <p:nvPr>
            <p:ph type="body" sz="quarter" idx="16" hasCustomPrompt="1"/>
          </p:nvPr>
        </p:nvSpPr>
        <p:spPr>
          <a:xfrm>
            <a:off x="5994773" y="2984683"/>
            <a:ext cx="4392487" cy="397974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>
                <a:latin typeface="다키 L" pitchFamily="2" charset="-127"/>
                <a:ea typeface="다키 L" pitchFamily="2" charset="-127"/>
              </a:defRPr>
            </a:lvl1pPr>
          </a:lstStyle>
          <a:p>
            <a:r>
              <a:rPr lang="ko-KR" altLang="en-US" sz="2000" dirty="0" smtClean="0">
                <a:solidFill>
                  <a:srgbClr val="50646E"/>
                </a:solidFill>
              </a:rPr>
              <a:t>제목을 입력해주세요</a:t>
            </a:r>
            <a:endParaRPr lang="ko-KR" altLang="en-US" sz="1800" dirty="0">
              <a:solidFill>
                <a:srgbClr val="50646E"/>
              </a:solidFill>
            </a:endParaRPr>
          </a:p>
        </p:txBody>
      </p:sp>
      <p:sp>
        <p:nvSpPr>
          <p:cNvPr id="15" name="텍스트 개체 틀 25"/>
          <p:cNvSpPr>
            <a:spLocks noGrp="1"/>
          </p:cNvSpPr>
          <p:nvPr>
            <p:ph type="body" sz="quarter" idx="17" hasCustomPrompt="1"/>
          </p:nvPr>
        </p:nvSpPr>
        <p:spPr>
          <a:xfrm>
            <a:off x="5994773" y="4417390"/>
            <a:ext cx="4392487" cy="557164"/>
          </a:xfrm>
          <a:prstGeom prst="rect">
            <a:avLst/>
          </a:prstGeom>
        </p:spPr>
        <p:txBody>
          <a:bodyPr/>
          <a:lstStyle>
            <a:lvl1pPr marL="0" marR="0" indent="0" algn="l" defTabSz="360000" rtl="0" eaLnBrk="1" fontAlgn="auto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>
                <a:latin typeface="다키 M" pitchFamily="2" charset="-127"/>
                <a:ea typeface="다키 M" pitchFamily="2" charset="-127"/>
              </a:defRPr>
            </a:lvl1pPr>
          </a:lstStyle>
          <a:p>
            <a:pPr marL="0" marR="0" indent="0" algn="l" defTabSz="360000" rtl="0" eaLnBrk="1" fontAlgn="auto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400" dirty="0" smtClean="0">
                <a:solidFill>
                  <a:srgbClr val="9DA6AB"/>
                </a:solidFill>
              </a:rPr>
              <a:t>1) </a:t>
            </a:r>
            <a:r>
              <a:rPr lang="ko-KR" altLang="en-US" sz="1400" dirty="0" smtClean="0">
                <a:solidFill>
                  <a:srgbClr val="9DA6AB"/>
                </a:solidFill>
              </a:rPr>
              <a:t>소제목 작성해주세요</a:t>
            </a:r>
            <a:r>
              <a:rPr lang="en-US" altLang="ko-KR" sz="1400" dirty="0" smtClean="0">
                <a:solidFill>
                  <a:srgbClr val="9DA6AB"/>
                </a:solidFill>
              </a:rPr>
              <a:t>	2) </a:t>
            </a:r>
            <a:r>
              <a:rPr lang="ko-KR" altLang="en-US" sz="1400" dirty="0" smtClean="0">
                <a:solidFill>
                  <a:srgbClr val="9DA6AB"/>
                </a:solidFill>
              </a:rPr>
              <a:t>소제목 작성해주세요</a:t>
            </a:r>
          </a:p>
          <a:p>
            <a:endParaRPr lang="ko-KR" altLang="en-US" sz="1400" dirty="0">
              <a:solidFill>
                <a:srgbClr val="9DA6AB"/>
              </a:solidFill>
            </a:endParaRPr>
          </a:p>
        </p:txBody>
      </p:sp>
      <p:sp>
        <p:nvSpPr>
          <p:cNvPr id="16" name="텍스트 개체 틀 27"/>
          <p:cNvSpPr>
            <a:spLocks noGrp="1"/>
          </p:cNvSpPr>
          <p:nvPr>
            <p:ph type="body" sz="quarter" idx="18" hasCustomPrompt="1"/>
          </p:nvPr>
        </p:nvSpPr>
        <p:spPr>
          <a:xfrm>
            <a:off x="5994773" y="4019416"/>
            <a:ext cx="4392487" cy="397974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>
                <a:latin typeface="다키 L" pitchFamily="2" charset="-127"/>
                <a:ea typeface="다키 L" pitchFamily="2" charset="-127"/>
              </a:defRPr>
            </a:lvl1pPr>
          </a:lstStyle>
          <a:p>
            <a:r>
              <a:rPr lang="ko-KR" altLang="en-US" sz="2000" dirty="0" smtClean="0">
                <a:solidFill>
                  <a:srgbClr val="50646E"/>
                </a:solidFill>
              </a:rPr>
              <a:t>제목을 입력해주세요</a:t>
            </a:r>
            <a:endParaRPr lang="ko-KR" altLang="en-US" sz="1800" dirty="0">
              <a:solidFill>
                <a:srgbClr val="50646E"/>
              </a:solidFill>
            </a:endParaRPr>
          </a:p>
        </p:txBody>
      </p:sp>
      <p:sp>
        <p:nvSpPr>
          <p:cNvPr id="17" name="텍스트 개체 틀 25"/>
          <p:cNvSpPr>
            <a:spLocks noGrp="1"/>
          </p:cNvSpPr>
          <p:nvPr>
            <p:ph type="body" sz="quarter" idx="19" hasCustomPrompt="1"/>
          </p:nvPr>
        </p:nvSpPr>
        <p:spPr>
          <a:xfrm>
            <a:off x="5994773" y="5452123"/>
            <a:ext cx="4392487" cy="557164"/>
          </a:xfrm>
          <a:prstGeom prst="rect">
            <a:avLst/>
          </a:prstGeom>
        </p:spPr>
        <p:txBody>
          <a:bodyPr/>
          <a:lstStyle>
            <a:lvl1pPr marL="0" marR="0" indent="0" algn="l" defTabSz="360000" rtl="0" eaLnBrk="1" fontAlgn="auto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>
                <a:latin typeface="다키 M" pitchFamily="2" charset="-127"/>
                <a:ea typeface="다키 M" pitchFamily="2" charset="-127"/>
              </a:defRPr>
            </a:lvl1pPr>
          </a:lstStyle>
          <a:p>
            <a:pPr marL="0" marR="0" indent="0" algn="l" defTabSz="360000" rtl="0" eaLnBrk="1" fontAlgn="auto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400" dirty="0" smtClean="0">
                <a:solidFill>
                  <a:srgbClr val="9DA6AB"/>
                </a:solidFill>
              </a:rPr>
              <a:t>1) </a:t>
            </a:r>
            <a:r>
              <a:rPr lang="ko-KR" altLang="en-US" sz="1400" dirty="0" smtClean="0">
                <a:solidFill>
                  <a:srgbClr val="9DA6AB"/>
                </a:solidFill>
              </a:rPr>
              <a:t>소제목 작성해주세요</a:t>
            </a:r>
            <a:r>
              <a:rPr lang="en-US" altLang="ko-KR" sz="1400" dirty="0" smtClean="0">
                <a:solidFill>
                  <a:srgbClr val="9DA6AB"/>
                </a:solidFill>
              </a:rPr>
              <a:t>	2) </a:t>
            </a:r>
            <a:r>
              <a:rPr lang="ko-KR" altLang="en-US" sz="1400" dirty="0" smtClean="0">
                <a:solidFill>
                  <a:srgbClr val="9DA6AB"/>
                </a:solidFill>
              </a:rPr>
              <a:t>소제목 작성해주세요</a:t>
            </a:r>
          </a:p>
          <a:p>
            <a:endParaRPr lang="ko-KR" altLang="en-US" sz="1400" dirty="0">
              <a:solidFill>
                <a:srgbClr val="9DA6AB"/>
              </a:solidFill>
            </a:endParaRPr>
          </a:p>
        </p:txBody>
      </p:sp>
      <p:sp>
        <p:nvSpPr>
          <p:cNvPr id="18" name="텍스트 개체 틀 27"/>
          <p:cNvSpPr>
            <a:spLocks noGrp="1"/>
          </p:cNvSpPr>
          <p:nvPr>
            <p:ph type="body" sz="quarter" idx="20" hasCustomPrompt="1"/>
          </p:nvPr>
        </p:nvSpPr>
        <p:spPr>
          <a:xfrm>
            <a:off x="5994773" y="5054149"/>
            <a:ext cx="4392487" cy="397974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>
                <a:latin typeface="다키 L" pitchFamily="2" charset="-127"/>
                <a:ea typeface="다키 L" pitchFamily="2" charset="-127"/>
              </a:defRPr>
            </a:lvl1pPr>
          </a:lstStyle>
          <a:p>
            <a:r>
              <a:rPr lang="ko-KR" altLang="en-US" sz="2000" dirty="0" smtClean="0">
                <a:solidFill>
                  <a:srgbClr val="50646E"/>
                </a:solidFill>
              </a:rPr>
              <a:t>제목을 입력해주세요</a:t>
            </a:r>
            <a:endParaRPr lang="ko-KR" altLang="en-US" sz="1800" dirty="0">
              <a:solidFill>
                <a:srgbClr val="50646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5318909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1"/>
          <p:cNvSpPr>
            <a:spLocks noGrp="1"/>
          </p:cNvSpPr>
          <p:nvPr>
            <p:ph type="title" hasCustomPrompt="1"/>
          </p:nvPr>
        </p:nvSpPr>
        <p:spPr>
          <a:xfrm>
            <a:off x="1206240" y="2188735"/>
            <a:ext cx="4991732" cy="1989871"/>
          </a:xfrm>
          <a:prstGeom prst="rect">
            <a:avLst/>
          </a:prstGeom>
        </p:spPr>
        <p:txBody>
          <a:bodyPr/>
          <a:lstStyle>
            <a:lvl1pPr algn="l">
              <a:defRPr sz="4800" baseline="0">
                <a:solidFill>
                  <a:srgbClr val="323C46"/>
                </a:solidFill>
                <a:latin typeface="다키 B" pitchFamily="2" charset="-127"/>
                <a:ea typeface="다키 B" pitchFamily="2" charset="-127"/>
              </a:defRPr>
            </a:lvl1pPr>
          </a:lstStyle>
          <a:p>
            <a:r>
              <a:rPr lang="ko-KR" altLang="en-US" dirty="0" smtClean="0"/>
              <a:t>간지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ko-KR" altLang="en-US" dirty="0" smtClean="0"/>
              <a:t>타이틀 입력</a:t>
            </a:r>
            <a:endParaRPr lang="ko-KR" altLang="en-US" dirty="0"/>
          </a:p>
        </p:txBody>
      </p:sp>
      <p:sp>
        <p:nvSpPr>
          <p:cNvPr id="9" name="텍스트 개체 틀 9"/>
          <p:cNvSpPr>
            <a:spLocks noGrp="1"/>
          </p:cNvSpPr>
          <p:nvPr>
            <p:ph type="body" sz="quarter" idx="10" hasCustomPrompt="1"/>
          </p:nvPr>
        </p:nvSpPr>
        <p:spPr>
          <a:xfrm>
            <a:off x="1206240" y="4695739"/>
            <a:ext cx="4991100" cy="2068863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sz="2400">
                <a:solidFill>
                  <a:srgbClr val="9DA6AB"/>
                </a:solidFill>
              </a:defRPr>
            </a:lvl1pPr>
          </a:lstStyle>
          <a:p>
            <a:pPr>
              <a:lnSpc>
                <a:spcPct val="150000"/>
              </a:lnSpc>
            </a:pPr>
            <a:r>
              <a:rPr lang="en-US" altLang="ko-KR" sz="2000" dirty="0" smtClean="0">
                <a:latin typeface="다키 M" pitchFamily="2" charset="-127"/>
                <a:ea typeface="다키 M" pitchFamily="2" charset="-127"/>
              </a:rPr>
              <a:t>1) </a:t>
            </a:r>
            <a:r>
              <a:rPr lang="ko-KR" altLang="en-US" sz="2000" dirty="0" smtClean="0">
                <a:latin typeface="다키 M" pitchFamily="2" charset="-127"/>
                <a:ea typeface="다키 M" pitchFamily="2" charset="-127"/>
              </a:rPr>
              <a:t>소제목 입력</a:t>
            </a:r>
            <a:endParaRPr lang="en-US" altLang="ko-KR" sz="2000" dirty="0" smtClean="0">
              <a:latin typeface="다키 M" pitchFamily="2" charset="-127"/>
              <a:ea typeface="다키 M" pitchFamily="2" charset="-127"/>
            </a:endParaRPr>
          </a:p>
        </p:txBody>
      </p:sp>
      <p:sp>
        <p:nvSpPr>
          <p:cNvPr id="10" name="직사각형 9"/>
          <p:cNvSpPr/>
          <p:nvPr userDrawn="1"/>
        </p:nvSpPr>
        <p:spPr>
          <a:xfrm>
            <a:off x="1350256" y="0"/>
            <a:ext cx="1926000" cy="1595699"/>
          </a:xfrm>
          <a:prstGeom prst="rect">
            <a:avLst/>
          </a:prstGeom>
          <a:solidFill>
            <a:srgbClr val="2482C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indent="0" algn="ctr">
              <a:buFont typeface="Arial" panose="020B0604020202020204" pitchFamily="34" charset="0"/>
              <a:buNone/>
            </a:pPr>
            <a:endParaRPr lang="ko-KR" altLang="en-US"/>
          </a:p>
        </p:txBody>
      </p:sp>
      <p:sp>
        <p:nvSpPr>
          <p:cNvPr id="11" name="직사각형 10"/>
          <p:cNvSpPr/>
          <p:nvPr userDrawn="1"/>
        </p:nvSpPr>
        <p:spPr>
          <a:xfrm>
            <a:off x="6786860" y="1"/>
            <a:ext cx="3906540" cy="7561263"/>
          </a:xfrm>
          <a:prstGeom prst="rect">
            <a:avLst/>
          </a:prstGeom>
          <a:solidFill>
            <a:srgbClr val="2482C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텍스트 개체 틀 5"/>
          <p:cNvSpPr>
            <a:spLocks noGrp="1"/>
          </p:cNvSpPr>
          <p:nvPr>
            <p:ph type="body" sz="quarter" idx="11" hasCustomPrompt="1"/>
          </p:nvPr>
        </p:nvSpPr>
        <p:spPr>
          <a:xfrm>
            <a:off x="1736994" y="437650"/>
            <a:ext cx="1152525" cy="1033553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6000">
                <a:solidFill>
                  <a:schemeClr val="bg1"/>
                </a:solidFill>
                <a:latin typeface="다키 M Title" pitchFamily="2" charset="-127"/>
                <a:ea typeface="다키 M Title" pitchFamily="2" charset="-127"/>
              </a:defRPr>
            </a:lvl1pPr>
          </a:lstStyle>
          <a:p>
            <a:pPr lvl="0"/>
            <a:r>
              <a:rPr lang="en-US" altLang="ko-KR" dirty="0" smtClean="0"/>
              <a:t>01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73512636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사용자 지정 레이아웃">
    <p:bg>
      <p:bgPr>
        <a:solidFill>
          <a:srgbClr val="2484C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제목 1"/>
          <p:cNvSpPr>
            <a:spLocks noGrp="1"/>
          </p:cNvSpPr>
          <p:nvPr>
            <p:ph type="title" hasCustomPrompt="1"/>
          </p:nvPr>
        </p:nvSpPr>
        <p:spPr>
          <a:xfrm>
            <a:off x="1206240" y="2188735"/>
            <a:ext cx="4991732" cy="1989871"/>
          </a:xfrm>
          <a:prstGeom prst="rect">
            <a:avLst/>
          </a:prstGeom>
        </p:spPr>
        <p:txBody>
          <a:bodyPr>
            <a:normAutofit/>
          </a:bodyPr>
          <a:lstStyle>
            <a:lvl1pPr algn="l">
              <a:defRPr sz="6000">
                <a:solidFill>
                  <a:schemeClr val="bg1"/>
                </a:solidFill>
                <a:latin typeface="다키 B" pitchFamily="2" charset="-127"/>
                <a:ea typeface="다키 B" pitchFamily="2" charset="-127"/>
              </a:defRPr>
            </a:lvl1pPr>
          </a:lstStyle>
          <a:p>
            <a:r>
              <a:rPr lang="ko-KR" altLang="en-US" dirty="0" smtClean="0"/>
              <a:t>간지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ko-KR" altLang="en-US" dirty="0" smtClean="0"/>
              <a:t>타이틀 입력</a:t>
            </a:r>
            <a:endParaRPr lang="ko-KR" altLang="en-US" dirty="0"/>
          </a:p>
        </p:txBody>
      </p:sp>
      <p:sp>
        <p:nvSpPr>
          <p:cNvPr id="11" name="직사각형 10"/>
          <p:cNvSpPr/>
          <p:nvPr userDrawn="1"/>
        </p:nvSpPr>
        <p:spPr>
          <a:xfrm>
            <a:off x="6786860" y="1"/>
            <a:ext cx="3906540" cy="756126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직사각형 11"/>
          <p:cNvSpPr/>
          <p:nvPr userDrawn="1"/>
        </p:nvSpPr>
        <p:spPr>
          <a:xfrm>
            <a:off x="1350256" y="0"/>
            <a:ext cx="1926000" cy="159569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텍스트 개체 틀 9"/>
          <p:cNvSpPr>
            <a:spLocks noGrp="1"/>
          </p:cNvSpPr>
          <p:nvPr>
            <p:ph type="body" sz="quarter" idx="10" hasCustomPrompt="1"/>
          </p:nvPr>
        </p:nvSpPr>
        <p:spPr>
          <a:xfrm>
            <a:off x="1170236" y="4716000"/>
            <a:ext cx="4991100" cy="1872000"/>
          </a:xfrm>
          <a:prstGeom prst="rect">
            <a:avLst/>
          </a:prstGeom>
        </p:spPr>
        <p:txBody>
          <a:bodyPr anchor="ctr">
            <a:normAutofit/>
          </a:bodyPr>
          <a:lstStyle>
            <a:lvl1pPr marL="0" indent="0">
              <a:buNone/>
              <a:defRPr sz="1800">
                <a:solidFill>
                  <a:srgbClr val="D8E2E7"/>
                </a:solidFill>
                <a:latin typeface="다키 L" pitchFamily="2" charset="-127"/>
                <a:ea typeface="다키 L" pitchFamily="2" charset="-127"/>
              </a:defRPr>
            </a:lvl1pPr>
          </a:lstStyle>
          <a:p>
            <a:pPr>
              <a:lnSpc>
                <a:spcPct val="150000"/>
              </a:lnSpc>
            </a:pPr>
            <a:r>
              <a:rPr lang="en-US" altLang="ko-KR" sz="2000" dirty="0" smtClean="0">
                <a:latin typeface="다키 M" pitchFamily="2" charset="-127"/>
                <a:ea typeface="다키 M" pitchFamily="2" charset="-127"/>
              </a:rPr>
              <a:t>1) </a:t>
            </a:r>
            <a:r>
              <a:rPr lang="ko-KR" altLang="en-US" sz="2000" dirty="0" smtClean="0">
                <a:latin typeface="다키 M" pitchFamily="2" charset="-127"/>
                <a:ea typeface="다키 M" pitchFamily="2" charset="-127"/>
              </a:rPr>
              <a:t>소제목 입력</a:t>
            </a:r>
            <a:endParaRPr lang="en-US" altLang="ko-KR" sz="2000" dirty="0" smtClean="0">
              <a:latin typeface="다키 M" pitchFamily="2" charset="-127"/>
              <a:ea typeface="다키 M" pitchFamily="2" charset="-127"/>
            </a:endParaRPr>
          </a:p>
        </p:txBody>
      </p:sp>
      <p:sp>
        <p:nvSpPr>
          <p:cNvPr id="14" name="텍스트 개체 틀 11"/>
          <p:cNvSpPr>
            <a:spLocks noGrp="1"/>
          </p:cNvSpPr>
          <p:nvPr>
            <p:ph type="body" sz="quarter" idx="11" hasCustomPrompt="1"/>
          </p:nvPr>
        </p:nvSpPr>
        <p:spPr>
          <a:xfrm>
            <a:off x="1775889" y="366745"/>
            <a:ext cx="1074737" cy="849304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/>
            </a:lvl1pPr>
          </a:lstStyle>
          <a:p>
            <a:pPr algn="ctr"/>
            <a:r>
              <a:rPr lang="en-US" altLang="ko-KR" sz="6000" dirty="0" smtClean="0">
                <a:solidFill>
                  <a:srgbClr val="2482C8"/>
                </a:solidFill>
                <a:latin typeface="다키 M Title" pitchFamily="2" charset="-127"/>
                <a:ea typeface="다키 M Title" pitchFamily="2" charset="-127"/>
              </a:rPr>
              <a:t>01</a:t>
            </a:r>
            <a:endParaRPr lang="ko-KR" altLang="en-US" sz="6000" dirty="0">
              <a:solidFill>
                <a:srgbClr val="2482C8"/>
              </a:solidFill>
              <a:latin typeface="다키 M Title" pitchFamily="2" charset="-127"/>
              <a:ea typeface="다키 M Title" pitchFamily="2" charset="-127"/>
            </a:endParaRPr>
          </a:p>
        </p:txBody>
      </p:sp>
      <p:cxnSp>
        <p:nvCxnSpPr>
          <p:cNvPr id="15" name="직선 연결선 14"/>
          <p:cNvCxnSpPr/>
          <p:nvPr userDrawn="1"/>
        </p:nvCxnSpPr>
        <p:spPr>
          <a:xfrm>
            <a:off x="1314252" y="4716734"/>
            <a:ext cx="3384376" cy="0"/>
          </a:xfrm>
          <a:prstGeom prst="line">
            <a:avLst/>
          </a:prstGeom>
          <a:ln w="12700">
            <a:solidFill>
              <a:srgbClr val="D8E2E7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직선 연결선 15"/>
          <p:cNvCxnSpPr/>
          <p:nvPr userDrawn="1"/>
        </p:nvCxnSpPr>
        <p:spPr>
          <a:xfrm>
            <a:off x="1314252" y="6588942"/>
            <a:ext cx="3384376" cy="0"/>
          </a:xfrm>
          <a:prstGeom prst="line">
            <a:avLst/>
          </a:prstGeom>
          <a:ln w="12700">
            <a:solidFill>
              <a:srgbClr val="D8E2E7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7616358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슬라이드 번호 개체 틀 5"/>
          <p:cNvSpPr txBox="1">
            <a:spLocks/>
          </p:cNvSpPr>
          <p:nvPr userDrawn="1"/>
        </p:nvSpPr>
        <p:spPr>
          <a:xfrm>
            <a:off x="4680165" y="7243007"/>
            <a:ext cx="1333071" cy="30988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ctr" defTabSz="914400" rtl="0" eaLnBrk="1" latinLnBrk="1" hangingPunct="1">
              <a:defRPr sz="1200" kern="1200">
                <a:solidFill>
                  <a:srgbClr val="D8E2E7"/>
                </a:solidFill>
                <a:latin typeface="다키 M" pitchFamily="2" charset="-127"/>
                <a:ea typeface="다키 M" pitchFamily="2" charset="-127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4A1A8922-F2AB-460F-B06D-814BB823FF16}" type="slidenum">
              <a:rPr lang="ko-KR" altLang="en-US" smtClean="0">
                <a:solidFill>
                  <a:srgbClr val="9DA6AB"/>
                </a:solidFill>
              </a:rPr>
              <a:pPr/>
              <a:t>‹#›</a:t>
            </a:fld>
            <a:r>
              <a:rPr lang="en-US" altLang="ko-KR" dirty="0" smtClean="0">
                <a:solidFill>
                  <a:srgbClr val="9DA6AB"/>
                </a:solidFill>
              </a:rPr>
              <a:t>/x</a:t>
            </a:r>
            <a:endParaRPr lang="ko-KR" altLang="en-US" dirty="0">
              <a:solidFill>
                <a:srgbClr val="9DA6AB"/>
              </a:solidFill>
            </a:endParaRPr>
          </a:p>
        </p:txBody>
      </p:sp>
      <p:sp>
        <p:nvSpPr>
          <p:cNvPr id="7" name="내용 개체 틀 2"/>
          <p:cNvSpPr>
            <a:spLocks noGrp="1"/>
          </p:cNvSpPr>
          <p:nvPr>
            <p:ph idx="13"/>
          </p:nvPr>
        </p:nvSpPr>
        <p:spPr>
          <a:xfrm>
            <a:off x="306388" y="1764296"/>
            <a:ext cx="10080872" cy="520012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400">
                <a:solidFill>
                  <a:srgbClr val="323C46"/>
                </a:solidFill>
                <a:latin typeface="다키 L" pitchFamily="2" charset="-127"/>
                <a:ea typeface="다키 L" pitchFamily="2" charset="-127"/>
              </a:defRPr>
            </a:lvl1pPr>
          </a:lstStyle>
          <a:p>
            <a:pPr lvl="0"/>
            <a:endParaRPr lang="ko-KR" altLang="en-US" dirty="0"/>
          </a:p>
        </p:txBody>
      </p:sp>
      <p:sp>
        <p:nvSpPr>
          <p:cNvPr id="8" name="직사각형 7"/>
          <p:cNvSpPr/>
          <p:nvPr userDrawn="1"/>
        </p:nvSpPr>
        <p:spPr>
          <a:xfrm>
            <a:off x="0" y="250567"/>
            <a:ext cx="180000" cy="955138"/>
          </a:xfrm>
          <a:prstGeom prst="rect">
            <a:avLst/>
          </a:prstGeom>
          <a:solidFill>
            <a:srgbClr val="2482C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9" name="직사각형 8"/>
          <p:cNvSpPr/>
          <p:nvPr userDrawn="1"/>
        </p:nvSpPr>
        <p:spPr>
          <a:xfrm>
            <a:off x="10627226" y="250567"/>
            <a:ext cx="66175" cy="397974"/>
          </a:xfrm>
          <a:prstGeom prst="rect">
            <a:avLst/>
          </a:prstGeom>
          <a:solidFill>
            <a:srgbClr val="9DA6A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0" name="텍스트 개체 틀 15"/>
          <p:cNvSpPr>
            <a:spLocks noGrp="1"/>
          </p:cNvSpPr>
          <p:nvPr>
            <p:ph type="body" sz="quarter" idx="10" hasCustomPrompt="1"/>
          </p:nvPr>
        </p:nvSpPr>
        <p:spPr>
          <a:xfrm>
            <a:off x="8343899" y="250567"/>
            <a:ext cx="2268537" cy="397974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rgbClr val="9DA6AB"/>
                </a:solidFill>
                <a:latin typeface="다키 L" pitchFamily="2" charset="-127"/>
                <a:ea typeface="다키 L" pitchFamily="2" charset="-127"/>
              </a:defRPr>
            </a:lvl1pPr>
          </a:lstStyle>
          <a:p>
            <a:pPr algn="r"/>
            <a:r>
              <a:rPr lang="en-US" altLang="ko-KR" sz="1600" dirty="0" smtClean="0">
                <a:solidFill>
                  <a:srgbClr val="9DA6AB"/>
                </a:solidFill>
              </a:rPr>
              <a:t>Large</a:t>
            </a:r>
            <a:r>
              <a:rPr lang="en-US" altLang="ko-KR" sz="1600" baseline="0" dirty="0" smtClean="0">
                <a:solidFill>
                  <a:srgbClr val="9DA6AB"/>
                </a:solidFill>
              </a:rPr>
              <a:t> title </a:t>
            </a:r>
            <a:r>
              <a:rPr lang="ko-KR" altLang="en-US" sz="1600" dirty="0" smtClean="0">
                <a:solidFill>
                  <a:srgbClr val="9DA6AB"/>
                </a:solidFill>
              </a:rPr>
              <a:t>입력</a:t>
            </a:r>
            <a:endParaRPr lang="ko-KR" altLang="en-US" sz="1600" dirty="0">
              <a:solidFill>
                <a:srgbClr val="9DA6AB"/>
              </a:solidFill>
            </a:endParaRPr>
          </a:p>
        </p:txBody>
      </p:sp>
      <p:sp>
        <p:nvSpPr>
          <p:cNvPr id="11" name="텍스트 개체 틀 17"/>
          <p:cNvSpPr>
            <a:spLocks noGrp="1"/>
          </p:cNvSpPr>
          <p:nvPr>
            <p:ph type="body" sz="quarter" idx="11" hasCustomPrompt="1"/>
          </p:nvPr>
        </p:nvSpPr>
        <p:spPr>
          <a:xfrm>
            <a:off x="234132" y="238662"/>
            <a:ext cx="7956884" cy="63697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>
                <a:solidFill>
                  <a:srgbClr val="2482C8"/>
                </a:solidFill>
                <a:latin typeface="다키 L" pitchFamily="2" charset="-127"/>
                <a:ea typeface="다키 L" pitchFamily="2" charset="-127"/>
              </a:defRPr>
            </a:lvl1pPr>
          </a:lstStyle>
          <a:p>
            <a:r>
              <a:rPr lang="ko-KR" altLang="en-US" dirty="0" smtClean="0"/>
              <a:t>타이틀을 입력하세요</a:t>
            </a:r>
            <a:endParaRPr lang="ko-KR" altLang="en-US" dirty="0"/>
          </a:p>
        </p:txBody>
      </p:sp>
      <p:sp>
        <p:nvSpPr>
          <p:cNvPr id="12" name="텍스트 개체 틀 19"/>
          <p:cNvSpPr>
            <a:spLocks noGrp="1"/>
          </p:cNvSpPr>
          <p:nvPr>
            <p:ph type="body" sz="quarter" idx="12" hasCustomPrompt="1"/>
          </p:nvPr>
        </p:nvSpPr>
        <p:spPr>
          <a:xfrm>
            <a:off x="234132" y="835733"/>
            <a:ext cx="7956884" cy="640642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latin typeface="다키 L" pitchFamily="2" charset="-127"/>
                <a:ea typeface="다키 L" pitchFamily="2" charset="-127"/>
              </a:defRPr>
            </a:lvl1pPr>
          </a:lstStyle>
          <a:p>
            <a:r>
              <a:rPr lang="en-US" altLang="ko-KR" sz="1600" dirty="0" smtClean="0">
                <a:solidFill>
                  <a:srgbClr val="50646E"/>
                </a:solidFill>
              </a:rPr>
              <a:t>summary</a:t>
            </a:r>
            <a:r>
              <a:rPr lang="ko-KR" altLang="en-US" sz="1600" dirty="0" smtClean="0">
                <a:solidFill>
                  <a:srgbClr val="50646E"/>
                </a:solidFill>
              </a:rPr>
              <a:t>를 입력하세요</a:t>
            </a:r>
            <a:r>
              <a:rPr lang="en-US" altLang="ko-KR" sz="1600" dirty="0" smtClean="0">
                <a:solidFill>
                  <a:srgbClr val="50646E"/>
                </a:solidFill>
              </a:rPr>
              <a:t>.</a:t>
            </a:r>
          </a:p>
          <a:p>
            <a:r>
              <a:rPr lang="ko-KR" altLang="en-US" sz="1600" dirty="0" smtClean="0">
                <a:solidFill>
                  <a:srgbClr val="50646E"/>
                </a:solidFill>
              </a:rPr>
              <a:t>최대 </a:t>
            </a:r>
            <a:r>
              <a:rPr lang="ko-KR" altLang="en-US" sz="1600" dirty="0" err="1" smtClean="0">
                <a:solidFill>
                  <a:srgbClr val="50646E"/>
                </a:solidFill>
              </a:rPr>
              <a:t>두줄까지</a:t>
            </a:r>
            <a:r>
              <a:rPr lang="ko-KR" altLang="en-US" sz="1600" dirty="0" smtClean="0">
                <a:solidFill>
                  <a:srgbClr val="50646E"/>
                </a:solidFill>
              </a:rPr>
              <a:t> 입력이 가능합니다</a:t>
            </a:r>
            <a:r>
              <a:rPr lang="en-US" altLang="ko-KR" sz="1600" dirty="0" smtClean="0">
                <a:solidFill>
                  <a:srgbClr val="50646E"/>
                </a:solidFill>
              </a:rPr>
              <a:t>.</a:t>
            </a:r>
            <a:endParaRPr lang="ko-KR" altLang="en-US" sz="1600" dirty="0">
              <a:solidFill>
                <a:srgbClr val="50646E"/>
              </a:solidFill>
            </a:endParaRPr>
          </a:p>
        </p:txBody>
      </p:sp>
      <p:pic>
        <p:nvPicPr>
          <p:cNvPr id="13" name="Picture 2"/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9475200" y="7315201"/>
            <a:ext cx="911543" cy="1152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78166142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빈 화면">
    <p:bg>
      <p:bgPr>
        <a:solidFill>
          <a:srgbClr val="2484C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제목 1"/>
          <p:cNvSpPr>
            <a:spLocks noGrp="1"/>
          </p:cNvSpPr>
          <p:nvPr>
            <p:ph type="title" hasCustomPrompt="1"/>
          </p:nvPr>
        </p:nvSpPr>
        <p:spPr>
          <a:xfrm>
            <a:off x="1242244" y="2268330"/>
            <a:ext cx="7812868" cy="2029668"/>
          </a:xfrm>
          <a:prstGeom prst="rect">
            <a:avLst/>
          </a:prstGeom>
        </p:spPr>
        <p:txBody>
          <a:bodyPr/>
          <a:lstStyle>
            <a:lvl1pPr>
              <a:defRPr sz="10000" baseline="0">
                <a:solidFill>
                  <a:schemeClr val="bg1"/>
                </a:solidFill>
                <a:latin typeface="다키 M Title" pitchFamily="2" charset="-127"/>
                <a:ea typeface="다키 M Title" pitchFamily="2" charset="-127"/>
              </a:defRPr>
            </a:lvl1pPr>
          </a:lstStyle>
          <a:p>
            <a:r>
              <a:rPr lang="en-US" altLang="ko-KR" dirty="0" smtClean="0"/>
              <a:t>THANK YOU</a:t>
            </a:r>
            <a:endParaRPr lang="ko-KR" altLang="en-US" dirty="0"/>
          </a:p>
        </p:txBody>
      </p:sp>
      <p:sp>
        <p:nvSpPr>
          <p:cNvPr id="6" name="직사각형 5"/>
          <p:cNvSpPr/>
          <p:nvPr userDrawn="1"/>
        </p:nvSpPr>
        <p:spPr>
          <a:xfrm>
            <a:off x="1350256" y="0"/>
            <a:ext cx="1926000" cy="159569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7" name="Picture 2"/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1649958" y="998811"/>
            <a:ext cx="1326596" cy="1932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부제목 2"/>
          <p:cNvSpPr>
            <a:spLocks noGrp="1"/>
          </p:cNvSpPr>
          <p:nvPr>
            <p:ph type="subTitle" idx="1" hasCustomPrompt="1"/>
          </p:nvPr>
        </p:nvSpPr>
        <p:spPr>
          <a:xfrm>
            <a:off x="1242244" y="5065766"/>
            <a:ext cx="2594426" cy="397930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sz="1800">
                <a:solidFill>
                  <a:schemeClr val="bg1"/>
                </a:solidFill>
                <a:latin typeface="다키 L" pitchFamily="2" charset="-127"/>
                <a:ea typeface="다키 L" pitchFamily="2" charset="-127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altLang="ko-KR" dirty="0" smtClean="0"/>
              <a:t>00 </a:t>
            </a:r>
            <a:r>
              <a:rPr lang="ko-KR" altLang="en-US" dirty="0" smtClean="0"/>
              <a:t>팀</a:t>
            </a:r>
            <a:endParaRPr lang="ko-KR" altLang="en-US" dirty="0"/>
          </a:p>
        </p:txBody>
      </p:sp>
      <p:sp>
        <p:nvSpPr>
          <p:cNvPr id="9" name="텍스트 개체 틀 17"/>
          <p:cNvSpPr>
            <a:spLocks noGrp="1"/>
          </p:cNvSpPr>
          <p:nvPr>
            <p:ph type="body" sz="quarter" idx="11" hasCustomPrompt="1"/>
          </p:nvPr>
        </p:nvSpPr>
        <p:spPr>
          <a:xfrm>
            <a:off x="1242244" y="5503537"/>
            <a:ext cx="2592288" cy="397152"/>
          </a:xfrm>
          <a:prstGeom prst="rect">
            <a:avLst/>
          </a:prstGeom>
        </p:spPr>
        <p:txBody>
          <a:bodyPr anchor="ctr"/>
          <a:lstStyle>
            <a:lvl1pPr marL="0" indent="0">
              <a:buNone/>
              <a:defRPr sz="1800">
                <a:solidFill>
                  <a:schemeClr val="bg1"/>
                </a:solidFill>
                <a:latin typeface="다키 L" pitchFamily="2" charset="-127"/>
                <a:ea typeface="다키 L" pitchFamily="2" charset="-127"/>
              </a:defRPr>
            </a:lvl1pPr>
          </a:lstStyle>
          <a:p>
            <a:r>
              <a:rPr lang="ko-KR" altLang="en-US" dirty="0" smtClean="0"/>
              <a:t>담당자 </a:t>
            </a:r>
            <a:r>
              <a:rPr lang="en-US" altLang="ko-KR" dirty="0" smtClean="0"/>
              <a:t>: </a:t>
            </a:r>
            <a:r>
              <a:rPr lang="ko-KR" altLang="en-US" dirty="0" smtClean="0"/>
              <a:t>홍길동</a:t>
            </a:r>
            <a:endParaRPr lang="en-US" altLang="ko-KR" dirty="0" smtClean="0"/>
          </a:p>
        </p:txBody>
      </p:sp>
      <p:sp>
        <p:nvSpPr>
          <p:cNvPr id="10" name="텍스트 개체 틀 19"/>
          <p:cNvSpPr>
            <a:spLocks noGrp="1"/>
          </p:cNvSpPr>
          <p:nvPr>
            <p:ph type="body" sz="quarter" idx="12" hasCustomPrompt="1"/>
          </p:nvPr>
        </p:nvSpPr>
        <p:spPr>
          <a:xfrm>
            <a:off x="1242779" y="5940871"/>
            <a:ext cx="2593899" cy="39841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800">
                <a:solidFill>
                  <a:schemeClr val="bg1"/>
                </a:solidFill>
                <a:latin typeface="다키 L" pitchFamily="2" charset="-127"/>
                <a:ea typeface="다키 L" pitchFamily="2" charset="-127"/>
              </a:defRPr>
            </a:lvl1pPr>
          </a:lstStyle>
          <a:p>
            <a:r>
              <a:rPr lang="ko-KR" altLang="en-US" dirty="0" smtClean="0"/>
              <a:t>연락처 </a:t>
            </a:r>
            <a:r>
              <a:rPr lang="en-US" altLang="ko-KR" dirty="0" smtClean="0"/>
              <a:t>: 070 0000 0000</a:t>
            </a:r>
          </a:p>
        </p:txBody>
      </p:sp>
    </p:spTree>
    <p:extLst>
      <p:ext uri="{BB962C8B-B14F-4D97-AF65-F5344CB8AC3E}">
        <p14:creationId xmlns:p14="http://schemas.microsoft.com/office/powerpoint/2010/main" val="368586476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6564" y="504084"/>
            <a:ext cx="3448900" cy="1764295"/>
          </a:xfrm>
        </p:spPr>
        <p:txBody>
          <a:bodyPr anchor="b"/>
          <a:lstStyle>
            <a:lvl1pPr>
              <a:defRPr sz="3528"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46088" y="1088683"/>
            <a:ext cx="5413534" cy="5373398"/>
          </a:xfrm>
        </p:spPr>
        <p:txBody>
          <a:bodyPr/>
          <a:lstStyle>
            <a:lvl1pPr>
              <a:defRPr sz="3528"/>
            </a:lvl1pPr>
            <a:lvl2pPr>
              <a:defRPr sz="3087"/>
            </a:lvl2pPr>
            <a:lvl3pPr>
              <a:defRPr sz="2646"/>
            </a:lvl3pPr>
            <a:lvl4pPr>
              <a:defRPr sz="2205"/>
            </a:lvl4pPr>
            <a:lvl5pPr>
              <a:defRPr sz="2205"/>
            </a:lvl5pPr>
            <a:lvl6pPr>
              <a:defRPr sz="2205"/>
            </a:lvl6pPr>
            <a:lvl7pPr>
              <a:defRPr sz="2205"/>
            </a:lvl7pPr>
            <a:lvl8pPr>
              <a:defRPr sz="2205"/>
            </a:lvl8pPr>
            <a:lvl9pPr>
              <a:defRPr sz="2205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36564" y="2268379"/>
            <a:ext cx="3448900" cy="4202453"/>
          </a:xfrm>
        </p:spPr>
        <p:txBody>
          <a:bodyPr/>
          <a:lstStyle>
            <a:lvl1pPr marL="0" indent="0">
              <a:buNone/>
              <a:defRPr sz="1764"/>
            </a:lvl1pPr>
            <a:lvl2pPr marL="504063" indent="0">
              <a:buNone/>
              <a:defRPr sz="1544"/>
            </a:lvl2pPr>
            <a:lvl3pPr marL="1008126" indent="0">
              <a:buNone/>
              <a:defRPr sz="1323"/>
            </a:lvl3pPr>
            <a:lvl4pPr marL="1512189" indent="0">
              <a:buNone/>
              <a:defRPr sz="1103"/>
            </a:lvl4pPr>
            <a:lvl5pPr marL="2016252" indent="0">
              <a:buNone/>
              <a:defRPr sz="1103"/>
            </a:lvl5pPr>
            <a:lvl6pPr marL="2520315" indent="0">
              <a:buNone/>
              <a:defRPr sz="1103"/>
            </a:lvl6pPr>
            <a:lvl7pPr marL="3024378" indent="0">
              <a:buNone/>
              <a:defRPr sz="1103"/>
            </a:lvl7pPr>
            <a:lvl8pPr marL="3528441" indent="0">
              <a:buNone/>
              <a:defRPr sz="1103"/>
            </a:lvl8pPr>
            <a:lvl9pPr marL="4032504" indent="0">
              <a:buNone/>
              <a:defRPr sz="1103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16BF97-55BE-41D7-A5BB-0D02BD7B0503}" type="datetimeFigureOut">
              <a:rPr lang="ko-KR" altLang="en-US" smtClean="0"/>
              <a:t>2026-07-07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26812A-A0EF-4881-B62C-6E922A4382F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9267039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제목 슬라이드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 hasCustomPrompt="1"/>
          </p:nvPr>
        </p:nvSpPr>
        <p:spPr>
          <a:xfrm>
            <a:off x="1206241" y="2109140"/>
            <a:ext cx="7992889" cy="874575"/>
          </a:xfrm>
          <a:prstGeom prst="rect">
            <a:avLst/>
          </a:prstGeom>
        </p:spPr>
        <p:txBody>
          <a:bodyPr/>
          <a:lstStyle>
            <a:lvl1pPr marL="0" indent="0" algn="l">
              <a:buFont typeface="Arial" panose="020B0604020202020204" pitchFamily="34" charset="0"/>
              <a:buNone/>
              <a:defRPr sz="5000">
                <a:solidFill>
                  <a:srgbClr val="2482C8"/>
                </a:solidFill>
                <a:latin typeface="다키 M Title" pitchFamily="2" charset="-127"/>
                <a:ea typeface="다키 M Title" pitchFamily="2" charset="-127"/>
              </a:defRPr>
            </a:lvl1pPr>
          </a:lstStyle>
          <a:p>
            <a:r>
              <a:rPr lang="ko-KR" altLang="en-US" dirty="0" smtClean="0"/>
              <a:t>표지 부제목 입력</a:t>
            </a:r>
            <a:endParaRPr lang="ko-KR" altLang="en-US" dirty="0"/>
          </a:p>
        </p:txBody>
      </p:sp>
      <p:sp>
        <p:nvSpPr>
          <p:cNvPr id="3" name="부제목 2"/>
          <p:cNvSpPr>
            <a:spLocks noGrp="1"/>
          </p:cNvSpPr>
          <p:nvPr>
            <p:ph type="subTitle" idx="1" hasCustomPrompt="1"/>
          </p:nvPr>
        </p:nvSpPr>
        <p:spPr>
          <a:xfrm>
            <a:off x="1314252" y="5131746"/>
            <a:ext cx="2594426" cy="397930"/>
          </a:xfrm>
          <a:prstGeom prst="rect">
            <a:avLst/>
          </a:prstGeom>
        </p:spPr>
        <p:txBody>
          <a:bodyPr/>
          <a:lstStyle>
            <a:lvl1pPr marL="0" indent="0" algn="l">
              <a:buFont typeface="Arial" panose="020B0604020202020204" pitchFamily="34" charset="0"/>
              <a:buNone/>
              <a:defRPr sz="1800">
                <a:solidFill>
                  <a:srgbClr val="9DA6AB"/>
                </a:solidFill>
                <a:latin typeface="다키 B" pitchFamily="2" charset="-127"/>
                <a:ea typeface="다키 B" pitchFamily="2" charset="-127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altLang="ko-KR" dirty="0" smtClean="0"/>
              <a:t>00 </a:t>
            </a:r>
            <a:r>
              <a:rPr lang="ko-KR" altLang="en-US" dirty="0" smtClean="0"/>
              <a:t>팀</a:t>
            </a:r>
            <a:endParaRPr lang="ko-KR" altLang="en-US" dirty="0"/>
          </a:p>
        </p:txBody>
      </p:sp>
      <p:sp>
        <p:nvSpPr>
          <p:cNvPr id="8" name="직사각형 7"/>
          <p:cNvSpPr/>
          <p:nvPr userDrawn="1"/>
        </p:nvSpPr>
        <p:spPr>
          <a:xfrm>
            <a:off x="1350256" y="0"/>
            <a:ext cx="1926000" cy="1595699"/>
          </a:xfrm>
          <a:prstGeom prst="rect">
            <a:avLst/>
          </a:prstGeom>
          <a:solidFill>
            <a:srgbClr val="2482C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indent="0" algn="ctr">
              <a:buFont typeface="Arial" panose="020B0604020202020204" pitchFamily="34" charset="0"/>
              <a:buNone/>
            </a:pPr>
            <a:endParaRPr lang="ko-KR" altLang="en-US"/>
          </a:p>
        </p:txBody>
      </p:sp>
      <p:cxnSp>
        <p:nvCxnSpPr>
          <p:cNvPr id="13" name="직선 연결선 12"/>
          <p:cNvCxnSpPr/>
          <p:nvPr userDrawn="1"/>
        </p:nvCxnSpPr>
        <p:spPr>
          <a:xfrm>
            <a:off x="1314252" y="4932759"/>
            <a:ext cx="2592288" cy="0"/>
          </a:xfrm>
          <a:prstGeom prst="line">
            <a:avLst/>
          </a:prstGeom>
          <a:ln>
            <a:solidFill>
              <a:srgbClr val="9DA6A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직선 연결선 13"/>
          <p:cNvCxnSpPr/>
          <p:nvPr userDrawn="1"/>
        </p:nvCxnSpPr>
        <p:spPr>
          <a:xfrm>
            <a:off x="1314252" y="6587727"/>
            <a:ext cx="2592288" cy="0"/>
          </a:xfrm>
          <a:prstGeom prst="line">
            <a:avLst/>
          </a:prstGeom>
          <a:ln>
            <a:solidFill>
              <a:srgbClr val="9DA6A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050" name="Picture 2"/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1649958" y="998811"/>
            <a:ext cx="1326596" cy="1932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6" name="텍스트 개체 틀 15"/>
          <p:cNvSpPr>
            <a:spLocks noGrp="1"/>
          </p:cNvSpPr>
          <p:nvPr>
            <p:ph type="body" sz="quarter" idx="10" hasCustomPrompt="1"/>
          </p:nvPr>
        </p:nvSpPr>
        <p:spPr>
          <a:xfrm>
            <a:off x="1206501" y="3064278"/>
            <a:ext cx="7993063" cy="1152878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sz="2400">
                <a:solidFill>
                  <a:srgbClr val="323C46"/>
                </a:solidFill>
                <a:latin typeface="다키 M Title" pitchFamily="2" charset="-127"/>
                <a:ea typeface="다키 M Title" pitchFamily="2" charset="-127"/>
              </a:defRPr>
            </a:lvl1pPr>
          </a:lstStyle>
          <a:p>
            <a:pPr algn="l"/>
            <a:r>
              <a:rPr lang="ko-KR" altLang="en-US" sz="6000" dirty="0" smtClean="0">
                <a:solidFill>
                  <a:srgbClr val="323C46"/>
                </a:solidFill>
              </a:rPr>
              <a:t>타이틀을 입력해주세요</a:t>
            </a:r>
            <a:endParaRPr lang="ko-KR" altLang="en-US" sz="6000" dirty="0">
              <a:solidFill>
                <a:srgbClr val="323C46"/>
              </a:solidFill>
            </a:endParaRPr>
          </a:p>
        </p:txBody>
      </p:sp>
      <p:sp>
        <p:nvSpPr>
          <p:cNvPr id="18" name="텍스트 개체 틀 17"/>
          <p:cNvSpPr>
            <a:spLocks noGrp="1"/>
          </p:cNvSpPr>
          <p:nvPr>
            <p:ph type="body" sz="quarter" idx="11" hasCustomPrompt="1"/>
          </p:nvPr>
        </p:nvSpPr>
        <p:spPr>
          <a:xfrm>
            <a:off x="1314252" y="5569517"/>
            <a:ext cx="2592288" cy="397152"/>
          </a:xfrm>
          <a:prstGeom prst="rect">
            <a:avLst/>
          </a:prstGeom>
        </p:spPr>
        <p:txBody>
          <a:bodyPr anchor="ctr"/>
          <a:lstStyle>
            <a:lvl1pPr marL="0" indent="0">
              <a:buNone/>
              <a:defRPr sz="1800">
                <a:solidFill>
                  <a:srgbClr val="9DA6AB"/>
                </a:solidFill>
              </a:defRPr>
            </a:lvl1pPr>
          </a:lstStyle>
          <a:p>
            <a:r>
              <a:rPr lang="ko-KR" altLang="en-US" dirty="0" smtClean="0"/>
              <a:t>홍길동</a:t>
            </a:r>
            <a:endParaRPr lang="en-US" altLang="ko-KR" dirty="0" smtClean="0"/>
          </a:p>
        </p:txBody>
      </p:sp>
      <p:sp>
        <p:nvSpPr>
          <p:cNvPr id="20" name="텍스트 개체 틀 19"/>
          <p:cNvSpPr>
            <a:spLocks noGrp="1"/>
          </p:cNvSpPr>
          <p:nvPr>
            <p:ph type="body" sz="quarter" idx="12" hasCustomPrompt="1"/>
          </p:nvPr>
        </p:nvSpPr>
        <p:spPr>
          <a:xfrm>
            <a:off x="1314787" y="6006851"/>
            <a:ext cx="2593899" cy="39841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800">
                <a:solidFill>
                  <a:srgbClr val="9DA6AB"/>
                </a:solidFill>
              </a:defRPr>
            </a:lvl1pPr>
          </a:lstStyle>
          <a:p>
            <a:r>
              <a:rPr lang="en-US" altLang="ko-KR" dirty="0" smtClean="0"/>
              <a:t>2022.00.00</a:t>
            </a:r>
          </a:p>
        </p:txBody>
      </p:sp>
    </p:spTree>
    <p:extLst>
      <p:ext uri="{BB962C8B-B14F-4D97-AF65-F5344CB8AC3E}">
        <p14:creationId xmlns:p14="http://schemas.microsoft.com/office/powerpoint/2010/main" val="561487131"/>
      </p:ext>
    </p:extLst>
  </p:cSld>
  <p:clrMapOvr>
    <a:masterClrMapping/>
  </p:clrMapOvr>
  <p:timing>
    <p:tnLst>
      <p:par>
        <p:cTn id="1" dur="indefinite" restart="never" nodeType="tmRoot"/>
      </p:par>
    </p:tnLst>
  </p:timing>
  <p:hf hdr="0" ftr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제목 슬라이드">
    <p:bg>
      <p:bgPr>
        <a:solidFill>
          <a:srgbClr val="2482C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 hasCustomPrompt="1"/>
          </p:nvPr>
        </p:nvSpPr>
        <p:spPr>
          <a:xfrm>
            <a:off x="1206241" y="2109140"/>
            <a:ext cx="7992889" cy="874575"/>
          </a:xfrm>
          <a:prstGeom prst="rect">
            <a:avLst/>
          </a:prstGeom>
        </p:spPr>
        <p:txBody>
          <a:bodyPr/>
          <a:lstStyle>
            <a:lvl1pPr marL="0" indent="0" algn="l">
              <a:buFont typeface="Arial" panose="020B0604020202020204" pitchFamily="34" charset="0"/>
              <a:buNone/>
              <a:defRPr sz="5000">
                <a:solidFill>
                  <a:srgbClr val="323C46"/>
                </a:solidFill>
                <a:latin typeface="다키 M Title" pitchFamily="2" charset="-127"/>
                <a:ea typeface="다키 M Title" pitchFamily="2" charset="-127"/>
              </a:defRPr>
            </a:lvl1pPr>
          </a:lstStyle>
          <a:p>
            <a:r>
              <a:rPr lang="ko-KR" altLang="en-US" dirty="0" smtClean="0"/>
              <a:t>표지 부제목 입력</a:t>
            </a:r>
            <a:endParaRPr lang="ko-KR" altLang="en-US" dirty="0"/>
          </a:p>
        </p:txBody>
      </p:sp>
      <p:sp>
        <p:nvSpPr>
          <p:cNvPr id="3" name="부제목 2"/>
          <p:cNvSpPr>
            <a:spLocks noGrp="1"/>
          </p:cNvSpPr>
          <p:nvPr>
            <p:ph type="subTitle" idx="1" hasCustomPrompt="1"/>
          </p:nvPr>
        </p:nvSpPr>
        <p:spPr>
          <a:xfrm>
            <a:off x="1314252" y="5132962"/>
            <a:ext cx="2594426" cy="397930"/>
          </a:xfrm>
          <a:prstGeom prst="rect">
            <a:avLst/>
          </a:prstGeom>
        </p:spPr>
        <p:txBody>
          <a:bodyPr/>
          <a:lstStyle>
            <a:lvl1pPr marL="0" indent="0" algn="l">
              <a:buFont typeface="Arial" panose="020B0604020202020204" pitchFamily="34" charset="0"/>
              <a:buNone/>
              <a:defRPr sz="1800">
                <a:solidFill>
                  <a:srgbClr val="D8E2E7"/>
                </a:solidFill>
                <a:latin typeface="다키 B" pitchFamily="2" charset="-127"/>
                <a:ea typeface="다키 B" pitchFamily="2" charset="-127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altLang="ko-KR" dirty="0" smtClean="0"/>
              <a:t>00 </a:t>
            </a:r>
            <a:r>
              <a:rPr lang="ko-KR" altLang="en-US" dirty="0" smtClean="0"/>
              <a:t>팀</a:t>
            </a:r>
            <a:endParaRPr lang="ko-KR" altLang="en-US" dirty="0"/>
          </a:p>
        </p:txBody>
      </p:sp>
      <p:sp>
        <p:nvSpPr>
          <p:cNvPr id="8" name="직사각형 7"/>
          <p:cNvSpPr/>
          <p:nvPr userDrawn="1"/>
        </p:nvSpPr>
        <p:spPr>
          <a:xfrm>
            <a:off x="1350256" y="0"/>
            <a:ext cx="1926000" cy="159569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indent="0" algn="ctr">
              <a:buFont typeface="Arial" panose="020B0604020202020204" pitchFamily="34" charset="0"/>
              <a:buNone/>
            </a:pPr>
            <a:endParaRPr lang="ko-KR" altLang="en-US"/>
          </a:p>
        </p:txBody>
      </p:sp>
      <p:cxnSp>
        <p:nvCxnSpPr>
          <p:cNvPr id="13" name="직선 연결선 12"/>
          <p:cNvCxnSpPr/>
          <p:nvPr userDrawn="1"/>
        </p:nvCxnSpPr>
        <p:spPr>
          <a:xfrm>
            <a:off x="1314252" y="4933975"/>
            <a:ext cx="2592288" cy="0"/>
          </a:xfrm>
          <a:prstGeom prst="line">
            <a:avLst/>
          </a:prstGeom>
          <a:ln>
            <a:solidFill>
              <a:srgbClr val="D8E2E7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직선 연결선 13"/>
          <p:cNvCxnSpPr/>
          <p:nvPr userDrawn="1"/>
        </p:nvCxnSpPr>
        <p:spPr>
          <a:xfrm>
            <a:off x="1314252" y="6588943"/>
            <a:ext cx="2592288" cy="0"/>
          </a:xfrm>
          <a:prstGeom prst="line">
            <a:avLst/>
          </a:prstGeom>
          <a:ln>
            <a:solidFill>
              <a:srgbClr val="D8E2E7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텍스트 개체 틀 17"/>
          <p:cNvSpPr>
            <a:spLocks noGrp="1"/>
          </p:cNvSpPr>
          <p:nvPr>
            <p:ph type="body" sz="quarter" idx="11" hasCustomPrompt="1"/>
          </p:nvPr>
        </p:nvSpPr>
        <p:spPr>
          <a:xfrm>
            <a:off x="1314252" y="5570733"/>
            <a:ext cx="2592288" cy="397152"/>
          </a:xfrm>
          <a:prstGeom prst="rect">
            <a:avLst/>
          </a:prstGeom>
        </p:spPr>
        <p:txBody>
          <a:bodyPr anchor="ctr"/>
          <a:lstStyle>
            <a:lvl1pPr marL="0" indent="0">
              <a:buNone/>
              <a:defRPr sz="1800">
                <a:solidFill>
                  <a:srgbClr val="D8E2E7"/>
                </a:solidFill>
              </a:defRPr>
            </a:lvl1pPr>
          </a:lstStyle>
          <a:p>
            <a:r>
              <a:rPr lang="ko-KR" altLang="en-US" dirty="0" smtClean="0"/>
              <a:t>홍길동</a:t>
            </a:r>
            <a:endParaRPr lang="en-US" altLang="ko-KR" dirty="0" smtClean="0"/>
          </a:p>
        </p:txBody>
      </p:sp>
      <p:sp>
        <p:nvSpPr>
          <p:cNvPr id="20" name="텍스트 개체 틀 19"/>
          <p:cNvSpPr>
            <a:spLocks noGrp="1"/>
          </p:cNvSpPr>
          <p:nvPr>
            <p:ph type="body" sz="quarter" idx="12" hasCustomPrompt="1"/>
          </p:nvPr>
        </p:nvSpPr>
        <p:spPr>
          <a:xfrm>
            <a:off x="1314787" y="6008067"/>
            <a:ext cx="2593899" cy="39841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800">
                <a:solidFill>
                  <a:srgbClr val="D8E2E7"/>
                </a:solidFill>
              </a:defRPr>
            </a:lvl1pPr>
          </a:lstStyle>
          <a:p>
            <a:r>
              <a:rPr lang="en-US" altLang="ko-KR" dirty="0" smtClean="0"/>
              <a:t>2022.00.00</a:t>
            </a:r>
          </a:p>
        </p:txBody>
      </p:sp>
      <p:pic>
        <p:nvPicPr>
          <p:cNvPr id="6146" name="Picture 2"/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1649958" y="998811"/>
            <a:ext cx="1326596" cy="1932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텍스트 개체 틀 4"/>
          <p:cNvSpPr>
            <a:spLocks noGrp="1"/>
          </p:cNvSpPr>
          <p:nvPr>
            <p:ph type="body" sz="quarter" idx="13" hasCustomPrompt="1"/>
          </p:nvPr>
        </p:nvSpPr>
        <p:spPr>
          <a:xfrm>
            <a:off x="1206501" y="2984848"/>
            <a:ext cx="7993063" cy="147224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6000">
                <a:solidFill>
                  <a:schemeClr val="bg1"/>
                </a:solidFill>
                <a:latin typeface="다키 M Title" pitchFamily="2" charset="-127"/>
                <a:ea typeface="다키 M Title" pitchFamily="2" charset="-127"/>
              </a:defRPr>
            </a:lvl1pPr>
          </a:lstStyle>
          <a:p>
            <a:pPr lvl="0"/>
            <a:r>
              <a:rPr lang="ko-KR" altLang="en-US" smtClean="0"/>
              <a:t>타이틀을 입력해주세요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172393961"/>
      </p:ext>
    </p:extLst>
  </p:cSld>
  <p:clrMapOvr>
    <a:masterClrMapping/>
  </p:clrMapOvr>
  <p:timing>
    <p:tnLst>
      <p:par>
        <p:cTn id="1" dur="indefinite" restart="never" nodeType="tmRoot"/>
      </p:par>
    </p:tnLst>
  </p:timing>
  <p:hf hdr="0" ftr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 hasCustomPrompt="1"/>
          </p:nvPr>
        </p:nvSpPr>
        <p:spPr>
          <a:xfrm>
            <a:off x="1242244" y="1949950"/>
            <a:ext cx="3276364" cy="2785819"/>
          </a:xfrm>
          <a:prstGeom prst="rect">
            <a:avLst/>
          </a:prstGeom>
        </p:spPr>
        <p:txBody>
          <a:bodyPr/>
          <a:lstStyle>
            <a:lvl1pPr algn="l">
              <a:defRPr sz="5400">
                <a:solidFill>
                  <a:srgbClr val="2482C8"/>
                </a:solidFill>
                <a:latin typeface="다키 M Title" pitchFamily="2" charset="-127"/>
                <a:ea typeface="다키 M Title" pitchFamily="2" charset="-127"/>
              </a:defRPr>
            </a:lvl1pPr>
          </a:lstStyle>
          <a:p>
            <a:r>
              <a:rPr lang="en-US" altLang="ko-KR" dirty="0" smtClean="0"/>
              <a:t>Table </a:t>
            </a:r>
            <a:br>
              <a:rPr lang="en-US" altLang="ko-KR" dirty="0" smtClean="0"/>
            </a:br>
            <a:r>
              <a:rPr lang="en-US" altLang="ko-KR" dirty="0" smtClean="0"/>
              <a:t>of </a:t>
            </a:r>
            <a:br>
              <a:rPr lang="en-US" altLang="ko-KR" dirty="0" smtClean="0"/>
            </a:br>
            <a:r>
              <a:rPr lang="en-US" altLang="ko-KR" dirty="0" smtClean="0"/>
              <a:t>contents</a:t>
            </a:r>
            <a:endParaRPr lang="ko-KR" altLang="en-US" dirty="0"/>
          </a:p>
        </p:txBody>
      </p:sp>
      <p:sp>
        <p:nvSpPr>
          <p:cNvPr id="3" name="직사각형 2"/>
          <p:cNvSpPr/>
          <p:nvPr userDrawn="1"/>
        </p:nvSpPr>
        <p:spPr>
          <a:xfrm>
            <a:off x="1350256" y="0"/>
            <a:ext cx="1926000" cy="1595699"/>
          </a:xfrm>
          <a:prstGeom prst="rect">
            <a:avLst/>
          </a:prstGeom>
          <a:solidFill>
            <a:srgbClr val="2482C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텍스트 개체 틀 19"/>
          <p:cNvSpPr>
            <a:spLocks noGrp="1"/>
          </p:cNvSpPr>
          <p:nvPr>
            <p:ph type="body" sz="quarter" idx="10" hasCustomPrompt="1"/>
          </p:nvPr>
        </p:nvSpPr>
        <p:spPr>
          <a:xfrm>
            <a:off x="5202685" y="1612738"/>
            <a:ext cx="792088" cy="5829256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buNone/>
              <a:defRPr sz="4000">
                <a:solidFill>
                  <a:srgbClr val="2482C8"/>
                </a:solidFill>
                <a:latin typeface="다키 M" pitchFamily="2" charset="-127"/>
                <a:ea typeface="다키 M" pitchFamily="2" charset="-127"/>
              </a:defRPr>
            </a:lvl1pPr>
          </a:lstStyle>
          <a:p>
            <a:pPr>
              <a:lnSpc>
                <a:spcPct val="150000"/>
              </a:lnSpc>
            </a:pPr>
            <a:r>
              <a:rPr lang="en-US" altLang="ko-KR" sz="3600" dirty="0" smtClean="0"/>
              <a:t>01</a:t>
            </a:r>
          </a:p>
          <a:p>
            <a:pPr>
              <a:lnSpc>
                <a:spcPct val="150000"/>
              </a:lnSpc>
            </a:pPr>
            <a:r>
              <a:rPr lang="en-US" altLang="ko-KR" sz="3600" dirty="0" smtClean="0"/>
              <a:t>02</a:t>
            </a:r>
          </a:p>
          <a:p>
            <a:pPr>
              <a:lnSpc>
                <a:spcPct val="150000"/>
              </a:lnSpc>
            </a:pPr>
            <a:r>
              <a:rPr lang="en-US" altLang="ko-KR" sz="3600" dirty="0" smtClean="0"/>
              <a:t>03</a:t>
            </a:r>
          </a:p>
          <a:p>
            <a:pPr>
              <a:lnSpc>
                <a:spcPct val="150000"/>
              </a:lnSpc>
            </a:pPr>
            <a:r>
              <a:rPr lang="en-US" altLang="ko-KR" sz="3600" dirty="0" smtClean="0"/>
              <a:t>04</a:t>
            </a:r>
            <a:endParaRPr lang="ko-KR" altLang="en-US" sz="4200" dirty="0"/>
          </a:p>
        </p:txBody>
      </p:sp>
      <p:sp>
        <p:nvSpPr>
          <p:cNvPr id="26" name="텍스트 개체 틀 25"/>
          <p:cNvSpPr>
            <a:spLocks noGrp="1"/>
          </p:cNvSpPr>
          <p:nvPr>
            <p:ph type="body" sz="quarter" idx="13" hasCustomPrompt="1"/>
          </p:nvPr>
        </p:nvSpPr>
        <p:spPr>
          <a:xfrm>
            <a:off x="5994773" y="2347925"/>
            <a:ext cx="4392487" cy="557164"/>
          </a:xfrm>
          <a:prstGeom prst="rect">
            <a:avLst/>
          </a:prstGeom>
        </p:spPr>
        <p:txBody>
          <a:bodyPr/>
          <a:lstStyle>
            <a:lvl1pPr marL="0" marR="0" indent="0" algn="l" defTabSz="360000" rtl="0" eaLnBrk="1" fontAlgn="auto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>
                <a:latin typeface="다키 M" pitchFamily="2" charset="-127"/>
                <a:ea typeface="다키 M" pitchFamily="2" charset="-127"/>
              </a:defRPr>
            </a:lvl1pPr>
          </a:lstStyle>
          <a:p>
            <a:pPr marL="0" marR="0" indent="0" algn="l" defTabSz="360000" rtl="0" eaLnBrk="1" fontAlgn="auto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400" dirty="0" smtClean="0">
                <a:solidFill>
                  <a:srgbClr val="9DA6AB"/>
                </a:solidFill>
              </a:rPr>
              <a:t>1) </a:t>
            </a:r>
            <a:r>
              <a:rPr lang="ko-KR" altLang="en-US" sz="1400" dirty="0" smtClean="0">
                <a:solidFill>
                  <a:srgbClr val="9DA6AB"/>
                </a:solidFill>
              </a:rPr>
              <a:t>소제목 작성해주세요</a:t>
            </a:r>
            <a:r>
              <a:rPr lang="en-US" altLang="ko-KR" sz="1400" dirty="0" smtClean="0">
                <a:solidFill>
                  <a:srgbClr val="9DA6AB"/>
                </a:solidFill>
              </a:rPr>
              <a:t>	2) </a:t>
            </a:r>
            <a:r>
              <a:rPr lang="ko-KR" altLang="en-US" sz="1400" dirty="0" smtClean="0">
                <a:solidFill>
                  <a:srgbClr val="9DA6AB"/>
                </a:solidFill>
              </a:rPr>
              <a:t>소제목 작성해주세요</a:t>
            </a:r>
          </a:p>
          <a:p>
            <a:endParaRPr lang="ko-KR" altLang="en-US" sz="1400" dirty="0">
              <a:solidFill>
                <a:srgbClr val="9DA6AB"/>
              </a:solidFill>
            </a:endParaRPr>
          </a:p>
        </p:txBody>
      </p:sp>
      <p:sp>
        <p:nvSpPr>
          <p:cNvPr id="28" name="텍스트 개체 틀 27"/>
          <p:cNvSpPr>
            <a:spLocks noGrp="1"/>
          </p:cNvSpPr>
          <p:nvPr>
            <p:ph type="body" sz="quarter" idx="14" hasCustomPrompt="1"/>
          </p:nvPr>
        </p:nvSpPr>
        <p:spPr>
          <a:xfrm>
            <a:off x="5994773" y="1949951"/>
            <a:ext cx="4392487" cy="397974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>
                <a:latin typeface="다키 M" pitchFamily="2" charset="-127"/>
                <a:ea typeface="다키 M" pitchFamily="2" charset="-127"/>
              </a:defRPr>
            </a:lvl1pPr>
          </a:lstStyle>
          <a:p>
            <a:r>
              <a:rPr lang="ko-KR" altLang="en-US" sz="2000" dirty="0" smtClean="0">
                <a:solidFill>
                  <a:srgbClr val="50646E"/>
                </a:solidFill>
              </a:rPr>
              <a:t>제목을 입력해주세요</a:t>
            </a:r>
            <a:endParaRPr lang="ko-KR" altLang="en-US" sz="1800" dirty="0">
              <a:solidFill>
                <a:srgbClr val="50646E"/>
              </a:solidFill>
            </a:endParaRPr>
          </a:p>
        </p:txBody>
      </p:sp>
      <p:pic>
        <p:nvPicPr>
          <p:cNvPr id="36" name="Picture 2"/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1649958" y="998811"/>
            <a:ext cx="1326596" cy="1932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1" name="텍스트 개체 틀 25"/>
          <p:cNvSpPr>
            <a:spLocks noGrp="1"/>
          </p:cNvSpPr>
          <p:nvPr>
            <p:ph type="body" sz="quarter" idx="15" hasCustomPrompt="1"/>
          </p:nvPr>
        </p:nvSpPr>
        <p:spPr>
          <a:xfrm>
            <a:off x="5994773" y="3382657"/>
            <a:ext cx="4392487" cy="557164"/>
          </a:xfrm>
          <a:prstGeom prst="rect">
            <a:avLst/>
          </a:prstGeom>
        </p:spPr>
        <p:txBody>
          <a:bodyPr/>
          <a:lstStyle>
            <a:lvl1pPr marL="0" marR="0" indent="0" algn="l" defTabSz="360000" rtl="0" eaLnBrk="1" fontAlgn="auto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>
                <a:latin typeface="다키 M" pitchFamily="2" charset="-127"/>
                <a:ea typeface="다키 M" pitchFamily="2" charset="-127"/>
              </a:defRPr>
            </a:lvl1pPr>
          </a:lstStyle>
          <a:p>
            <a:pPr marL="0" marR="0" indent="0" algn="l" defTabSz="360000" rtl="0" eaLnBrk="1" fontAlgn="auto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400" dirty="0" smtClean="0">
                <a:solidFill>
                  <a:srgbClr val="9DA6AB"/>
                </a:solidFill>
              </a:rPr>
              <a:t>1) </a:t>
            </a:r>
            <a:r>
              <a:rPr lang="ko-KR" altLang="en-US" sz="1400" dirty="0" smtClean="0">
                <a:solidFill>
                  <a:srgbClr val="9DA6AB"/>
                </a:solidFill>
              </a:rPr>
              <a:t>소제목 작성해주세요</a:t>
            </a:r>
            <a:r>
              <a:rPr lang="en-US" altLang="ko-KR" sz="1400" dirty="0" smtClean="0">
                <a:solidFill>
                  <a:srgbClr val="9DA6AB"/>
                </a:solidFill>
              </a:rPr>
              <a:t>	2) </a:t>
            </a:r>
            <a:r>
              <a:rPr lang="ko-KR" altLang="en-US" sz="1400" dirty="0" smtClean="0">
                <a:solidFill>
                  <a:srgbClr val="9DA6AB"/>
                </a:solidFill>
              </a:rPr>
              <a:t>소제목 작성해주세요</a:t>
            </a:r>
          </a:p>
          <a:p>
            <a:endParaRPr lang="ko-KR" altLang="en-US" sz="1400" dirty="0">
              <a:solidFill>
                <a:srgbClr val="9DA6AB"/>
              </a:solidFill>
            </a:endParaRPr>
          </a:p>
        </p:txBody>
      </p:sp>
      <p:sp>
        <p:nvSpPr>
          <p:cNvPr id="22" name="텍스트 개체 틀 27"/>
          <p:cNvSpPr>
            <a:spLocks noGrp="1"/>
          </p:cNvSpPr>
          <p:nvPr>
            <p:ph type="body" sz="quarter" idx="16" hasCustomPrompt="1"/>
          </p:nvPr>
        </p:nvSpPr>
        <p:spPr>
          <a:xfrm>
            <a:off x="5994773" y="2984683"/>
            <a:ext cx="4392487" cy="397974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>
                <a:latin typeface="다키 M" pitchFamily="2" charset="-127"/>
                <a:ea typeface="다키 M" pitchFamily="2" charset="-127"/>
              </a:defRPr>
            </a:lvl1pPr>
          </a:lstStyle>
          <a:p>
            <a:r>
              <a:rPr lang="ko-KR" altLang="en-US" sz="2000" dirty="0" smtClean="0">
                <a:solidFill>
                  <a:srgbClr val="50646E"/>
                </a:solidFill>
              </a:rPr>
              <a:t>제목을 입력해주세요</a:t>
            </a:r>
            <a:endParaRPr lang="ko-KR" altLang="en-US" sz="1800" dirty="0">
              <a:solidFill>
                <a:srgbClr val="50646E"/>
              </a:solidFill>
            </a:endParaRPr>
          </a:p>
        </p:txBody>
      </p:sp>
      <p:sp>
        <p:nvSpPr>
          <p:cNvPr id="23" name="텍스트 개체 틀 25"/>
          <p:cNvSpPr>
            <a:spLocks noGrp="1"/>
          </p:cNvSpPr>
          <p:nvPr>
            <p:ph type="body" sz="quarter" idx="17" hasCustomPrompt="1"/>
          </p:nvPr>
        </p:nvSpPr>
        <p:spPr>
          <a:xfrm>
            <a:off x="5994773" y="4417390"/>
            <a:ext cx="4392487" cy="557164"/>
          </a:xfrm>
          <a:prstGeom prst="rect">
            <a:avLst/>
          </a:prstGeom>
        </p:spPr>
        <p:txBody>
          <a:bodyPr/>
          <a:lstStyle>
            <a:lvl1pPr marL="0" marR="0" indent="0" algn="l" defTabSz="360000" rtl="0" eaLnBrk="1" fontAlgn="auto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>
                <a:latin typeface="다키 M" pitchFamily="2" charset="-127"/>
                <a:ea typeface="다키 M" pitchFamily="2" charset="-127"/>
              </a:defRPr>
            </a:lvl1pPr>
          </a:lstStyle>
          <a:p>
            <a:pPr marL="0" marR="0" indent="0" algn="l" defTabSz="360000" rtl="0" eaLnBrk="1" fontAlgn="auto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400" dirty="0" smtClean="0">
                <a:solidFill>
                  <a:srgbClr val="9DA6AB"/>
                </a:solidFill>
              </a:rPr>
              <a:t>1) </a:t>
            </a:r>
            <a:r>
              <a:rPr lang="ko-KR" altLang="en-US" sz="1400" dirty="0" smtClean="0">
                <a:solidFill>
                  <a:srgbClr val="9DA6AB"/>
                </a:solidFill>
              </a:rPr>
              <a:t>소제목 작성해주세요</a:t>
            </a:r>
            <a:r>
              <a:rPr lang="en-US" altLang="ko-KR" sz="1400" dirty="0" smtClean="0">
                <a:solidFill>
                  <a:srgbClr val="9DA6AB"/>
                </a:solidFill>
              </a:rPr>
              <a:t>	2) </a:t>
            </a:r>
            <a:r>
              <a:rPr lang="ko-KR" altLang="en-US" sz="1400" dirty="0" smtClean="0">
                <a:solidFill>
                  <a:srgbClr val="9DA6AB"/>
                </a:solidFill>
              </a:rPr>
              <a:t>소제목 작성해주세요</a:t>
            </a:r>
          </a:p>
          <a:p>
            <a:endParaRPr lang="ko-KR" altLang="en-US" sz="1400" dirty="0">
              <a:solidFill>
                <a:srgbClr val="9DA6AB"/>
              </a:solidFill>
            </a:endParaRPr>
          </a:p>
        </p:txBody>
      </p:sp>
      <p:sp>
        <p:nvSpPr>
          <p:cNvPr id="24" name="텍스트 개체 틀 27"/>
          <p:cNvSpPr>
            <a:spLocks noGrp="1"/>
          </p:cNvSpPr>
          <p:nvPr>
            <p:ph type="body" sz="quarter" idx="18" hasCustomPrompt="1"/>
          </p:nvPr>
        </p:nvSpPr>
        <p:spPr>
          <a:xfrm>
            <a:off x="5994773" y="4019416"/>
            <a:ext cx="4392487" cy="397974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>
                <a:latin typeface="다키 M" pitchFamily="2" charset="-127"/>
                <a:ea typeface="다키 M" pitchFamily="2" charset="-127"/>
              </a:defRPr>
            </a:lvl1pPr>
          </a:lstStyle>
          <a:p>
            <a:r>
              <a:rPr lang="ko-KR" altLang="en-US" sz="2000" dirty="0" smtClean="0">
                <a:solidFill>
                  <a:srgbClr val="50646E"/>
                </a:solidFill>
              </a:rPr>
              <a:t>제목을 입력해주세요</a:t>
            </a:r>
            <a:endParaRPr lang="ko-KR" altLang="en-US" sz="1800" dirty="0">
              <a:solidFill>
                <a:srgbClr val="50646E"/>
              </a:solidFill>
            </a:endParaRPr>
          </a:p>
        </p:txBody>
      </p:sp>
      <p:sp>
        <p:nvSpPr>
          <p:cNvPr id="25" name="텍스트 개체 틀 25"/>
          <p:cNvSpPr>
            <a:spLocks noGrp="1"/>
          </p:cNvSpPr>
          <p:nvPr>
            <p:ph type="body" sz="quarter" idx="19" hasCustomPrompt="1"/>
          </p:nvPr>
        </p:nvSpPr>
        <p:spPr>
          <a:xfrm>
            <a:off x="5994773" y="5452123"/>
            <a:ext cx="4392487" cy="557164"/>
          </a:xfrm>
          <a:prstGeom prst="rect">
            <a:avLst/>
          </a:prstGeom>
        </p:spPr>
        <p:txBody>
          <a:bodyPr/>
          <a:lstStyle>
            <a:lvl1pPr marL="0" marR="0" indent="0" algn="l" defTabSz="360000" rtl="0" eaLnBrk="1" fontAlgn="auto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>
                <a:latin typeface="다키 M" pitchFamily="2" charset="-127"/>
                <a:ea typeface="다키 M" pitchFamily="2" charset="-127"/>
              </a:defRPr>
            </a:lvl1pPr>
          </a:lstStyle>
          <a:p>
            <a:pPr marL="0" marR="0" indent="0" algn="l" defTabSz="360000" rtl="0" eaLnBrk="1" fontAlgn="auto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400" dirty="0" smtClean="0">
                <a:solidFill>
                  <a:srgbClr val="9DA6AB"/>
                </a:solidFill>
              </a:rPr>
              <a:t>1) </a:t>
            </a:r>
            <a:r>
              <a:rPr lang="ko-KR" altLang="en-US" sz="1400" dirty="0" smtClean="0">
                <a:solidFill>
                  <a:srgbClr val="9DA6AB"/>
                </a:solidFill>
              </a:rPr>
              <a:t>소제목 작성해주세요</a:t>
            </a:r>
            <a:r>
              <a:rPr lang="en-US" altLang="ko-KR" sz="1400" dirty="0" smtClean="0">
                <a:solidFill>
                  <a:srgbClr val="9DA6AB"/>
                </a:solidFill>
              </a:rPr>
              <a:t>	2) </a:t>
            </a:r>
            <a:r>
              <a:rPr lang="ko-KR" altLang="en-US" sz="1400" dirty="0" smtClean="0">
                <a:solidFill>
                  <a:srgbClr val="9DA6AB"/>
                </a:solidFill>
              </a:rPr>
              <a:t>소제목 작성해주세요</a:t>
            </a:r>
          </a:p>
          <a:p>
            <a:endParaRPr lang="ko-KR" altLang="en-US" sz="1400" dirty="0">
              <a:solidFill>
                <a:srgbClr val="9DA6AB"/>
              </a:solidFill>
            </a:endParaRPr>
          </a:p>
        </p:txBody>
      </p:sp>
      <p:sp>
        <p:nvSpPr>
          <p:cNvPr id="27" name="텍스트 개체 틀 27"/>
          <p:cNvSpPr>
            <a:spLocks noGrp="1"/>
          </p:cNvSpPr>
          <p:nvPr>
            <p:ph type="body" sz="quarter" idx="20" hasCustomPrompt="1"/>
          </p:nvPr>
        </p:nvSpPr>
        <p:spPr>
          <a:xfrm>
            <a:off x="5994773" y="5054149"/>
            <a:ext cx="4392487" cy="397974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>
                <a:latin typeface="다키 M" pitchFamily="2" charset="-127"/>
                <a:ea typeface="다키 M" pitchFamily="2" charset="-127"/>
              </a:defRPr>
            </a:lvl1pPr>
          </a:lstStyle>
          <a:p>
            <a:r>
              <a:rPr lang="ko-KR" altLang="en-US" sz="2000" dirty="0" smtClean="0">
                <a:solidFill>
                  <a:srgbClr val="50646E"/>
                </a:solidFill>
              </a:rPr>
              <a:t>제목을 입력해주세요</a:t>
            </a:r>
            <a:endParaRPr lang="ko-KR" altLang="en-US" sz="1800" dirty="0">
              <a:solidFill>
                <a:srgbClr val="50646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68337257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 hasCustomPrompt="1"/>
          </p:nvPr>
        </p:nvSpPr>
        <p:spPr>
          <a:xfrm>
            <a:off x="1206240" y="2188735"/>
            <a:ext cx="4991732" cy="1989871"/>
          </a:xfrm>
          <a:prstGeom prst="rect">
            <a:avLst/>
          </a:prstGeom>
        </p:spPr>
        <p:txBody>
          <a:bodyPr/>
          <a:lstStyle>
            <a:lvl1pPr algn="l">
              <a:defRPr sz="4800" baseline="0">
                <a:solidFill>
                  <a:srgbClr val="323C46"/>
                </a:solidFill>
                <a:latin typeface="다키 B" pitchFamily="2" charset="-127"/>
                <a:ea typeface="다키 B" pitchFamily="2" charset="-127"/>
              </a:defRPr>
            </a:lvl1pPr>
          </a:lstStyle>
          <a:p>
            <a:r>
              <a:rPr lang="ko-KR" altLang="en-US" dirty="0" smtClean="0"/>
              <a:t>간지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ko-KR" altLang="en-US" dirty="0" smtClean="0"/>
              <a:t>타이틀 입력</a:t>
            </a:r>
            <a:endParaRPr lang="ko-KR" altLang="en-US" dirty="0"/>
          </a:p>
        </p:txBody>
      </p:sp>
      <p:sp>
        <p:nvSpPr>
          <p:cNvPr id="10" name="텍스트 개체 틀 9"/>
          <p:cNvSpPr>
            <a:spLocks noGrp="1"/>
          </p:cNvSpPr>
          <p:nvPr>
            <p:ph type="body" sz="quarter" idx="10" hasCustomPrompt="1"/>
          </p:nvPr>
        </p:nvSpPr>
        <p:spPr>
          <a:xfrm>
            <a:off x="1206240" y="4695739"/>
            <a:ext cx="4991100" cy="2068863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sz="2400">
                <a:solidFill>
                  <a:srgbClr val="9DA6AB"/>
                </a:solidFill>
              </a:defRPr>
            </a:lvl1pPr>
          </a:lstStyle>
          <a:p>
            <a:pPr>
              <a:lnSpc>
                <a:spcPct val="150000"/>
              </a:lnSpc>
            </a:pPr>
            <a:r>
              <a:rPr lang="en-US" altLang="ko-KR" sz="2000" dirty="0" smtClean="0">
                <a:latin typeface="다키 M" pitchFamily="2" charset="-127"/>
                <a:ea typeface="다키 M" pitchFamily="2" charset="-127"/>
              </a:rPr>
              <a:t>1) </a:t>
            </a:r>
            <a:r>
              <a:rPr lang="ko-KR" altLang="en-US" sz="2000" dirty="0" smtClean="0">
                <a:latin typeface="다키 M" pitchFamily="2" charset="-127"/>
                <a:ea typeface="다키 M" pitchFamily="2" charset="-127"/>
              </a:rPr>
              <a:t>소제목 입력</a:t>
            </a:r>
            <a:endParaRPr lang="en-US" altLang="ko-KR" sz="2000" dirty="0" smtClean="0">
              <a:latin typeface="다키 M" pitchFamily="2" charset="-127"/>
              <a:ea typeface="다키 M" pitchFamily="2" charset="-127"/>
            </a:endParaRPr>
          </a:p>
        </p:txBody>
      </p:sp>
      <p:sp>
        <p:nvSpPr>
          <p:cNvPr id="7" name="직사각형 6"/>
          <p:cNvSpPr/>
          <p:nvPr userDrawn="1"/>
        </p:nvSpPr>
        <p:spPr>
          <a:xfrm>
            <a:off x="1350256" y="0"/>
            <a:ext cx="1926000" cy="1595699"/>
          </a:xfrm>
          <a:prstGeom prst="rect">
            <a:avLst/>
          </a:prstGeom>
          <a:solidFill>
            <a:srgbClr val="2482C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indent="0" algn="ctr">
              <a:buFont typeface="Arial" panose="020B0604020202020204" pitchFamily="34" charset="0"/>
              <a:buNone/>
            </a:pPr>
            <a:endParaRPr lang="ko-KR" altLang="en-US"/>
          </a:p>
        </p:txBody>
      </p:sp>
      <p:sp>
        <p:nvSpPr>
          <p:cNvPr id="9" name="직사각형 8"/>
          <p:cNvSpPr/>
          <p:nvPr userDrawn="1"/>
        </p:nvSpPr>
        <p:spPr>
          <a:xfrm>
            <a:off x="6786860" y="1"/>
            <a:ext cx="3906540" cy="7561263"/>
          </a:xfrm>
          <a:prstGeom prst="rect">
            <a:avLst/>
          </a:prstGeom>
          <a:solidFill>
            <a:srgbClr val="2482C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텍스트 개체 틀 5"/>
          <p:cNvSpPr>
            <a:spLocks noGrp="1"/>
          </p:cNvSpPr>
          <p:nvPr>
            <p:ph type="body" sz="quarter" idx="11" hasCustomPrompt="1"/>
          </p:nvPr>
        </p:nvSpPr>
        <p:spPr>
          <a:xfrm>
            <a:off x="1736994" y="437650"/>
            <a:ext cx="1152525" cy="1033553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6000">
                <a:solidFill>
                  <a:schemeClr val="bg1"/>
                </a:solidFill>
                <a:latin typeface="다키 M Title" pitchFamily="2" charset="-127"/>
                <a:ea typeface="다키 M Title" pitchFamily="2" charset="-127"/>
              </a:defRPr>
            </a:lvl1pPr>
          </a:lstStyle>
          <a:p>
            <a:pPr lvl="0"/>
            <a:r>
              <a:rPr lang="en-US" altLang="ko-KR" dirty="0" smtClean="0"/>
              <a:t>01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29998504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사용자 지정 레이아웃">
    <p:bg>
      <p:bgPr>
        <a:solidFill>
          <a:srgbClr val="2482C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 hasCustomPrompt="1"/>
          </p:nvPr>
        </p:nvSpPr>
        <p:spPr>
          <a:xfrm>
            <a:off x="1206240" y="2188735"/>
            <a:ext cx="4991732" cy="1989871"/>
          </a:xfrm>
          <a:prstGeom prst="rect">
            <a:avLst/>
          </a:prstGeom>
        </p:spPr>
        <p:txBody>
          <a:bodyPr>
            <a:normAutofit/>
          </a:bodyPr>
          <a:lstStyle>
            <a:lvl1pPr algn="l">
              <a:defRPr sz="6000">
                <a:solidFill>
                  <a:schemeClr val="bg1"/>
                </a:solidFill>
                <a:latin typeface="다키 B" pitchFamily="2" charset="-127"/>
                <a:ea typeface="다키 B" pitchFamily="2" charset="-127"/>
              </a:defRPr>
            </a:lvl1pPr>
          </a:lstStyle>
          <a:p>
            <a:r>
              <a:rPr lang="ko-KR" altLang="en-US" dirty="0" smtClean="0"/>
              <a:t>간지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ko-KR" altLang="en-US" dirty="0" smtClean="0"/>
              <a:t>타이틀 입력</a:t>
            </a:r>
            <a:endParaRPr lang="ko-KR" altLang="en-US" dirty="0"/>
          </a:p>
        </p:txBody>
      </p:sp>
      <p:sp>
        <p:nvSpPr>
          <p:cNvPr id="3" name="직사각형 2"/>
          <p:cNvSpPr/>
          <p:nvPr userDrawn="1"/>
        </p:nvSpPr>
        <p:spPr>
          <a:xfrm>
            <a:off x="6786860" y="1"/>
            <a:ext cx="3906540" cy="756126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직사각형 3"/>
          <p:cNvSpPr/>
          <p:nvPr userDrawn="1"/>
        </p:nvSpPr>
        <p:spPr>
          <a:xfrm>
            <a:off x="1350256" y="0"/>
            <a:ext cx="1926000" cy="159569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텍스트 개체 틀 9"/>
          <p:cNvSpPr>
            <a:spLocks noGrp="1"/>
          </p:cNvSpPr>
          <p:nvPr>
            <p:ph type="body" sz="quarter" idx="10" hasCustomPrompt="1"/>
          </p:nvPr>
        </p:nvSpPr>
        <p:spPr>
          <a:xfrm>
            <a:off x="1170236" y="5004768"/>
            <a:ext cx="4991100" cy="1800200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None/>
              <a:defRPr sz="1800">
                <a:solidFill>
                  <a:srgbClr val="D8E2E7"/>
                </a:solidFill>
              </a:defRPr>
            </a:lvl1pPr>
          </a:lstStyle>
          <a:p>
            <a:pPr>
              <a:lnSpc>
                <a:spcPct val="150000"/>
              </a:lnSpc>
            </a:pPr>
            <a:r>
              <a:rPr lang="en-US" altLang="ko-KR" sz="2000" dirty="0" smtClean="0">
                <a:latin typeface="다키 M" pitchFamily="2" charset="-127"/>
                <a:ea typeface="다키 M" pitchFamily="2" charset="-127"/>
              </a:rPr>
              <a:t>1) </a:t>
            </a:r>
            <a:r>
              <a:rPr lang="ko-KR" altLang="en-US" sz="2000" dirty="0" smtClean="0">
                <a:latin typeface="다키 M" pitchFamily="2" charset="-127"/>
                <a:ea typeface="다키 M" pitchFamily="2" charset="-127"/>
              </a:rPr>
              <a:t>소제목 입력</a:t>
            </a:r>
            <a:endParaRPr lang="en-US" altLang="ko-KR" sz="2000" dirty="0" smtClean="0">
              <a:latin typeface="다키 M" pitchFamily="2" charset="-127"/>
              <a:ea typeface="다키 M" pitchFamily="2" charset="-127"/>
            </a:endParaRPr>
          </a:p>
        </p:txBody>
      </p:sp>
      <p:sp>
        <p:nvSpPr>
          <p:cNvPr id="12" name="텍스트 개체 틀 11"/>
          <p:cNvSpPr>
            <a:spLocks noGrp="1"/>
          </p:cNvSpPr>
          <p:nvPr>
            <p:ph type="body" sz="quarter" idx="11" hasCustomPrompt="1"/>
          </p:nvPr>
        </p:nvSpPr>
        <p:spPr>
          <a:xfrm>
            <a:off x="1775889" y="366745"/>
            <a:ext cx="1074737" cy="849304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/>
            </a:lvl1pPr>
          </a:lstStyle>
          <a:p>
            <a:pPr algn="ctr"/>
            <a:r>
              <a:rPr lang="en-US" altLang="ko-KR" sz="6000" dirty="0" smtClean="0">
                <a:solidFill>
                  <a:srgbClr val="2482C8"/>
                </a:solidFill>
                <a:latin typeface="다키 M Title" pitchFamily="2" charset="-127"/>
                <a:ea typeface="다키 M Title" pitchFamily="2" charset="-127"/>
              </a:rPr>
              <a:t>01</a:t>
            </a:r>
            <a:endParaRPr lang="ko-KR" altLang="en-US" sz="6000" dirty="0">
              <a:solidFill>
                <a:srgbClr val="2482C8"/>
              </a:solidFill>
              <a:latin typeface="다키 M Title" pitchFamily="2" charset="-127"/>
              <a:ea typeface="다키 M Title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82683800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슬라이드 번호 개체 틀 5"/>
          <p:cNvSpPr txBox="1">
            <a:spLocks/>
          </p:cNvSpPr>
          <p:nvPr userDrawn="1"/>
        </p:nvSpPr>
        <p:spPr>
          <a:xfrm>
            <a:off x="4680165" y="7243007"/>
            <a:ext cx="1333071" cy="30988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ctr" defTabSz="914400" rtl="0" eaLnBrk="1" latinLnBrk="1" hangingPunct="1">
              <a:defRPr sz="1200" kern="1200">
                <a:solidFill>
                  <a:srgbClr val="D8E2E7"/>
                </a:solidFill>
                <a:latin typeface="다키 M" pitchFamily="2" charset="-127"/>
                <a:ea typeface="다키 M" pitchFamily="2" charset="-127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4A1A8922-F2AB-460F-B06D-814BB823FF16}" type="slidenum">
              <a:rPr lang="ko-KR" altLang="en-US" smtClean="0">
                <a:solidFill>
                  <a:srgbClr val="9DA6AB"/>
                </a:solidFill>
              </a:rPr>
              <a:pPr/>
              <a:t>‹#›</a:t>
            </a:fld>
            <a:r>
              <a:rPr lang="en-US" altLang="ko-KR" dirty="0" smtClean="0">
                <a:solidFill>
                  <a:srgbClr val="9DA6AB"/>
                </a:solidFill>
              </a:rPr>
              <a:t>/x</a:t>
            </a:r>
            <a:endParaRPr lang="ko-KR" altLang="en-US" dirty="0">
              <a:solidFill>
                <a:srgbClr val="9DA6AB"/>
              </a:solidFill>
            </a:endParaRPr>
          </a:p>
        </p:txBody>
      </p:sp>
      <p:sp>
        <p:nvSpPr>
          <p:cNvPr id="22" name="내용 개체 틀 2"/>
          <p:cNvSpPr>
            <a:spLocks noGrp="1"/>
          </p:cNvSpPr>
          <p:nvPr>
            <p:ph idx="13"/>
          </p:nvPr>
        </p:nvSpPr>
        <p:spPr>
          <a:xfrm>
            <a:off x="306388" y="1764296"/>
            <a:ext cx="10080872" cy="520012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400">
                <a:solidFill>
                  <a:srgbClr val="323C46"/>
                </a:solidFill>
                <a:latin typeface="다키 M" pitchFamily="2" charset="-127"/>
                <a:ea typeface="다키 M" pitchFamily="2" charset="-127"/>
              </a:defRPr>
            </a:lvl1pPr>
          </a:lstStyle>
          <a:p>
            <a:pPr lvl="0"/>
            <a:endParaRPr lang="ko-KR" altLang="en-US" dirty="0"/>
          </a:p>
        </p:txBody>
      </p:sp>
      <p:sp>
        <p:nvSpPr>
          <p:cNvPr id="12" name="직사각형 11"/>
          <p:cNvSpPr/>
          <p:nvPr userDrawn="1"/>
        </p:nvSpPr>
        <p:spPr>
          <a:xfrm>
            <a:off x="0" y="250567"/>
            <a:ext cx="180000" cy="955138"/>
          </a:xfrm>
          <a:prstGeom prst="rect">
            <a:avLst/>
          </a:prstGeom>
          <a:solidFill>
            <a:srgbClr val="2482C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3" name="직사각형 12"/>
          <p:cNvSpPr/>
          <p:nvPr userDrawn="1"/>
        </p:nvSpPr>
        <p:spPr>
          <a:xfrm>
            <a:off x="10627226" y="250567"/>
            <a:ext cx="66175" cy="397974"/>
          </a:xfrm>
          <a:prstGeom prst="rect">
            <a:avLst/>
          </a:prstGeom>
          <a:solidFill>
            <a:srgbClr val="9DA6A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6" name="텍스트 개체 틀 15"/>
          <p:cNvSpPr>
            <a:spLocks noGrp="1"/>
          </p:cNvSpPr>
          <p:nvPr>
            <p:ph type="body" sz="quarter" idx="10" hasCustomPrompt="1"/>
          </p:nvPr>
        </p:nvSpPr>
        <p:spPr>
          <a:xfrm>
            <a:off x="8343899" y="250567"/>
            <a:ext cx="2268537" cy="397974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rgbClr val="9DA6AB"/>
                </a:solidFill>
                <a:latin typeface="다키 M Title" pitchFamily="2" charset="-127"/>
                <a:ea typeface="다키 M Title" pitchFamily="2" charset="-127"/>
              </a:defRPr>
            </a:lvl1pPr>
          </a:lstStyle>
          <a:p>
            <a:pPr algn="r"/>
            <a:r>
              <a:rPr lang="en-US" altLang="ko-KR" sz="1600" dirty="0" smtClean="0">
                <a:solidFill>
                  <a:srgbClr val="9DA6AB"/>
                </a:solidFill>
              </a:rPr>
              <a:t>Large</a:t>
            </a:r>
            <a:r>
              <a:rPr lang="en-US" altLang="ko-KR" sz="1600" baseline="0" dirty="0" smtClean="0">
                <a:solidFill>
                  <a:srgbClr val="9DA6AB"/>
                </a:solidFill>
              </a:rPr>
              <a:t> title </a:t>
            </a:r>
            <a:r>
              <a:rPr lang="ko-KR" altLang="en-US" sz="1600" dirty="0" smtClean="0">
                <a:solidFill>
                  <a:srgbClr val="9DA6AB"/>
                </a:solidFill>
              </a:rPr>
              <a:t>입력</a:t>
            </a:r>
            <a:endParaRPr lang="ko-KR" altLang="en-US" sz="1600" dirty="0">
              <a:solidFill>
                <a:srgbClr val="9DA6AB"/>
              </a:solidFill>
            </a:endParaRPr>
          </a:p>
        </p:txBody>
      </p:sp>
      <p:sp>
        <p:nvSpPr>
          <p:cNvPr id="18" name="텍스트 개체 틀 17"/>
          <p:cNvSpPr>
            <a:spLocks noGrp="1"/>
          </p:cNvSpPr>
          <p:nvPr>
            <p:ph type="body" sz="quarter" idx="11" hasCustomPrompt="1"/>
          </p:nvPr>
        </p:nvSpPr>
        <p:spPr>
          <a:xfrm>
            <a:off x="234132" y="238662"/>
            <a:ext cx="7956884" cy="63697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>
                <a:solidFill>
                  <a:srgbClr val="2482C8"/>
                </a:solidFill>
                <a:latin typeface="다키 B" pitchFamily="2" charset="-127"/>
                <a:ea typeface="다키 B" pitchFamily="2" charset="-127"/>
              </a:defRPr>
            </a:lvl1pPr>
          </a:lstStyle>
          <a:p>
            <a:r>
              <a:rPr lang="ko-KR" altLang="en-US" dirty="0" smtClean="0"/>
              <a:t>타이틀을 입력하세요</a:t>
            </a:r>
            <a:endParaRPr lang="ko-KR" altLang="en-US" dirty="0"/>
          </a:p>
        </p:txBody>
      </p:sp>
      <p:sp>
        <p:nvSpPr>
          <p:cNvPr id="20" name="텍스트 개체 틀 19"/>
          <p:cNvSpPr>
            <a:spLocks noGrp="1"/>
          </p:cNvSpPr>
          <p:nvPr>
            <p:ph type="body" sz="quarter" idx="12" hasCustomPrompt="1"/>
          </p:nvPr>
        </p:nvSpPr>
        <p:spPr>
          <a:xfrm>
            <a:off x="234132" y="835733"/>
            <a:ext cx="7956884" cy="640642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latin typeface="다키 M" pitchFamily="2" charset="-127"/>
                <a:ea typeface="다키 M" pitchFamily="2" charset="-127"/>
              </a:defRPr>
            </a:lvl1pPr>
          </a:lstStyle>
          <a:p>
            <a:r>
              <a:rPr lang="en-US" altLang="ko-KR" sz="1600" dirty="0" smtClean="0">
                <a:solidFill>
                  <a:srgbClr val="50646E"/>
                </a:solidFill>
              </a:rPr>
              <a:t>summary</a:t>
            </a:r>
            <a:r>
              <a:rPr lang="ko-KR" altLang="en-US" sz="1600" dirty="0" smtClean="0">
                <a:solidFill>
                  <a:srgbClr val="50646E"/>
                </a:solidFill>
              </a:rPr>
              <a:t>를 입력하세요</a:t>
            </a:r>
            <a:r>
              <a:rPr lang="en-US" altLang="ko-KR" sz="1600" dirty="0" smtClean="0">
                <a:solidFill>
                  <a:srgbClr val="50646E"/>
                </a:solidFill>
              </a:rPr>
              <a:t>.</a:t>
            </a:r>
          </a:p>
          <a:p>
            <a:r>
              <a:rPr lang="ko-KR" altLang="en-US" sz="1600" dirty="0" smtClean="0">
                <a:solidFill>
                  <a:srgbClr val="50646E"/>
                </a:solidFill>
              </a:rPr>
              <a:t>최대 </a:t>
            </a:r>
            <a:r>
              <a:rPr lang="ko-KR" altLang="en-US" sz="1600" dirty="0" err="1" smtClean="0">
                <a:solidFill>
                  <a:srgbClr val="50646E"/>
                </a:solidFill>
              </a:rPr>
              <a:t>두줄까지</a:t>
            </a:r>
            <a:r>
              <a:rPr lang="ko-KR" altLang="en-US" sz="1600" dirty="0" smtClean="0">
                <a:solidFill>
                  <a:srgbClr val="50646E"/>
                </a:solidFill>
              </a:rPr>
              <a:t> 입력이 가능합니다</a:t>
            </a:r>
            <a:r>
              <a:rPr lang="en-US" altLang="ko-KR" sz="1600" dirty="0" smtClean="0">
                <a:solidFill>
                  <a:srgbClr val="50646E"/>
                </a:solidFill>
              </a:rPr>
              <a:t>.</a:t>
            </a:r>
            <a:endParaRPr lang="ko-KR" altLang="en-US" sz="1600" dirty="0">
              <a:solidFill>
                <a:srgbClr val="50646E"/>
              </a:solidFill>
            </a:endParaRPr>
          </a:p>
        </p:txBody>
      </p:sp>
      <p:pic>
        <p:nvPicPr>
          <p:cNvPr id="24" name="Picture 2"/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9475200" y="7315201"/>
            <a:ext cx="911543" cy="1152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067255795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사용자 지정 레이아웃">
    <p:bg>
      <p:bgPr>
        <a:solidFill>
          <a:srgbClr val="2482C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 hasCustomPrompt="1"/>
          </p:nvPr>
        </p:nvSpPr>
        <p:spPr>
          <a:xfrm>
            <a:off x="1242244" y="2268330"/>
            <a:ext cx="7812868" cy="2029668"/>
          </a:xfrm>
          <a:prstGeom prst="rect">
            <a:avLst/>
          </a:prstGeom>
        </p:spPr>
        <p:txBody>
          <a:bodyPr/>
          <a:lstStyle>
            <a:lvl1pPr>
              <a:defRPr sz="10000" baseline="0">
                <a:solidFill>
                  <a:schemeClr val="bg1"/>
                </a:solidFill>
                <a:latin typeface="다키 M Title" pitchFamily="2" charset="-127"/>
                <a:ea typeface="다키 M Title" pitchFamily="2" charset="-127"/>
              </a:defRPr>
            </a:lvl1pPr>
          </a:lstStyle>
          <a:p>
            <a:r>
              <a:rPr lang="en-US" altLang="ko-KR" dirty="0" smtClean="0"/>
              <a:t>THANK YOU</a:t>
            </a:r>
            <a:endParaRPr lang="ko-KR" altLang="en-US" dirty="0"/>
          </a:p>
        </p:txBody>
      </p:sp>
      <p:sp>
        <p:nvSpPr>
          <p:cNvPr id="3" name="직사각형 2"/>
          <p:cNvSpPr/>
          <p:nvPr userDrawn="1"/>
        </p:nvSpPr>
        <p:spPr>
          <a:xfrm>
            <a:off x="1350256" y="0"/>
            <a:ext cx="1926000" cy="159569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3074" name="Picture 2"/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1649958" y="998811"/>
            <a:ext cx="1326596" cy="1932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부제목 2"/>
          <p:cNvSpPr>
            <a:spLocks noGrp="1"/>
          </p:cNvSpPr>
          <p:nvPr>
            <p:ph type="subTitle" idx="1" hasCustomPrompt="1"/>
          </p:nvPr>
        </p:nvSpPr>
        <p:spPr>
          <a:xfrm>
            <a:off x="1242244" y="5065766"/>
            <a:ext cx="2594426" cy="397930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sz="1800">
                <a:solidFill>
                  <a:srgbClr val="9DA6AB"/>
                </a:solidFill>
                <a:latin typeface="다키 B" pitchFamily="2" charset="-127"/>
                <a:ea typeface="다키 B" pitchFamily="2" charset="-127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altLang="ko-KR" dirty="0" smtClean="0"/>
              <a:t>00 </a:t>
            </a:r>
            <a:r>
              <a:rPr lang="ko-KR" altLang="en-US" dirty="0" smtClean="0"/>
              <a:t>팀</a:t>
            </a:r>
            <a:endParaRPr lang="ko-KR" altLang="en-US" dirty="0"/>
          </a:p>
        </p:txBody>
      </p:sp>
      <p:sp>
        <p:nvSpPr>
          <p:cNvPr id="7" name="텍스트 개체 틀 17"/>
          <p:cNvSpPr>
            <a:spLocks noGrp="1"/>
          </p:cNvSpPr>
          <p:nvPr>
            <p:ph type="body" sz="quarter" idx="11" hasCustomPrompt="1"/>
          </p:nvPr>
        </p:nvSpPr>
        <p:spPr>
          <a:xfrm>
            <a:off x="1242244" y="5503537"/>
            <a:ext cx="2592288" cy="397152"/>
          </a:xfrm>
          <a:prstGeom prst="rect">
            <a:avLst/>
          </a:prstGeom>
        </p:spPr>
        <p:txBody>
          <a:bodyPr anchor="ctr"/>
          <a:lstStyle>
            <a:lvl1pPr marL="0" indent="0">
              <a:buNone/>
              <a:defRPr sz="1800">
                <a:solidFill>
                  <a:srgbClr val="9DA6AB"/>
                </a:solidFill>
                <a:latin typeface="다키 B" pitchFamily="2" charset="-127"/>
                <a:ea typeface="다키 B" pitchFamily="2" charset="-127"/>
              </a:defRPr>
            </a:lvl1pPr>
          </a:lstStyle>
          <a:p>
            <a:r>
              <a:rPr lang="ko-KR" altLang="en-US" dirty="0" smtClean="0"/>
              <a:t>담당자 </a:t>
            </a:r>
            <a:r>
              <a:rPr lang="en-US" altLang="ko-KR" dirty="0" smtClean="0"/>
              <a:t>: </a:t>
            </a:r>
            <a:r>
              <a:rPr lang="ko-KR" altLang="en-US" dirty="0" smtClean="0"/>
              <a:t>홍길동</a:t>
            </a:r>
            <a:endParaRPr lang="en-US" altLang="ko-KR" dirty="0" smtClean="0"/>
          </a:p>
        </p:txBody>
      </p:sp>
      <p:sp>
        <p:nvSpPr>
          <p:cNvPr id="8" name="텍스트 개체 틀 19"/>
          <p:cNvSpPr>
            <a:spLocks noGrp="1"/>
          </p:cNvSpPr>
          <p:nvPr>
            <p:ph type="body" sz="quarter" idx="12" hasCustomPrompt="1"/>
          </p:nvPr>
        </p:nvSpPr>
        <p:spPr>
          <a:xfrm>
            <a:off x="1242779" y="5940871"/>
            <a:ext cx="2593899" cy="39841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800">
                <a:solidFill>
                  <a:srgbClr val="9DA6AB"/>
                </a:solidFill>
                <a:latin typeface="다키 B" pitchFamily="2" charset="-127"/>
                <a:ea typeface="다키 B" pitchFamily="2" charset="-127"/>
              </a:defRPr>
            </a:lvl1pPr>
          </a:lstStyle>
          <a:p>
            <a:r>
              <a:rPr lang="ko-KR" altLang="en-US" dirty="0" smtClean="0"/>
              <a:t>연락처 </a:t>
            </a:r>
            <a:r>
              <a:rPr lang="en-US" altLang="ko-KR" dirty="0" smtClean="0"/>
              <a:t>: 070 0000 0000</a:t>
            </a:r>
          </a:p>
        </p:txBody>
      </p:sp>
    </p:spTree>
    <p:extLst>
      <p:ext uri="{BB962C8B-B14F-4D97-AF65-F5344CB8AC3E}">
        <p14:creationId xmlns:p14="http://schemas.microsoft.com/office/powerpoint/2010/main" val="2134481280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slideLayout" Target="../slideLayouts/slideLayout10.xml"/><Relationship Id="rId3" Type="http://schemas.openxmlformats.org/officeDocument/2006/relationships/slideLayout" Target="../slideLayouts/slideLayout11.xml"/><Relationship Id="rId4" Type="http://schemas.openxmlformats.org/officeDocument/2006/relationships/slideLayout" Target="../slideLayouts/slideLayout12.xml"/><Relationship Id="rId5" Type="http://schemas.openxmlformats.org/officeDocument/2006/relationships/slideLayout" Target="../slideLayouts/slideLayout13.xml"/><Relationship Id="rId6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5.xml"/><Relationship Id="rId8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35171" y="402569"/>
            <a:ext cx="9223058" cy="146149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35171" y="2012836"/>
            <a:ext cx="9223058" cy="479755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35171" y="7008172"/>
            <a:ext cx="2406015" cy="40256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323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D16BF97-55BE-41D7-A5BB-0D02BD7B0503}" type="datetimeFigureOut">
              <a:rPr lang="ko-KR" altLang="en-US" smtClean="0"/>
              <a:t>2026-07-07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542189" y="7008172"/>
            <a:ext cx="3609023" cy="40256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323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552214" y="7008172"/>
            <a:ext cx="2406015" cy="40256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323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126812A-A0EF-4881-B62C-6E922A4382F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6634506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</p:sldLayoutIdLst>
  <p:txStyles>
    <p:titleStyle>
      <a:lvl1pPr algn="l" defTabSz="1008126" rtl="0" eaLnBrk="1" latinLnBrk="1" hangingPunct="1">
        <a:lnSpc>
          <a:spcPct val="90000"/>
        </a:lnSpc>
        <a:spcBef>
          <a:spcPct val="0"/>
        </a:spcBef>
        <a:buNone/>
        <a:defRPr sz="485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52032" indent="-252032" algn="l" defTabSz="1008126" rtl="0" eaLnBrk="1" latinLnBrk="1" hangingPunct="1">
        <a:lnSpc>
          <a:spcPct val="90000"/>
        </a:lnSpc>
        <a:spcBef>
          <a:spcPts val="1103"/>
        </a:spcBef>
        <a:buFont typeface="Arial" panose="020B0604020202020204" pitchFamily="34" charset="0"/>
        <a:buChar char="•"/>
        <a:defRPr sz="3087" kern="1200">
          <a:solidFill>
            <a:schemeClr val="tx1"/>
          </a:solidFill>
          <a:latin typeface="+mn-lt"/>
          <a:ea typeface="+mn-ea"/>
          <a:cs typeface="+mn-cs"/>
        </a:defRPr>
      </a:lvl1pPr>
      <a:lvl2pPr marL="756095" indent="-252032" algn="l" defTabSz="1008126" rtl="0" eaLnBrk="1" latinLnBrk="1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2646" kern="1200">
          <a:solidFill>
            <a:schemeClr val="tx1"/>
          </a:solidFill>
          <a:latin typeface="+mn-lt"/>
          <a:ea typeface="+mn-ea"/>
          <a:cs typeface="+mn-cs"/>
        </a:defRPr>
      </a:lvl2pPr>
      <a:lvl3pPr marL="1260158" indent="-252032" algn="l" defTabSz="1008126" rtl="0" eaLnBrk="1" latinLnBrk="1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2205" kern="1200">
          <a:solidFill>
            <a:schemeClr val="tx1"/>
          </a:solidFill>
          <a:latin typeface="+mn-lt"/>
          <a:ea typeface="+mn-ea"/>
          <a:cs typeface="+mn-cs"/>
        </a:defRPr>
      </a:lvl3pPr>
      <a:lvl4pPr marL="1764221" indent="-252032" algn="l" defTabSz="1008126" rtl="0" eaLnBrk="1" latinLnBrk="1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5" kern="1200">
          <a:solidFill>
            <a:schemeClr val="tx1"/>
          </a:solidFill>
          <a:latin typeface="+mn-lt"/>
          <a:ea typeface="+mn-ea"/>
          <a:cs typeface="+mn-cs"/>
        </a:defRPr>
      </a:lvl4pPr>
      <a:lvl5pPr marL="2268284" indent="-252032" algn="l" defTabSz="1008126" rtl="0" eaLnBrk="1" latinLnBrk="1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5" kern="1200">
          <a:solidFill>
            <a:schemeClr val="tx1"/>
          </a:solidFill>
          <a:latin typeface="+mn-lt"/>
          <a:ea typeface="+mn-ea"/>
          <a:cs typeface="+mn-cs"/>
        </a:defRPr>
      </a:lvl5pPr>
      <a:lvl6pPr marL="2772347" indent="-252032" algn="l" defTabSz="1008126" rtl="0" eaLnBrk="1" latinLnBrk="1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5" kern="1200">
          <a:solidFill>
            <a:schemeClr val="tx1"/>
          </a:solidFill>
          <a:latin typeface="+mn-lt"/>
          <a:ea typeface="+mn-ea"/>
          <a:cs typeface="+mn-cs"/>
        </a:defRPr>
      </a:lvl6pPr>
      <a:lvl7pPr marL="3276410" indent="-252032" algn="l" defTabSz="1008126" rtl="0" eaLnBrk="1" latinLnBrk="1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5" kern="1200">
          <a:solidFill>
            <a:schemeClr val="tx1"/>
          </a:solidFill>
          <a:latin typeface="+mn-lt"/>
          <a:ea typeface="+mn-ea"/>
          <a:cs typeface="+mn-cs"/>
        </a:defRPr>
      </a:lvl7pPr>
      <a:lvl8pPr marL="3780473" indent="-252032" algn="l" defTabSz="1008126" rtl="0" eaLnBrk="1" latinLnBrk="1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5" kern="1200">
          <a:solidFill>
            <a:schemeClr val="tx1"/>
          </a:solidFill>
          <a:latin typeface="+mn-lt"/>
          <a:ea typeface="+mn-ea"/>
          <a:cs typeface="+mn-cs"/>
        </a:defRPr>
      </a:lvl8pPr>
      <a:lvl9pPr marL="4284536" indent="-252032" algn="l" defTabSz="1008126" rtl="0" eaLnBrk="1" latinLnBrk="1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5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008126" rtl="0" eaLnBrk="1" latinLnBrk="1" hangingPunct="1">
        <a:defRPr sz="1985" kern="1200">
          <a:solidFill>
            <a:schemeClr val="tx1"/>
          </a:solidFill>
          <a:latin typeface="+mn-lt"/>
          <a:ea typeface="+mn-ea"/>
          <a:cs typeface="+mn-cs"/>
        </a:defRPr>
      </a:lvl1pPr>
      <a:lvl2pPr marL="504063" algn="l" defTabSz="1008126" rtl="0" eaLnBrk="1" latinLnBrk="1" hangingPunct="1">
        <a:defRPr sz="1985" kern="1200">
          <a:solidFill>
            <a:schemeClr val="tx1"/>
          </a:solidFill>
          <a:latin typeface="+mn-lt"/>
          <a:ea typeface="+mn-ea"/>
          <a:cs typeface="+mn-cs"/>
        </a:defRPr>
      </a:lvl2pPr>
      <a:lvl3pPr marL="1008126" algn="l" defTabSz="1008126" rtl="0" eaLnBrk="1" latinLnBrk="1" hangingPunct="1">
        <a:defRPr sz="1985" kern="1200">
          <a:solidFill>
            <a:schemeClr val="tx1"/>
          </a:solidFill>
          <a:latin typeface="+mn-lt"/>
          <a:ea typeface="+mn-ea"/>
          <a:cs typeface="+mn-cs"/>
        </a:defRPr>
      </a:lvl3pPr>
      <a:lvl4pPr marL="1512189" algn="l" defTabSz="1008126" rtl="0" eaLnBrk="1" latinLnBrk="1" hangingPunct="1">
        <a:defRPr sz="1985" kern="1200">
          <a:solidFill>
            <a:schemeClr val="tx1"/>
          </a:solidFill>
          <a:latin typeface="+mn-lt"/>
          <a:ea typeface="+mn-ea"/>
          <a:cs typeface="+mn-cs"/>
        </a:defRPr>
      </a:lvl4pPr>
      <a:lvl5pPr marL="2016252" algn="l" defTabSz="1008126" rtl="0" eaLnBrk="1" latinLnBrk="1" hangingPunct="1">
        <a:defRPr sz="1985" kern="1200">
          <a:solidFill>
            <a:schemeClr val="tx1"/>
          </a:solidFill>
          <a:latin typeface="+mn-lt"/>
          <a:ea typeface="+mn-ea"/>
          <a:cs typeface="+mn-cs"/>
        </a:defRPr>
      </a:lvl5pPr>
      <a:lvl6pPr marL="2520315" algn="l" defTabSz="1008126" rtl="0" eaLnBrk="1" latinLnBrk="1" hangingPunct="1">
        <a:defRPr sz="1985" kern="1200">
          <a:solidFill>
            <a:schemeClr val="tx1"/>
          </a:solidFill>
          <a:latin typeface="+mn-lt"/>
          <a:ea typeface="+mn-ea"/>
          <a:cs typeface="+mn-cs"/>
        </a:defRPr>
      </a:lvl6pPr>
      <a:lvl7pPr marL="3024378" algn="l" defTabSz="1008126" rtl="0" eaLnBrk="1" latinLnBrk="1" hangingPunct="1">
        <a:defRPr sz="1985" kern="1200">
          <a:solidFill>
            <a:schemeClr val="tx1"/>
          </a:solidFill>
          <a:latin typeface="+mn-lt"/>
          <a:ea typeface="+mn-ea"/>
          <a:cs typeface="+mn-cs"/>
        </a:defRPr>
      </a:lvl7pPr>
      <a:lvl8pPr marL="3528441" algn="l" defTabSz="1008126" rtl="0" eaLnBrk="1" latinLnBrk="1" hangingPunct="1">
        <a:defRPr sz="1985" kern="1200">
          <a:solidFill>
            <a:schemeClr val="tx1"/>
          </a:solidFill>
          <a:latin typeface="+mn-lt"/>
          <a:ea typeface="+mn-ea"/>
          <a:cs typeface="+mn-cs"/>
        </a:defRPr>
      </a:lvl8pPr>
      <a:lvl9pPr marL="4032504" algn="l" defTabSz="1008126" rtl="0" eaLnBrk="1" latinLnBrk="1" hangingPunct="1">
        <a:defRPr sz="1985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534988" y="303213"/>
            <a:ext cx="9623425" cy="126047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dirty="0" smtClean="0"/>
              <a:t>마스터 제목 스타일 편집</a:t>
            </a:r>
            <a:endParaRPr lang="ko-KR" altLang="en-US" dirty="0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534988" y="1763713"/>
            <a:ext cx="9623425" cy="49911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dirty="0" smtClean="0"/>
              <a:t>마스터 텍스트 스타일을 편집합니다</a:t>
            </a:r>
          </a:p>
          <a:p>
            <a:pPr lvl="1"/>
            <a:r>
              <a:rPr lang="ko-KR" altLang="en-US" dirty="0" smtClean="0"/>
              <a:t>둘째 수준</a:t>
            </a:r>
          </a:p>
          <a:p>
            <a:pPr lvl="2"/>
            <a:r>
              <a:rPr lang="ko-KR" altLang="en-US" dirty="0" smtClean="0"/>
              <a:t>셋째 수준</a:t>
            </a:r>
          </a:p>
          <a:p>
            <a:pPr lvl="3"/>
            <a:r>
              <a:rPr lang="ko-KR" altLang="en-US" dirty="0" smtClean="0"/>
              <a:t>넷째 수준</a:t>
            </a:r>
          </a:p>
          <a:p>
            <a:pPr lvl="4"/>
            <a:r>
              <a:rPr lang="ko-KR" altLang="en-US" dirty="0" smtClean="0"/>
              <a:t>다섯째 수준</a:t>
            </a:r>
            <a:endParaRPr lang="ko-KR" altLang="en-US" dirty="0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534988" y="7008813"/>
            <a:ext cx="2495550" cy="401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marL="0" indent="0" algn="l">
              <a:buFont typeface="Arial" panose="020B0604020202020204" pitchFamily="34" charset="0"/>
              <a:buNone/>
              <a:defRPr sz="1200">
                <a:solidFill>
                  <a:schemeClr val="tx1">
                    <a:tint val="75000"/>
                  </a:schemeClr>
                </a:solidFill>
                <a:latin typeface="다키 B" pitchFamily="2" charset="-127"/>
                <a:ea typeface="다키 B" pitchFamily="2" charset="-127"/>
              </a:defRPr>
            </a:lvl1pPr>
          </a:lstStyle>
          <a:p>
            <a:fld id="{E3B99DD1-C01C-41AF-9B2F-192F1B152AF4}" type="datetimeFigureOut">
              <a:rPr lang="ko-KR" altLang="en-US" smtClean="0"/>
              <a:pPr/>
              <a:t>2026-07-07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3652838" y="7008813"/>
            <a:ext cx="3387725" cy="401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marL="0" indent="0" algn="ctr">
              <a:buFont typeface="Arial" panose="020B0604020202020204" pitchFamily="34" charset="0"/>
              <a:buNone/>
              <a:defRPr sz="1200">
                <a:solidFill>
                  <a:schemeClr val="tx1">
                    <a:tint val="75000"/>
                  </a:schemeClr>
                </a:solidFill>
                <a:latin typeface="다키 B" pitchFamily="2" charset="-127"/>
                <a:ea typeface="다키 B" pitchFamily="2" charset="-127"/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7662863" y="7008813"/>
            <a:ext cx="2495550" cy="401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marL="0" indent="0" algn="r">
              <a:buFont typeface="Arial" panose="020B0604020202020204" pitchFamily="34" charset="0"/>
              <a:buNone/>
              <a:defRPr sz="1200">
                <a:solidFill>
                  <a:schemeClr val="tx1">
                    <a:tint val="75000"/>
                  </a:schemeClr>
                </a:solidFill>
                <a:latin typeface="다키 B" pitchFamily="2" charset="-127"/>
                <a:ea typeface="다키 B" pitchFamily="2" charset="-127"/>
              </a:defRPr>
            </a:lvl1pPr>
          </a:lstStyle>
          <a:p>
            <a:fld id="{3DF03A29-5BD0-4F71-8B6E-031B88813414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136606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0" r:id="rId1"/>
    <p:sldLayoutId id="2147483671" r:id="rId2"/>
    <p:sldLayoutId id="2147483672" r:id="rId3"/>
    <p:sldLayoutId id="2147483673" r:id="rId4"/>
    <p:sldLayoutId id="2147483674" r:id="rId5"/>
    <p:sldLayoutId id="2147483675" r:id="rId6"/>
    <p:sldLayoutId id="2147483676" r:id="rId7"/>
  </p:sldLayoutIdLst>
  <p:timing>
    <p:tnLst>
      <p:par>
        <p:cTn id="1" dur="indefinite" restart="never" nodeType="tmRoot"/>
      </p:par>
    </p:tnLst>
  </p:timing>
  <p:txStyles>
    <p:titleStyle>
      <a:lvl1pPr marL="0" indent="0" algn="ctr" defTabSz="914400" rtl="0" eaLnBrk="1" latinLnBrk="1" hangingPunct="1">
        <a:spcBef>
          <a:spcPct val="0"/>
        </a:spcBef>
        <a:buFont typeface="Arial" panose="020B0604020202020204" pitchFamily="34" charset="0"/>
        <a:buNone/>
        <a:defRPr sz="4400" b="0" kern="1200">
          <a:solidFill>
            <a:schemeClr val="tx1"/>
          </a:solidFill>
          <a:latin typeface="다키 L" pitchFamily="2" charset="-127"/>
          <a:ea typeface="다키 L" pitchFamily="2" charset="-127"/>
          <a:cs typeface="+mj-cs"/>
        </a:defRPr>
      </a:lvl1pPr>
    </p:titleStyle>
    <p:bodyStyle>
      <a:lvl1pPr marL="0" indent="0" algn="l" defTabSz="914400" rtl="0" eaLnBrk="1" latinLnBrk="1" hangingPunct="1">
        <a:spcBef>
          <a:spcPct val="20000"/>
        </a:spcBef>
        <a:buFont typeface="Arial" panose="020B0604020202020204" pitchFamily="34" charset="0"/>
        <a:buNone/>
        <a:defRPr sz="3200" kern="1200">
          <a:solidFill>
            <a:schemeClr val="tx1"/>
          </a:solidFill>
          <a:latin typeface="다키 L" pitchFamily="2" charset="-127"/>
          <a:ea typeface="다키 L" pitchFamily="2" charset="-127"/>
          <a:cs typeface="+mn-cs"/>
        </a:defRPr>
      </a:lvl1pPr>
      <a:lvl2pPr marL="457200" indent="0" algn="l" defTabSz="914400" rtl="0" eaLnBrk="1" latinLnBrk="1" hangingPunct="1">
        <a:spcBef>
          <a:spcPct val="20000"/>
        </a:spcBef>
        <a:buFont typeface="Arial" panose="020B0604020202020204" pitchFamily="34" charset="0"/>
        <a:buNone/>
        <a:defRPr sz="2800" kern="1200">
          <a:solidFill>
            <a:schemeClr val="tx1"/>
          </a:solidFill>
          <a:latin typeface="다키 L" pitchFamily="2" charset="-127"/>
          <a:ea typeface="다키 L" pitchFamily="2" charset="-127"/>
          <a:cs typeface="+mn-cs"/>
        </a:defRPr>
      </a:lvl2pPr>
      <a:lvl3pPr marL="914400" indent="0" algn="l" defTabSz="914400" rtl="0" eaLnBrk="1" latinLnBrk="1" hangingPunct="1">
        <a:spcBef>
          <a:spcPct val="20000"/>
        </a:spcBef>
        <a:buFont typeface="Arial" panose="020B0604020202020204" pitchFamily="34" charset="0"/>
        <a:buNone/>
        <a:defRPr sz="2400" kern="1200">
          <a:solidFill>
            <a:schemeClr val="tx1"/>
          </a:solidFill>
          <a:latin typeface="다키 L" pitchFamily="2" charset="-127"/>
          <a:ea typeface="다키 L" pitchFamily="2" charset="-127"/>
          <a:cs typeface="+mn-cs"/>
        </a:defRPr>
      </a:lvl3pPr>
      <a:lvl4pPr marL="1371600" indent="0" algn="l" defTabSz="914400" rtl="0" eaLnBrk="1" latinLnBrk="1" hangingPunct="1">
        <a:spcBef>
          <a:spcPct val="20000"/>
        </a:spcBef>
        <a:buFont typeface="Arial" panose="020B0604020202020204" pitchFamily="34" charset="0"/>
        <a:buNone/>
        <a:defRPr sz="2000" kern="1200">
          <a:solidFill>
            <a:schemeClr val="tx1"/>
          </a:solidFill>
          <a:latin typeface="다키 L" pitchFamily="2" charset="-127"/>
          <a:ea typeface="다키 L" pitchFamily="2" charset="-127"/>
          <a:cs typeface="+mn-cs"/>
        </a:defRPr>
      </a:lvl4pPr>
      <a:lvl5pPr marL="1828800" indent="0" algn="l" defTabSz="914400" rtl="0" eaLnBrk="1" latinLnBrk="1" hangingPunct="1">
        <a:spcBef>
          <a:spcPct val="20000"/>
        </a:spcBef>
        <a:buFont typeface="Arial" panose="020B0604020202020204" pitchFamily="34" charset="0"/>
        <a:buNone/>
        <a:defRPr sz="2000" kern="1200">
          <a:solidFill>
            <a:schemeClr val="tx1"/>
          </a:solidFill>
          <a:latin typeface="다키 L" pitchFamily="2" charset="-127"/>
          <a:ea typeface="다키 L" pitchFamily="2" charset="-127"/>
          <a:cs typeface="+mn-cs"/>
        </a:defRPr>
      </a:lvl5pPr>
      <a:lvl6pPr marL="25146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6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7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8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9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0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1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2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3.png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4.png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5.png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6.png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7.png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8.png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9.png"/></Relationships>
</file>

<file path=ppt/slides/_rels/slide1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 altLang="en-US" dirty="0" smtClean="0"/>
              <a:t>스키마 분석 · 트랜잭션 정합성 · SQL 튜닝 · 백업/복구 · 배치 처리</a:t>
            </a:r>
            <a:endParaRPr lang="ko-KR" altLang="en-US" dirty="0"/>
          </a:p>
        </p:txBody>
      </p:sp>
      <p:sp>
        <p:nvSpPr>
          <p:cNvPr id="5" name="부제목 4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altLang="ko-KR" dirty="0" smtClean="0"/>
              <a:t>DB</a:t>
            </a:r>
            <a:r>
              <a:rPr lang="ko-KR" altLang="en-US" dirty="0" err="1" smtClean="0"/>
              <a:t>운영팀</a:t>
            </a:r>
            <a:endParaRPr lang="ko-KR" altLang="en-US" dirty="0"/>
          </a:p>
        </p:txBody>
      </p:sp>
      <p:sp>
        <p:nvSpPr>
          <p:cNvPr id="6" name="텍스트 개체 틀 5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ko-KR" altLang="en-US" smtClean="0"/>
              <a:t>박서진</a:t>
            </a:r>
            <a:endParaRPr lang="ko-KR" altLang="en-US" dirty="0"/>
          </a:p>
        </p:txBody>
      </p:sp>
      <p:sp>
        <p:nvSpPr>
          <p:cNvPr id="7" name="텍스트 개체 틀 6"/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altLang="ko-KR" smtClean="0"/>
              <a:t>2026.07</a:t>
            </a:r>
            <a:endParaRPr lang="ko-KR" altLang="en-US" dirty="0"/>
          </a:p>
        </p:txBody>
      </p:sp>
      <p:sp>
        <p:nvSpPr>
          <p:cNvPr id="8" name="텍스트 개체 틀 7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 smtClean="0"/>
              <a:t>BO 스키마 기반
Oracle DB 운영 실습 보고서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84476439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smtClean="0"/>
              <a:t>Table</a:t>
            </a:r>
            <a:br>
              <a:rPr lang="en-US" altLang="ko-KR" dirty="0" smtClean="0"/>
            </a:br>
            <a:r>
              <a:rPr lang="en-US" altLang="ko-KR" dirty="0" smtClean="0"/>
              <a:t>of</a:t>
            </a:r>
            <a:br>
              <a:rPr lang="en-US" altLang="ko-KR" dirty="0" smtClean="0"/>
            </a:br>
            <a:r>
              <a:rPr lang="en-US" altLang="ko-KR" dirty="0" smtClean="0"/>
              <a:t>Contents</a:t>
            </a:r>
            <a:endParaRPr lang="ko-KR" altLang="en-US" dirty="0"/>
          </a:p>
        </p:txBody>
      </p:sp>
      <p:sp>
        <p:nvSpPr>
          <p:cNvPr id="14" name="텍스트 개체 틀 13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en-US" altLang="ko-KR" dirty="0"/>
              <a:t>01</a:t>
            </a:r>
          </a:p>
          <a:p>
            <a:pPr>
              <a:lnSpc>
                <a:spcPct val="150000"/>
              </a:lnSpc>
            </a:pPr>
            <a:r>
              <a:rPr lang="en-US" altLang="ko-KR" dirty="0"/>
              <a:t>02</a:t>
            </a:r>
          </a:p>
          <a:p>
            <a:pPr>
              <a:lnSpc>
                <a:spcPct val="150000"/>
              </a:lnSpc>
            </a:pPr>
            <a:r>
              <a:rPr lang="en-US" altLang="ko-KR" dirty="0"/>
              <a:t>03</a:t>
            </a:r>
          </a:p>
          <a:p>
            <a:pPr>
              <a:lnSpc>
                <a:spcPct val="150000"/>
              </a:lnSpc>
            </a:pPr>
            <a:r>
              <a:rPr lang="en-US" altLang="ko-KR" dirty="0"/>
              <a:t>04</a:t>
            </a:r>
            <a:endParaRPr lang="ko-KR" altLang="en-US" sz="4800" dirty="0"/>
          </a:p>
          <a:p>
            <a:pPr>
              <a:lnSpc>
                <a:spcPct val="150000"/>
              </a:lnSpc>
            </a:pPr>
            <a:r>
              <a:rPr lang="en-US" altLang="ko-KR" dirty="0"/>
              <a:t>05</a:t>
            </a:r>
            <a:endParaRPr lang="ko-KR" altLang="en-US" sz="4800" dirty="0"/>
          </a:p>
        </p:txBody>
      </p:sp>
      <p:sp>
        <p:nvSpPr>
          <p:cNvPr id="15" name="텍스트 개체 틀 14"/>
          <p:cNvSpPr>
            <a:spLocks noGrp="1"/>
          </p:cNvSpPr>
          <p:nvPr>
            <p:ph type="body" sz="quarter" idx="13"/>
          </p:nvPr>
        </p:nvSpPr>
        <p:spPr/>
        <p:txBody>
          <a:bodyPr>
            <a:normAutofit/>
          </a:bodyPr>
          <a:lstStyle/>
          <a:p>
            <a:pPr>
              <a:buNone/>
              <a:defRPr/>
            </a:pPr>
            <a:r>
              <a:rPr lang="en-US" altLang="ko-KR" sz="1400" dirty="0">
                <a:solidFill>
                  <a:srgbClr val="9DA6AB"/>
                </a:solidFill>
              </a:rPr>
              <a:t>1) 스키마·ERD 역공학  2) 트랜잭션 T1~T7 ACID 검증</a:t>
            </a:r>
            <a:r>
              <a:rPr lang="ko-KR" altLang="en-US" sz="1400" dirty="0">
                <a:solidFill>
                  <a:srgbClr val="9DA6AB"/>
                </a:solidFill>
              </a:rPr>
              <a:t/>
            </a:r>
            <a:r>
              <a:rPr lang="en-US" altLang="ko-KR" sz="1400" dirty="0">
                <a:solidFill>
                  <a:srgbClr val="9DA6AB"/>
                </a:solidFill>
              </a:rPr>
              <a:t/>
            </a:r>
            <a:r>
              <a:rPr lang="ko-KR" altLang="en-US" sz="1400" dirty="0">
                <a:solidFill>
                  <a:srgbClr val="9DA6AB"/>
                </a:solidFill>
              </a:rPr>
              <a:t/>
            </a:r>
          </a:p>
        </p:txBody>
      </p:sp>
      <p:sp>
        <p:nvSpPr>
          <p:cNvPr id="16" name="텍스트 개체 틀 15"/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ko-KR" altLang="en-US" dirty="0">
                <a:solidFill>
                  <a:srgbClr val="50646E"/>
                </a:solidFill>
              </a:rPr>
              <a:t>스키마 분석 및 트랜잭션 시뮬레이션</a:t>
            </a:r>
            <a:endParaRPr lang="ko-KR" altLang="en-US" sz="1800" dirty="0">
              <a:solidFill>
                <a:srgbClr val="50646E"/>
              </a:solidFill>
            </a:endParaRPr>
          </a:p>
        </p:txBody>
      </p:sp>
      <p:sp>
        <p:nvSpPr>
          <p:cNvPr id="17" name="텍스트 개체 틀 16"/>
          <p:cNvSpPr>
            <a:spLocks noGrp="1"/>
          </p:cNvSpPr>
          <p:nvPr>
            <p:ph type="body" sz="quarter" idx="15"/>
          </p:nvPr>
        </p:nvSpPr>
        <p:spPr/>
        <p:txBody>
          <a:bodyPr>
            <a:normAutofit/>
          </a:bodyPr>
          <a:lstStyle/>
          <a:p>
            <a:pPr>
              <a:buNone/>
              <a:defRPr/>
            </a:pPr>
            <a:r>
              <a:rPr lang="en-US" altLang="ko-KR" sz="1400" dirty="0">
                <a:solidFill>
                  <a:srgbClr val="9DA6AB"/>
                </a:solidFill>
              </a:rPr>
              <a:t>1) 실행계획 분석  2) FTS vs Index  3) 복합 인덱스 전략</a:t>
            </a:r>
            <a:r>
              <a:rPr lang="ko-KR" altLang="en-US" sz="1400" dirty="0">
                <a:solidFill>
                  <a:srgbClr val="9DA6AB"/>
                </a:solidFill>
              </a:rPr>
              <a:t/>
            </a:r>
            <a:r>
              <a:rPr lang="en-US" altLang="ko-KR" sz="1400" dirty="0">
                <a:solidFill>
                  <a:srgbClr val="9DA6AB"/>
                </a:solidFill>
              </a:rPr>
              <a:t/>
            </a:r>
            <a:r>
              <a:rPr lang="ko-KR" altLang="en-US" sz="1400" dirty="0">
                <a:solidFill>
                  <a:srgbClr val="9DA6AB"/>
                </a:solidFill>
              </a:rPr>
              <a:t/>
            </a:r>
          </a:p>
        </p:txBody>
      </p:sp>
      <p:sp>
        <p:nvSpPr>
          <p:cNvPr id="18" name="텍스트 개체 틀 17"/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ko-KR" altLang="en-US" dirty="0">
                <a:solidFill>
                  <a:srgbClr val="50646E"/>
                </a:solidFill>
              </a:rPr>
              <a:t>SQL 튜닝 및 인덱스 전략</a:t>
            </a:r>
            <a:endParaRPr lang="ko-KR" altLang="en-US" sz="1800" dirty="0">
              <a:solidFill>
                <a:srgbClr val="50646E"/>
              </a:solidFill>
            </a:endParaRPr>
          </a:p>
        </p:txBody>
      </p:sp>
      <p:sp>
        <p:nvSpPr>
          <p:cNvPr id="19" name="텍스트 개체 틀 18"/>
          <p:cNvSpPr>
            <a:spLocks noGrp="1"/>
          </p:cNvSpPr>
          <p:nvPr>
            <p:ph type="body" sz="quarter" idx="17"/>
          </p:nvPr>
        </p:nvSpPr>
        <p:spPr/>
        <p:txBody>
          <a:bodyPr>
            <a:normAutofit/>
          </a:bodyPr>
          <a:lstStyle/>
          <a:p>
            <a:pPr>
              <a:buNone/>
              <a:defRPr/>
            </a:pPr>
            <a:r>
              <a:rPr lang="en-US" altLang="ko-KR" sz="1400" dirty="0">
                <a:solidFill>
                  <a:srgbClr val="9DA6AB"/>
                </a:solidFill>
              </a:rPr>
              <a:t>1) 물리 장애 3단계 복구  2) 논리 장애 Flashback</a:t>
            </a:r>
            <a:r>
              <a:rPr lang="ko-KR" altLang="en-US" sz="1400" dirty="0">
                <a:solidFill>
                  <a:srgbClr val="9DA6AB"/>
                </a:solidFill>
              </a:rPr>
              <a:t/>
            </a:r>
            <a:r>
              <a:rPr lang="en-US" altLang="ko-KR" sz="1400" dirty="0">
                <a:solidFill>
                  <a:srgbClr val="9DA6AB"/>
                </a:solidFill>
              </a:rPr>
              <a:t/>
            </a:r>
            <a:r>
              <a:rPr lang="ko-KR" altLang="en-US" sz="1400" dirty="0">
                <a:solidFill>
                  <a:srgbClr val="9DA6AB"/>
                </a:solidFill>
              </a:rPr>
              <a:t/>
            </a:r>
          </a:p>
        </p:txBody>
      </p:sp>
      <p:sp>
        <p:nvSpPr>
          <p:cNvPr id="20" name="텍스트 개체 틀 19"/>
          <p:cNvSpPr>
            <a:spLocks noGrp="1"/>
          </p:cNvSpPr>
          <p:nvPr>
            <p:ph type="body" sz="quarter" idx="18"/>
          </p:nvPr>
        </p:nvSpPr>
        <p:spPr/>
        <p:txBody>
          <a:bodyPr/>
          <a:lstStyle/>
          <a:p>
            <a:r>
              <a:rPr lang="ko-KR" altLang="en-US" dirty="0">
                <a:solidFill>
                  <a:srgbClr val="50646E"/>
                </a:solidFill>
              </a:rPr>
              <a:t>백업 및 복구 전략 (Backup &amp; Recovery)</a:t>
            </a:r>
            <a:endParaRPr lang="ko-KR" altLang="en-US" sz="1800" dirty="0">
              <a:solidFill>
                <a:srgbClr val="50646E"/>
              </a:solidFill>
            </a:endParaRPr>
          </a:p>
        </p:txBody>
      </p:sp>
      <p:sp>
        <p:nvSpPr>
          <p:cNvPr id="21" name="텍스트 개체 틀 20"/>
          <p:cNvSpPr>
            <a:spLocks noGrp="1"/>
          </p:cNvSpPr>
          <p:nvPr>
            <p:ph type="body" sz="quarter" idx="19"/>
          </p:nvPr>
        </p:nvSpPr>
        <p:spPr/>
        <p:txBody>
          <a:bodyPr>
            <a:normAutofit/>
          </a:bodyPr>
          <a:lstStyle/>
          <a:p>
            <a:pPr>
              <a:buNone/>
              <a:defRPr/>
            </a:pPr>
            <a:r>
              <a:rPr lang="en-US" altLang="ko-KR" sz="1400" dirty="0">
                <a:solidFill>
                  <a:srgbClr val="9DA6AB"/>
                </a:solidFill>
              </a:rPr>
              <a:t>1) 10만 건 주문 생성  2) 정합성·커밋 설계</a:t>
            </a:r>
            <a:r>
              <a:rPr lang="ko-KR" altLang="en-US" sz="1400" dirty="0">
                <a:solidFill>
                  <a:srgbClr val="9DA6AB"/>
                </a:solidFill>
              </a:rPr>
              <a:t/>
            </a:r>
            <a:r>
              <a:rPr lang="en-US" altLang="ko-KR" sz="1400" dirty="0">
                <a:solidFill>
                  <a:srgbClr val="9DA6AB"/>
                </a:solidFill>
              </a:rPr>
              <a:t/>
            </a:r>
            <a:r>
              <a:rPr lang="ko-KR" altLang="en-US" sz="1400" dirty="0">
                <a:solidFill>
                  <a:srgbClr val="9DA6AB"/>
                </a:solidFill>
              </a:rPr>
              <a:t/>
            </a:r>
            <a:r>
              <a:rPr lang="ko-KR" altLang="en-US" sz="1400" dirty="0" smtClean="0">
                <a:solidFill>
                  <a:srgbClr val="9DA6AB"/>
                </a:solidFill>
              </a:rPr>
              <a:t/>
            </a:r>
            <a:endParaRPr lang="ko-KR" altLang="en-US" sz="1400" dirty="0">
              <a:solidFill>
                <a:srgbClr val="9DA6AB"/>
              </a:solidFill>
            </a:endParaRPr>
          </a:p>
        </p:txBody>
      </p:sp>
      <p:sp>
        <p:nvSpPr>
          <p:cNvPr id="921" name="텍스트 개체 틀 20"/>
          <p:cNvSpPr>
            <a:spLocks noGrp="1"/>
          </p:cNvSpPr>
          <p:nvPr>
            <p:ph type="body" sz="quarter" idx="19"/>
          </p:nvPr>
        </p:nvSpPr>
        <p:spPr>
          <a:xfrm>
            <a:off x="5994773" y="6486855"/>
            <a:ext cx="4392487" cy="557164"/>
          </a:xfrm>
        </p:spPr>
        <p:txBody>
          <a:bodyPr>
            <a:normAutofit/>
          </a:bodyPr>
          <a:lstStyle/>
          <a:p>
            <a:pPr>
              <a:buNone/>
              <a:defRPr/>
            </a:pPr>
            <a:r>
              <a:rPr lang="en-US" altLang="ko-KR" sz="1400" dirty="0">
                <a:solidFill>
                  <a:srgbClr val="9DA6AB"/>
                </a:solidFill>
              </a:rPr>
              <a:t>1) 병목 3종 진단  2) BULK COLLECT 개선·실측</a:t>
            </a:r>
            <a:r>
              <a:rPr lang="ko-KR" altLang="en-US" sz="1400" dirty="0">
                <a:solidFill>
                  <a:srgbClr val="9DA6AB"/>
                </a:solidFill>
              </a:rPr>
              <a:t/>
            </a:r>
            <a:r>
              <a:rPr lang="en-US" altLang="ko-KR" sz="1400" dirty="0">
                <a:solidFill>
                  <a:srgbClr val="9DA6AB"/>
                </a:solidFill>
              </a:rPr>
              <a:t/>
            </a:r>
            <a:r>
              <a:rPr lang="ko-KR" altLang="en-US" sz="1400" dirty="0">
                <a:solidFill>
                  <a:srgbClr val="9DA6AB"/>
                </a:solidFill>
              </a:rPr>
              <a:t/>
            </a:r>
            <a:r>
              <a:rPr lang="ko-KR" altLang="en-US" sz="1400" dirty="0" smtClean="0">
                <a:solidFill>
                  <a:srgbClr val="9DA6AB"/>
                </a:solidFill>
              </a:rPr>
              <a:t/>
            </a:r>
            <a:endParaRPr lang="ko-KR" altLang="en-US" sz="1400" dirty="0">
              <a:solidFill>
                <a:srgbClr val="9DA6AB"/>
              </a:solidFill>
            </a:endParaRPr>
          </a:p>
        </p:txBody>
      </p:sp>
      <p:sp>
        <p:nvSpPr>
          <p:cNvPr id="22" name="텍스트 개체 틀 21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r>
              <a:rPr lang="ko-KR" altLang="en-US" dirty="0">
                <a:solidFill>
                  <a:srgbClr val="50646E"/>
                </a:solidFill>
              </a:rPr>
              <a:t>PL/SQL 대량 데이터 배치 처리 (구현)</a:t>
            </a:r>
            <a:endParaRPr lang="ko-KR" altLang="en-US" sz="1800" dirty="0">
              <a:solidFill>
                <a:srgbClr val="50646E"/>
              </a:solidFill>
            </a:endParaRPr>
          </a:p>
        </p:txBody>
      </p:sp>
      <p:sp>
        <p:nvSpPr>
          <p:cNvPr id="922" name="텍스트 개체 틀 21"/>
          <p:cNvSpPr>
            <a:spLocks noGrp="1"/>
          </p:cNvSpPr>
          <p:nvPr>
            <p:ph type="body" sz="quarter" idx="20"/>
          </p:nvPr>
        </p:nvSpPr>
        <p:spPr>
          <a:xfrm>
            <a:off x="5994773" y="6088881"/>
            <a:ext cx="4392487" cy="397974"/>
          </a:xfrm>
        </p:spPr>
        <p:txBody>
          <a:bodyPr/>
          <a:lstStyle/>
          <a:p>
            <a:r>
              <a:rPr lang="ko-KR" altLang="en-US" dirty="0">
                <a:solidFill>
                  <a:srgbClr val="50646E"/>
                </a:solidFill>
              </a:rPr>
              <a:t>배치 성능 측정 및 병목 분석/개선</a:t>
            </a:r>
            <a:endParaRPr lang="ko-KR" altLang="en-US" sz="1800" dirty="0">
              <a:solidFill>
                <a:srgbClr val="50646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9376776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간지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ko-KR" altLang="en-US" dirty="0"/>
              <a:t>타이틀 입력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10"/>
          </p:nvPr>
        </p:nvSpPr>
        <p:spPr/>
        <p:txBody>
          <a:bodyPr anchor="ctr"/>
          <a:lstStyle/>
          <a:p>
            <a:pPr>
              <a:lnSpc>
                <a:spcPct val="150000"/>
              </a:lnSpc>
            </a:pPr>
            <a:r>
              <a:rPr lang="en-US" altLang="ko-KR" dirty="0">
                <a:latin typeface="다키 L" pitchFamily="2" charset="-127"/>
                <a:ea typeface="다키 L" pitchFamily="2" charset="-127"/>
              </a:rPr>
              <a:t>1) </a:t>
            </a:r>
            <a:r>
              <a:rPr lang="ko-KR" altLang="en-US" dirty="0">
                <a:latin typeface="다키 L" pitchFamily="2" charset="-127"/>
                <a:ea typeface="다키 L" pitchFamily="2" charset="-127"/>
              </a:rPr>
              <a:t>소제목을 입력해주세요</a:t>
            </a:r>
            <a:r>
              <a:rPr lang="en-US" altLang="ko-KR" dirty="0">
                <a:latin typeface="다키 L" pitchFamily="2" charset="-127"/>
                <a:ea typeface="다키 L" pitchFamily="2" charset="-127"/>
              </a:rPr>
              <a:t>. </a:t>
            </a:r>
          </a:p>
          <a:p>
            <a:pPr>
              <a:lnSpc>
                <a:spcPct val="150000"/>
              </a:lnSpc>
            </a:pPr>
            <a:r>
              <a:rPr lang="en-US" altLang="ko-KR" dirty="0">
                <a:latin typeface="다키 L" pitchFamily="2" charset="-127"/>
                <a:ea typeface="다키 L" pitchFamily="2" charset="-127"/>
              </a:rPr>
              <a:t>2) </a:t>
            </a:r>
            <a:r>
              <a:rPr lang="ko-KR" altLang="en-US" dirty="0">
                <a:latin typeface="다키 L" pitchFamily="2" charset="-127"/>
                <a:ea typeface="다키 L" pitchFamily="2" charset="-127"/>
              </a:rPr>
              <a:t>소제목을 입력해주세요</a:t>
            </a:r>
            <a:r>
              <a:rPr lang="en-US" altLang="ko-KR" dirty="0">
                <a:latin typeface="다키 L" pitchFamily="2" charset="-127"/>
                <a:ea typeface="다키 L" pitchFamily="2" charset="-127"/>
              </a:rPr>
              <a:t>. </a:t>
            </a:r>
          </a:p>
          <a:p>
            <a:pPr>
              <a:lnSpc>
                <a:spcPct val="150000"/>
              </a:lnSpc>
            </a:pPr>
            <a:r>
              <a:rPr lang="en-US" altLang="ko-KR" dirty="0">
                <a:latin typeface="다키 L" pitchFamily="2" charset="-127"/>
                <a:ea typeface="다키 L" pitchFamily="2" charset="-127"/>
              </a:rPr>
              <a:t>3) </a:t>
            </a:r>
            <a:r>
              <a:rPr lang="ko-KR" altLang="en-US" dirty="0">
                <a:latin typeface="다키 L" pitchFamily="2" charset="-127"/>
                <a:ea typeface="다키 L" pitchFamily="2" charset="-127"/>
              </a:rPr>
              <a:t>소제목을 입력해주세요</a:t>
            </a:r>
            <a:r>
              <a:rPr lang="en-US" altLang="ko-KR" dirty="0">
                <a:latin typeface="다키 L" pitchFamily="2" charset="-127"/>
                <a:ea typeface="다키 L" pitchFamily="2" charset="-127"/>
              </a:rPr>
              <a:t>. </a:t>
            </a:r>
          </a:p>
        </p:txBody>
      </p:sp>
      <p:sp>
        <p:nvSpPr>
          <p:cNvPr id="6" name="텍스트 개체 틀 5"/>
          <p:cNvSpPr>
            <a:spLocks noGrp="1"/>
          </p:cNvSpPr>
          <p:nvPr>
            <p:ph type="body" sz="quarter" idx="11"/>
          </p:nvPr>
        </p:nvSpPr>
        <p:spPr/>
        <p:txBody>
          <a:bodyPr>
            <a:noAutofit/>
          </a:bodyPr>
          <a:lstStyle/>
          <a:p>
            <a:r>
              <a:rPr lang="en-US" altLang="ko-KR" sz="6000" dirty="0" smtClean="0">
                <a:solidFill>
                  <a:srgbClr val="2484C6"/>
                </a:solidFill>
                <a:latin typeface="다키 M Title" pitchFamily="2" charset="-127"/>
                <a:ea typeface="다키 M Title" pitchFamily="2" charset="-127"/>
              </a:rPr>
              <a:t>01</a:t>
            </a:r>
            <a:endParaRPr lang="ko-KR" altLang="en-US" sz="6000" dirty="0">
              <a:solidFill>
                <a:srgbClr val="2484C6"/>
              </a:solidFill>
              <a:latin typeface="다키 M Title" pitchFamily="2" charset="-127"/>
              <a:ea typeface="다키 M Title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59565924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/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pPr algn="r"/>
            <a:r>
              <a:rPr lang="en-US" altLang="ko-KR" sz="1600" dirty="0" smtClean="0"/>
              <a:t>Large Title </a:t>
            </a:r>
            <a:r>
              <a:rPr lang="ko-KR" altLang="en-US" sz="1600" dirty="0" smtClean="0"/>
              <a:t>입력</a:t>
            </a:r>
            <a:endParaRPr lang="ko-KR" altLang="en-US" sz="1600" dirty="0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ko-KR" altLang="en-US" dirty="0" smtClean="0"/>
              <a:t>타이틀을 입력해주세요</a:t>
            </a:r>
            <a:r>
              <a:rPr lang="en-US" altLang="ko-KR" dirty="0" smtClean="0"/>
              <a:t>.</a:t>
            </a:r>
            <a:endParaRPr lang="ko-KR" altLang="en-US" dirty="0"/>
          </a:p>
        </p:txBody>
      </p:sp>
      <p:sp>
        <p:nvSpPr>
          <p:cNvPr id="10" name="텍스트 개체 틀 4"/>
          <p:cNvSpPr>
            <a:spLocks noGrp="1"/>
          </p:cNvSpPr>
          <p:nvPr>
            <p:ph type="body" sz="quarter" idx="12"/>
          </p:nvPr>
        </p:nvSpPr>
        <p:spPr>
          <a:xfrm>
            <a:off x="234132" y="828303"/>
            <a:ext cx="7956884" cy="835266"/>
          </a:xfrm>
        </p:spPr>
        <p:txBody>
          <a:bodyPr vert="horz" lIns="91440" tIns="45720" rIns="91440" bIns="45720" rtlCol="0">
            <a:normAutofit/>
          </a:bodyPr>
          <a:lstStyle/>
          <a:p>
            <a:pPr defTabSz="914400">
              <a:spcBef>
                <a:spcPct val="20000"/>
              </a:spcBef>
            </a:pPr>
            <a:r>
              <a:rPr lang="en-US" altLang="ko-KR" sz="1600" dirty="0">
                <a:solidFill>
                  <a:srgbClr val="50646E"/>
                </a:solidFill>
              </a:rPr>
              <a:t>Summary</a:t>
            </a:r>
            <a:r>
              <a:rPr lang="ko-KR" altLang="en-US" sz="1600" dirty="0">
                <a:solidFill>
                  <a:srgbClr val="50646E"/>
                </a:solidFill>
              </a:rPr>
              <a:t>를 입력해주세요</a:t>
            </a:r>
            <a:r>
              <a:rPr lang="en-US" altLang="ko-KR" sz="1600" dirty="0">
                <a:solidFill>
                  <a:srgbClr val="50646E"/>
                </a:solidFill>
              </a:rPr>
              <a:t>.</a:t>
            </a:r>
          </a:p>
          <a:p>
            <a:pPr defTabSz="914400">
              <a:spcBef>
                <a:spcPct val="20000"/>
              </a:spcBef>
            </a:pPr>
            <a:r>
              <a:rPr lang="ko-KR" altLang="en-US" sz="1600" dirty="0">
                <a:solidFill>
                  <a:srgbClr val="50646E"/>
                </a:solidFill>
              </a:rPr>
              <a:t>최대 </a:t>
            </a:r>
            <a:r>
              <a:rPr lang="en-US" altLang="ko-KR" sz="1600" dirty="0">
                <a:solidFill>
                  <a:srgbClr val="50646E"/>
                </a:solidFill>
              </a:rPr>
              <a:t>2</a:t>
            </a:r>
            <a:r>
              <a:rPr lang="ko-KR" altLang="en-US" sz="1600" dirty="0">
                <a:solidFill>
                  <a:srgbClr val="50646E"/>
                </a:solidFill>
              </a:rPr>
              <a:t>줄까지 작성 가능합니다</a:t>
            </a:r>
            <a:r>
              <a:rPr lang="en-US" altLang="ko-KR" sz="1600" dirty="0">
                <a:solidFill>
                  <a:srgbClr val="50646E"/>
                </a:solidFill>
              </a:rPr>
              <a:t>.</a:t>
            </a:r>
            <a:endParaRPr lang="ko-KR" altLang="en-US" sz="1600" dirty="0">
              <a:solidFill>
                <a:srgbClr val="50646E"/>
              </a:solidFill>
            </a:endParaRPr>
          </a:p>
        </p:txBody>
      </p:sp>
      <p:sp>
        <p:nvSpPr>
          <p:cNvPr id="11" name="내용 개체 틀 10"/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76981757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smtClean="0"/>
              <a:t>Thank you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152311306"/>
      </p:ext>
    </p:extLst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제목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스키마 분석 및 트랜잭션 시뮬레이션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ko-KR" altLang="en-US" dirty="0"/>
              <a:t/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10"/>
          </p:nvPr>
        </p:nvSpPr>
        <p:spPr/>
        <p:txBody>
          <a:bodyPr anchor="ctr"/>
          <a:lstStyle/>
          <a:p>
            <a:pPr>
              <a:lnSpc>
                <a:spcPct val="150000"/>
              </a:lnSpc>
            </a:pPr>
            <a:r>
              <a:rPr lang="en-US" altLang="ko-KR" dirty="0">
                <a:latin typeface="다키 L" pitchFamily="2" charset="-127"/>
                <a:ea typeface="다키 L" pitchFamily="2" charset="-127"/>
              </a:rPr>
              <a:t>1) BO 스키마·ERD 역공학   2) 트랜잭션 T1~T7 ACID 검증   3) 데이터 이상치 탐지</a:t>
            </a:r>
            <a:r>
              <a:rPr lang="ko-KR" altLang="en-US" dirty="0">
                <a:latin typeface="다키 L" pitchFamily="2" charset="-127"/>
                <a:ea typeface="다키 L" pitchFamily="2" charset="-127"/>
              </a:rPr>
              <a:t/>
            </a:r>
            <a:r>
              <a:rPr lang="en-US" altLang="ko-KR" dirty="0">
                <a:latin typeface="다키 L" pitchFamily="2" charset="-127"/>
                <a:ea typeface="다키 L" pitchFamily="2" charset="-127"/>
              </a:rPr>
              <a:t/>
            </a:r>
          </a:p>
        </p:txBody>
      </p:sp>
      <p:sp>
        <p:nvSpPr>
          <p:cNvPr id="6" name="텍스트 개체 틀 5"/>
          <p:cNvSpPr>
            <a:spLocks noGrp="1"/>
          </p:cNvSpPr>
          <p:nvPr>
            <p:ph type="body" sz="quarter" idx="11"/>
          </p:nvPr>
        </p:nvSpPr>
        <p:spPr/>
        <p:txBody>
          <a:bodyPr>
            <a:noAutofit/>
          </a:bodyPr>
          <a:lstStyle/>
          <a:p>
            <a:r>
              <a:rPr lang="en-US" altLang="ko-KR" sz="6000" dirty="0" smtClean="0">
                <a:solidFill>
                  <a:srgbClr val="2484C6"/>
                </a:solidFill>
                <a:latin typeface="다키 M Title" pitchFamily="2" charset="-127"/>
                <a:ea typeface="다키 M Title" pitchFamily="2" charset="-127"/>
              </a:rPr>
              <a:t>01</a:t>
            </a:r>
            <a:endParaRPr lang="ko-KR" altLang="en-US" sz="6000" dirty="0">
              <a:solidFill>
                <a:srgbClr val="2484C6"/>
              </a:solidFill>
              <a:latin typeface="다키 M Title" pitchFamily="2" charset="-127"/>
              <a:ea typeface="다키 M Title" pitchFamily="2" charset="-127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텍스트 개체 틀 3"/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pPr algn="r"/>
            <a:r>
              <a:rPr lang="en-US" altLang="ko-KR" sz="1600" dirty="0" smtClean="0"/>
              <a:t>Overview</a:t>
            </a:r>
            <a:r>
              <a:rPr lang="ko-KR" altLang="en-US" sz="1600" dirty="0" smtClean="0"/>
              <a:t/>
            </a:r>
            <a:endParaRPr lang="ko-KR" altLang="en-US" sz="1600" dirty="0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ko-KR" altLang="en-US" dirty="0" smtClean="0"/>
              <a:t>과제 개요</a:t>
            </a:r>
            <a:r>
              <a:rPr lang="en-US" altLang="ko-KR" dirty="0" smtClean="0"/>
              <a:t/>
            </a:r>
            <a:endParaRPr lang="ko-KR" altLang="en-US" dirty="0"/>
          </a:p>
        </p:txBody>
      </p:sp>
      <p:sp>
        <p:nvSpPr>
          <p:cNvPr id="10" name="텍스트 개체 틀 4"/>
          <p:cNvSpPr>
            <a:spLocks noGrp="1"/>
          </p:cNvSpPr>
          <p:nvPr>
            <p:ph type="body" sz="quarter" idx="12"/>
          </p:nvPr>
        </p:nvSpPr>
        <p:spPr>
          <a:xfrm>
            <a:off x="234132" y="828303"/>
            <a:ext cx="7956884" cy="835266"/>
          </a:xfrm>
        </p:spPr>
        <p:txBody>
          <a:bodyPr vert="horz" lIns="91440" tIns="45720" rIns="91440" bIns="45720" rtlCol="0">
            <a:normAutofit/>
          </a:bodyPr>
          <a:lstStyle/>
          <a:p>
            <a:pPr defTabSz="914400">
              <a:spcBef>
                <a:spcPct val="20000"/>
              </a:spcBef>
            </a:pPr>
            <a:r>
              <a:rPr lang="en-US" altLang="ko-KR" sz="1600" dirty="0">
                <a:solidFill>
                  <a:srgbClr val="50646E"/>
                </a:solidFill>
              </a:rPr>
              <a:t>제공된 인터넷 서점 데이터의 ERD를 역공학으로 추출하고 트랜잭션 정합성을 검증</a:t>
            </a:r>
            <a:r>
              <a:rPr lang="ko-KR" altLang="en-US" sz="1600" dirty="0">
                <a:solidFill>
                  <a:srgbClr val="50646E"/>
                </a:solidFill>
              </a:rPr>
              <a:t/>
            </a:r>
            <a:r>
              <a:rPr lang="en-US" altLang="ko-KR" sz="1600" dirty="0">
                <a:solidFill>
                  <a:srgbClr val="50646E"/>
                </a:solidFill>
              </a:rPr>
              <a:t/>
            </a:r>
          </a:p>
        </p:txBody>
      </p:sp>
      <p:sp>
        <p:nvSpPr>
          <p:cNvPr id="11" name="내용 개체 틀 10"/>
          <p:cNvSpPr>
            <a:spLocks noGrp="1"/>
          </p:cNvSpPr>
          <p:nvPr>
            <p:ph idx="13"/>
          </p:nvPr>
        </p:nvSpPr>
        <p:spPr/>
        <p:txBody>
          <a:bodyPr wrap="square"/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730"/>
                </a:solidFill>
              </a:rPr>
              <a:t>• 정방향 설계서가 아닌 딕셔너리(메타데이터) 조회로 ERD를 역으로 복원</a:t>
            </a:r>
            <a:endParaRPr lang="ko-KR" altLang="en-US" dirty="0"/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730"/>
                </a:solidFill>
              </a:rPr>
              <a:t>• DBMS_METADATA.GET_DDL · USER_CONSTRAINTS · USER_IND_COLUMNS 활용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730"/>
                </a:solidFill>
              </a:rPr>
              <a:t>• PK/FK/인덱스 구조를 실측 기준으로 검증하고 도메인 문서와 교차 대조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730"/>
                </a:solidFill>
              </a:rPr>
              <a:t>• 이후 트랜잭션 T1~T7로 다중 테이블 갱신의 ACID 정합성 확인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텍스트 개체 틀 3"/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pPr algn="r"/>
            <a:r>
              <a:rPr lang="en-US" altLang="ko-KR" sz="1600" dirty="0" smtClean="0"/>
              <a:t>Schema</a:t>
            </a:r>
            <a:r>
              <a:rPr lang="ko-KR" altLang="en-US" sz="1600" dirty="0" smtClean="0"/>
              <a:t/>
            </a:r>
            <a:endParaRPr lang="ko-KR" altLang="en-US" sz="1600" dirty="0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ko-KR" altLang="en-US" dirty="0" smtClean="0"/>
              <a:t>BO 스키마 구성 — 6개 업무 영역</a:t>
            </a:r>
            <a:r>
              <a:rPr lang="en-US" altLang="ko-KR" dirty="0" smtClean="0"/>
              <a:t/>
            </a:r>
            <a:endParaRPr lang="ko-KR" altLang="en-US" dirty="0"/>
          </a:p>
        </p:txBody>
      </p:sp>
      <p:sp>
        <p:nvSpPr>
          <p:cNvPr id="10" name="텍스트 개체 틀 4"/>
          <p:cNvSpPr>
            <a:spLocks noGrp="1"/>
          </p:cNvSpPr>
          <p:nvPr>
            <p:ph type="body" sz="quarter" idx="12"/>
          </p:nvPr>
        </p:nvSpPr>
        <p:spPr>
          <a:xfrm>
            <a:off x="234132" y="828303"/>
            <a:ext cx="7956884" cy="835266"/>
          </a:xfrm>
        </p:spPr>
        <p:txBody>
          <a:bodyPr vert="horz" lIns="91440" tIns="45720" rIns="91440" bIns="45720" rtlCol="0">
            <a:normAutofit/>
          </a:bodyPr>
          <a:lstStyle/>
          <a:p>
            <a:pPr defTabSz="914400">
              <a:spcBef>
                <a:spcPct val="20000"/>
              </a:spcBef>
            </a:pPr>
            <a:r>
              <a:rPr lang="en-US" altLang="ko-KR" sz="1600" dirty="0">
                <a:solidFill>
                  <a:srgbClr val="50646E"/>
                </a:solidFill>
              </a:rPr>
              <a:t>업무 테이블 12개 + 비업무 4개(스크래치)</a:t>
            </a:r>
            <a:r>
              <a:rPr lang="ko-KR" altLang="en-US" sz="1600" dirty="0">
                <a:solidFill>
                  <a:srgbClr val="50646E"/>
                </a:solidFill>
              </a:rPr>
              <a:t/>
            </a:r>
            <a:r>
              <a:rPr lang="en-US" altLang="ko-KR" sz="1600" dirty="0">
                <a:solidFill>
                  <a:srgbClr val="50646E"/>
                </a:solidFill>
              </a:rPr>
              <a:t/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17624" y="1764296"/>
          <a:ext cx="10058400" cy="26883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52800"/>
                <a:gridCol w="3352800"/>
                <a:gridCol w="3352800"/>
              </a:tblGrid>
              <a:tr h="384048">
                <a:tc>
                  <a:txBody>
                    <a:bodyPr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영역</a:t>
                      </a:r>
                    </a:p>
                  </a:txBody>
                  <a:tcPr anchor="ctr" marT="25400" marB="25400"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포함 테이블</a:t>
                      </a:r>
                    </a:p>
                  </a:txBody>
                  <a:tcPr anchor="ctr" marT="25400" marB="25400"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역할</a:t>
                      </a:r>
                    </a:p>
                  </a:txBody>
                  <a:tcPr anchor="ctr" marT="25400" marB="25400">
                    <a:solidFill>
                      <a:srgbClr val="1B2A4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222730"/>
                          </a:solidFill>
                        </a:rPr>
                        <a:t>고객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>
                          <a:solidFill>
                            <a:srgbClr val="222730"/>
                          </a:solidFill>
                        </a:rPr>
                        <a:t>CUSTOMERS, CUST_CONTACTS, SHIPMENT_ADDRESSES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>
                          <a:solidFill>
                            <a:srgbClr val="222730"/>
                          </a:solidFill>
                        </a:rPr>
                        <a:t>고객·연락처·배송지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222730"/>
                          </a:solidFill>
                        </a:rPr>
                        <a:t>주문</a:t>
                      </a:r>
                    </a:p>
                  </a:txBody>
                  <a:tcPr anchor="ctr" marT="12700" marB="12700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>
                          <a:solidFill>
                            <a:srgbClr val="222730"/>
                          </a:solidFill>
                        </a:rPr>
                        <a:t>ORDERS, ORDER_ITEMS</a:t>
                      </a:r>
                    </a:p>
                  </a:txBody>
                  <a:tcPr anchor="ctr" marT="12700" marB="12700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>
                          <a:solidFill>
                            <a:srgbClr val="222730"/>
                          </a:solidFill>
                        </a:rPr>
                        <a:t>주문 및 주문 상품</a:t>
                      </a:r>
                    </a:p>
                  </a:txBody>
                  <a:tcPr anchor="ctr" marT="12700" marB="12700">
                    <a:solidFill>
                      <a:srgbClr val="F2F4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222730"/>
                          </a:solidFill>
                        </a:rPr>
                        <a:t>상품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>
                          <a:solidFill>
                            <a:srgbClr val="222730"/>
                          </a:solidFill>
                        </a:rPr>
                        <a:t>PRODUCTS, CATEGORIES, CORPORATIONS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>
                          <a:solidFill>
                            <a:srgbClr val="222730"/>
                          </a:solidFill>
                        </a:rPr>
                        <a:t>상품·분류·협력업체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222730"/>
                          </a:solidFill>
                        </a:rPr>
                        <a:t>배송</a:t>
                      </a:r>
                    </a:p>
                  </a:txBody>
                  <a:tcPr anchor="ctr" marT="12700" marB="12700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>
                          <a:solidFill>
                            <a:srgbClr val="222730"/>
                          </a:solidFill>
                        </a:rPr>
                        <a:t>SHIPMENTS</a:t>
                      </a:r>
                    </a:p>
                  </a:txBody>
                  <a:tcPr anchor="ctr" marT="12700" marB="12700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>
                          <a:solidFill>
                            <a:srgbClr val="222730"/>
                          </a:solidFill>
                        </a:rPr>
                        <a:t>주문별 배송</a:t>
                      </a:r>
                    </a:p>
                  </a:txBody>
                  <a:tcPr anchor="ctr" marT="12700" marB="12700">
                    <a:solidFill>
                      <a:srgbClr val="F2F4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222730"/>
                          </a:solidFill>
                        </a:rPr>
                        <a:t>문의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>
                          <a:solidFill>
                            <a:srgbClr val="222730"/>
                          </a:solidFill>
                        </a:rPr>
                        <a:t>INQUIRIES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>
                          <a:solidFill>
                            <a:srgbClr val="222730"/>
                          </a:solidFill>
                        </a:rPr>
                        <a:t>고객 상담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222730"/>
                          </a:solidFill>
                        </a:rPr>
                        <a:t>조직</a:t>
                      </a:r>
                    </a:p>
                  </a:txBody>
                  <a:tcPr anchor="ctr" marT="12700" marB="12700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>
                          <a:solidFill>
                            <a:srgbClr val="222730"/>
                          </a:solidFill>
                        </a:rPr>
                        <a:t>EMPLOYEES, DEPARTMENTS</a:t>
                      </a:r>
                    </a:p>
                  </a:txBody>
                  <a:tcPr anchor="ctr" marT="12700" marB="12700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>
                          <a:solidFill>
                            <a:srgbClr val="222730"/>
                          </a:solidFill>
                        </a:rPr>
                        <a:t>사원·부서 계층</a:t>
                      </a:r>
                    </a:p>
                  </a:txBody>
                  <a:tcPr anchor="ctr" marT="12700" marB="12700"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텍스트 개체 틀 3"/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pPr algn="r"/>
            <a:r>
              <a:rPr lang="en-US" altLang="ko-KR" sz="1600" dirty="0" smtClean="0"/>
              <a:t>ERD</a:t>
            </a:r>
            <a:r>
              <a:rPr lang="ko-KR" altLang="en-US" sz="1600" dirty="0" smtClean="0"/>
              <a:t/>
            </a:r>
            <a:endParaRPr lang="ko-KR" altLang="en-US" sz="1600" dirty="0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ko-KR" altLang="en-US" dirty="0" smtClean="0"/>
              <a:t>전체 ERD</a:t>
            </a:r>
            <a:r>
              <a:rPr lang="en-US" altLang="ko-KR" dirty="0" smtClean="0"/>
              <a:t/>
            </a:r>
            <a:endParaRPr lang="ko-KR" altLang="en-US" dirty="0"/>
          </a:p>
        </p:txBody>
      </p:sp>
      <p:sp>
        <p:nvSpPr>
          <p:cNvPr id="10" name="텍스트 개체 틀 4"/>
          <p:cNvSpPr>
            <a:spLocks noGrp="1"/>
          </p:cNvSpPr>
          <p:nvPr>
            <p:ph type="body" sz="quarter" idx="12"/>
          </p:nvPr>
        </p:nvSpPr>
        <p:spPr>
          <a:xfrm>
            <a:off x="234132" y="828303"/>
            <a:ext cx="7956884" cy="835266"/>
          </a:xfrm>
        </p:spPr>
        <p:txBody>
          <a:bodyPr vert="horz" lIns="91440" tIns="45720" rIns="91440" bIns="45720" rtlCol="0">
            <a:normAutofit/>
          </a:bodyPr>
          <a:lstStyle/>
          <a:p>
            <a:pPr defTabSz="914400">
              <a:spcBef>
                <a:spcPct val="20000"/>
              </a:spcBef>
            </a:pPr>
            <a:r>
              <a:rPr lang="en-US" altLang="ko-KR" sz="1600" dirty="0">
                <a:solidFill>
                  <a:srgbClr val="50646E"/>
                </a:solidFill>
              </a:rPr>
              <a:t>16개 테이블 · FK 18개 · 6개 도메인의 참조 관계</a:t>
            </a:r>
            <a:r>
              <a:rPr lang="ko-KR" altLang="en-US" sz="1600" dirty="0">
                <a:solidFill>
                  <a:srgbClr val="50646E"/>
                </a:solidFill>
              </a:rPr>
              <a:t/>
            </a:r>
            <a:r>
              <a:rPr lang="en-US" altLang="ko-KR" sz="1600" dirty="0">
                <a:solidFill>
                  <a:srgbClr val="50646E"/>
                </a:solidFill>
              </a:rPr>
              <a:t/>
            </a:r>
          </a:p>
        </p:txBody>
      </p:sp>
      <p:pic>
        <p:nvPicPr>
          <p:cNvPr id="11" name="Picture 10" descr="erd_fu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2324" y="1764296"/>
            <a:ext cx="9128999" cy="5200129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텍스트 개체 틀 3"/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pPr algn="r"/>
            <a:r>
              <a:rPr lang="en-US" altLang="ko-KR" sz="1600" dirty="0" smtClean="0"/>
              <a:t>Customer</a:t>
            </a:r>
            <a:r>
              <a:rPr lang="ko-KR" altLang="en-US" sz="1600" dirty="0" smtClean="0"/>
              <a:t/>
            </a:r>
            <a:endParaRPr lang="ko-KR" altLang="en-US" sz="1600" dirty="0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ko-KR" altLang="en-US" dirty="0" smtClean="0"/>
              <a:t>고객영역 — CUSTOMERS</a:t>
            </a:r>
            <a:r>
              <a:rPr lang="en-US" altLang="ko-KR" dirty="0" smtClean="0"/>
              <a:t/>
            </a:r>
            <a:endParaRPr lang="ko-KR" altLang="en-US" dirty="0"/>
          </a:p>
        </p:txBody>
      </p:sp>
      <p:sp>
        <p:nvSpPr>
          <p:cNvPr id="10" name="텍스트 개체 틀 4"/>
          <p:cNvSpPr>
            <a:spLocks noGrp="1"/>
          </p:cNvSpPr>
          <p:nvPr>
            <p:ph type="body" sz="quarter" idx="12"/>
          </p:nvPr>
        </p:nvSpPr>
        <p:spPr>
          <a:xfrm>
            <a:off x="234132" y="828303"/>
            <a:ext cx="7956884" cy="835266"/>
          </a:xfrm>
        </p:spPr>
        <p:txBody>
          <a:bodyPr vert="horz" lIns="91440" tIns="45720" rIns="91440" bIns="45720" rtlCol="0">
            <a:normAutofit/>
          </a:bodyPr>
          <a:lstStyle/>
          <a:p>
            <a:pPr defTabSz="914400">
              <a:spcBef>
                <a:spcPct val="20000"/>
              </a:spcBef>
            </a:pPr>
            <a:r>
              <a:rPr lang="en-US" altLang="ko-KR" sz="1600" dirty="0">
                <a:solidFill>
                  <a:srgbClr val="50646E"/>
                </a:solidFill>
              </a:rPr>
              <a:t>PK: CUST_ID / FK: 없음 (5개 자식 테이블이 참조)</a:t>
            </a:r>
            <a:r>
              <a:rPr lang="ko-KR" altLang="en-US" sz="1600" dirty="0">
                <a:solidFill>
                  <a:srgbClr val="50646E"/>
                </a:solidFill>
              </a:rPr>
              <a:t/>
            </a:r>
            <a:r>
              <a:rPr lang="en-US" altLang="ko-KR" sz="1600" dirty="0">
                <a:solidFill>
                  <a:srgbClr val="50646E"/>
                </a:solidFill>
              </a:rPr>
              <a:t/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17624" y="1764296"/>
          <a:ext cx="10058400" cy="26883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52800"/>
                <a:gridCol w="3352800"/>
                <a:gridCol w="3352800"/>
              </a:tblGrid>
              <a:tr h="384048"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</a:rPr>
                        <a:t>컬럼</a:t>
                      </a:r>
                    </a:p>
                  </a:txBody>
                  <a:tcPr anchor="ctr" marT="25400" marB="25400"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</a:rPr>
                        <a:t>타입</a:t>
                      </a:r>
                    </a:p>
                  </a:txBody>
                  <a:tcPr anchor="ctr" marT="25400" marB="25400"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</a:rPr>
                        <a:t>설명</a:t>
                      </a:r>
                    </a:p>
                  </a:txBody>
                  <a:tcPr anchor="ctr" marT="25400" marB="25400">
                    <a:solidFill>
                      <a:srgbClr val="1B2A4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222730"/>
                          </a:solidFill>
                        </a:rPr>
                        <a:t>CUST_ID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222730"/>
                          </a:solidFill>
                        </a:rPr>
                        <a:t>NUMBER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222730"/>
                          </a:solidFill>
                        </a:rPr>
                        <a:t>고객ID (PK)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222730"/>
                          </a:solidFill>
                        </a:rPr>
                        <a:t>CUST_NAME</a:t>
                      </a:r>
                    </a:p>
                  </a:txBody>
                  <a:tcPr anchor="ctr" marT="12700" marB="12700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222730"/>
                          </a:solidFill>
                        </a:rPr>
                        <a:t>VARCHAR2(40)</a:t>
                      </a:r>
                    </a:p>
                  </a:txBody>
                  <a:tcPr anchor="ctr" marT="12700" marB="12700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222730"/>
                          </a:solidFill>
                        </a:rPr>
                        <a:t>고객이름</a:t>
                      </a:r>
                    </a:p>
                  </a:txBody>
                  <a:tcPr anchor="ctr" marT="12700" marB="12700">
                    <a:solidFill>
                      <a:srgbClr val="F2F4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222730"/>
                          </a:solidFill>
                        </a:rPr>
                        <a:t>CUST_GENDER_TYPE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222730"/>
                          </a:solidFill>
                        </a:rPr>
                        <a:t>VARCHAR2(1)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222730"/>
                          </a:solidFill>
                        </a:rPr>
                        <a:t>성별(1:남,2:여)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222730"/>
                          </a:solidFill>
                        </a:rPr>
                        <a:t>LOGIN_ID</a:t>
                      </a:r>
                    </a:p>
                  </a:txBody>
                  <a:tcPr anchor="ctr" marT="12700" marB="12700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222730"/>
                          </a:solidFill>
                        </a:rPr>
                        <a:t>VARCHAR2(10)</a:t>
                      </a:r>
                    </a:p>
                  </a:txBody>
                  <a:tcPr anchor="ctr" marT="12700" marB="12700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222730"/>
                          </a:solidFill>
                        </a:rPr>
                        <a:t>로그인ID</a:t>
                      </a:r>
                    </a:p>
                  </a:txBody>
                  <a:tcPr anchor="ctr" marT="12700" marB="12700">
                    <a:solidFill>
                      <a:srgbClr val="F2F4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222730"/>
                          </a:solidFill>
                        </a:rPr>
                        <a:t>LOGIN_PSWD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222730"/>
                          </a:solidFill>
                        </a:rPr>
                        <a:t>VARCHAR2(40)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222730"/>
                          </a:solidFill>
                        </a:rPr>
                        <a:t>비밀번호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222730"/>
                          </a:solidFill>
                        </a:rPr>
                        <a:t>CUST_GRADE</a:t>
                      </a:r>
                    </a:p>
                  </a:txBody>
                  <a:tcPr anchor="ctr" marT="12700" marB="12700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222730"/>
                          </a:solidFill>
                        </a:rPr>
                        <a:t>VARCHAR2(1)</a:t>
                      </a:r>
                    </a:p>
                  </a:txBody>
                  <a:tcPr anchor="ctr" marT="12700" marB="12700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222730"/>
                          </a:solidFill>
                        </a:rPr>
                        <a:t>고객등급</a:t>
                      </a:r>
                    </a:p>
                  </a:txBody>
                  <a:tcPr anchor="ctr" marT="12700" marB="12700"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텍스트 개체 틀 3"/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pPr algn="r"/>
            <a:r>
              <a:rPr lang="en-US" altLang="ko-KR" sz="1600" dirty="0" smtClean="0"/>
              <a:t>Customer</a:t>
            </a:r>
            <a:r>
              <a:rPr lang="ko-KR" altLang="en-US" sz="1600" dirty="0" smtClean="0"/>
              <a:t/>
            </a:r>
            <a:endParaRPr lang="ko-KR" altLang="en-US" sz="1600" dirty="0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ko-KR" altLang="en-US" dirty="0" smtClean="0"/>
              <a:t>고객영역 — 연락처 · 배송지</a:t>
            </a:r>
            <a:r>
              <a:rPr lang="en-US" altLang="ko-KR" dirty="0" smtClean="0"/>
              <a:t/>
            </a:r>
            <a:endParaRPr lang="ko-KR" altLang="en-US" dirty="0"/>
          </a:p>
        </p:txBody>
      </p:sp>
      <p:sp>
        <p:nvSpPr>
          <p:cNvPr id="10" name="텍스트 개체 틀 4"/>
          <p:cNvSpPr>
            <a:spLocks noGrp="1"/>
          </p:cNvSpPr>
          <p:nvPr>
            <p:ph type="body" sz="quarter" idx="12"/>
          </p:nvPr>
        </p:nvSpPr>
        <p:spPr>
          <a:xfrm>
            <a:off x="234132" y="828303"/>
            <a:ext cx="7956884" cy="835266"/>
          </a:xfrm>
        </p:spPr>
        <p:txBody>
          <a:bodyPr vert="horz" lIns="91440" tIns="45720" rIns="91440" bIns="45720" rtlCol="0">
            <a:normAutofit/>
          </a:bodyPr>
          <a:lstStyle/>
          <a:p>
            <a:pPr defTabSz="914400">
              <a:spcBef>
                <a:spcPct val="20000"/>
              </a:spcBef>
            </a:pPr>
            <a:r>
              <a:rPr lang="en-US" altLang="ko-KR" sz="1600" dirty="0">
                <a:solidFill>
                  <a:srgbClr val="50646E"/>
                </a:solidFill>
              </a:rPr>
              <a:t>CUST_ID + 순번 복합 PK → 1인 다건 등록 구조</a:t>
            </a:r>
            <a:r>
              <a:rPr lang="ko-KR" altLang="en-US" sz="1600" dirty="0">
                <a:solidFill>
                  <a:srgbClr val="50646E"/>
                </a:solidFill>
              </a:rPr>
              <a:t/>
            </a:r>
            <a:r>
              <a:rPr lang="en-US" altLang="ko-KR" sz="1600" dirty="0">
                <a:solidFill>
                  <a:srgbClr val="50646E"/>
                </a:solidFill>
              </a:rPr>
              <a:t/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17624" y="1764296"/>
          <a:ext cx="10058400" cy="11521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52800"/>
                <a:gridCol w="3352800"/>
                <a:gridCol w="3352800"/>
              </a:tblGrid>
              <a:tr h="384048"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</a:rPr>
                        <a:t>테이블</a:t>
                      </a:r>
                    </a:p>
                  </a:txBody>
                  <a:tcPr anchor="ctr" marT="25400" marB="25400"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</a:rPr>
                        <a:t>PK</a:t>
                      </a:r>
                    </a:p>
                  </a:txBody>
                  <a:tcPr anchor="ctr" marT="25400" marB="25400"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</a:rPr>
                        <a:t>핵심 컬럼</a:t>
                      </a:r>
                    </a:p>
                  </a:txBody>
                  <a:tcPr anchor="ctr" marT="25400" marB="25400">
                    <a:solidFill>
                      <a:srgbClr val="1B2A4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222730"/>
                          </a:solidFill>
                        </a:rPr>
                        <a:t>CUST_CONTACTS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222730"/>
                          </a:solidFill>
                        </a:rPr>
                        <a:t>CUST_ID, CONTACT_TYPE, CONTACT_ORD_NUM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222730"/>
                          </a:solidFill>
                        </a:rPr>
                        <a:t>CONTACT_VALUE, CONTACT_BASE_YN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222730"/>
                          </a:solidFill>
                        </a:rPr>
                        <a:t>SHIPMENT_ADDRESSES</a:t>
                      </a:r>
                    </a:p>
                  </a:txBody>
                  <a:tcPr anchor="ctr" marT="12700" marB="12700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222730"/>
                          </a:solidFill>
                        </a:rPr>
                        <a:t>CUST_ID, SHIP_ADDR_ORD_NUM</a:t>
                      </a:r>
                    </a:p>
                  </a:txBody>
                  <a:tcPr anchor="ctr" marT="12700" marB="12700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222730"/>
                          </a:solidFill>
                        </a:rPr>
                        <a:t>ADDRESS, ZIPCODE, REGION_TYPE</a:t>
                      </a:r>
                    </a:p>
                  </a:txBody>
                  <a:tcPr anchor="ctr" marT="12700" marB="12700"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텍스트 개체 틀 3"/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pPr algn="r"/>
            <a:r>
              <a:rPr lang="en-US" altLang="ko-KR" sz="1600" dirty="0" smtClean="0"/>
              <a:t>Order</a:t>
            </a:r>
            <a:r>
              <a:rPr lang="ko-KR" altLang="en-US" sz="1600" dirty="0" smtClean="0"/>
              <a:t/>
            </a:r>
            <a:endParaRPr lang="ko-KR" altLang="en-US" sz="1600" dirty="0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ko-KR" altLang="en-US" dirty="0" smtClean="0"/>
              <a:t>주문영역 — ORDERS · ORDER_ITEMS</a:t>
            </a:r>
            <a:r>
              <a:rPr lang="en-US" altLang="ko-KR" dirty="0" smtClean="0"/>
              <a:t/>
            </a:r>
            <a:endParaRPr lang="ko-KR" altLang="en-US" dirty="0"/>
          </a:p>
        </p:txBody>
      </p:sp>
      <p:sp>
        <p:nvSpPr>
          <p:cNvPr id="10" name="텍스트 개체 틀 4"/>
          <p:cNvSpPr>
            <a:spLocks noGrp="1"/>
          </p:cNvSpPr>
          <p:nvPr>
            <p:ph type="body" sz="quarter" idx="12"/>
          </p:nvPr>
        </p:nvSpPr>
        <p:spPr>
          <a:xfrm>
            <a:off x="234132" y="828303"/>
            <a:ext cx="7956884" cy="835266"/>
          </a:xfrm>
        </p:spPr>
        <p:txBody>
          <a:bodyPr vert="horz" lIns="91440" tIns="45720" rIns="91440" bIns="45720" rtlCol="0">
            <a:normAutofit/>
          </a:bodyPr>
          <a:lstStyle/>
          <a:p>
            <a:pPr defTabSz="914400">
              <a:spcBef>
                <a:spcPct val="20000"/>
              </a:spcBef>
            </a:pPr>
            <a:r>
              <a:rPr lang="en-US" altLang="ko-KR" sz="1600" dirty="0">
                <a:solidFill>
                  <a:srgbClr val="50646E"/>
                </a:solidFill>
              </a:rPr>
              <a:t>헤더-디테일 패턴 (주문 1건에 상품 여러 건)</a:t>
            </a:r>
            <a:r>
              <a:rPr lang="ko-KR" altLang="en-US" sz="1600" dirty="0">
                <a:solidFill>
                  <a:srgbClr val="50646E"/>
                </a:solidFill>
              </a:rPr>
              <a:t/>
            </a:r>
            <a:r>
              <a:rPr lang="en-US" altLang="ko-KR" sz="1600" dirty="0">
                <a:solidFill>
                  <a:srgbClr val="50646E"/>
                </a:solidFill>
              </a:rPr>
              <a:t/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17624" y="1764296"/>
          <a:ext cx="10058400" cy="11521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14600"/>
                <a:gridCol w="2514600"/>
                <a:gridCol w="2514600"/>
                <a:gridCol w="2514600"/>
              </a:tblGrid>
              <a:tr h="384048">
                <a:tc>
                  <a:txBody>
                    <a:bodyPr/>
                    <a:lstStyle/>
                    <a:p>
                      <a:pPr algn="ctr"/>
                      <a:r>
                        <a:rPr b="1" sz="1050">
                          <a:solidFill>
                            <a:srgbClr val="FFFFFF"/>
                          </a:solidFill>
                        </a:rPr>
                        <a:t>테이블</a:t>
                      </a:r>
                    </a:p>
                  </a:txBody>
                  <a:tcPr anchor="ctr" marT="25400" marB="25400"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50">
                          <a:solidFill>
                            <a:srgbClr val="FFFFFF"/>
                          </a:solidFill>
                        </a:rPr>
                        <a:t>PK</a:t>
                      </a:r>
                    </a:p>
                  </a:txBody>
                  <a:tcPr anchor="ctr" marT="25400" marB="25400"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50">
                          <a:solidFill>
                            <a:srgbClr val="FFFFFF"/>
                          </a:solidFill>
                        </a:rPr>
                        <a:t>FK</a:t>
                      </a:r>
                    </a:p>
                  </a:txBody>
                  <a:tcPr anchor="ctr" marT="25400" marB="25400"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50">
                          <a:solidFill>
                            <a:srgbClr val="FFFFFF"/>
                          </a:solidFill>
                        </a:rPr>
                        <a:t>비고</a:t>
                      </a:r>
                    </a:p>
                  </a:txBody>
                  <a:tcPr anchor="ctr" marT="25400" marB="25400">
                    <a:solidFill>
                      <a:srgbClr val="1B2A4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222730"/>
                          </a:solidFill>
                        </a:rPr>
                        <a:t>ORDERS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22730"/>
                          </a:solidFill>
                        </a:rPr>
                        <a:t>ORDER_ID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22730"/>
                          </a:solidFill>
                        </a:rPr>
                        <a:t>CUST_ID→CUSTOMERS, ORDER_RCT_EMP_ID→EMPLOYEES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22730"/>
                          </a:solidFill>
                        </a:rPr>
                        <a:t>주문접수자 = 직원 경로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222730"/>
                          </a:solidFill>
                        </a:rPr>
                        <a:t>ORDER_ITEMS</a:t>
                      </a:r>
                    </a:p>
                  </a:txBody>
                  <a:tcPr anchor="ctr" marT="12700" marB="12700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22730"/>
                          </a:solidFill>
                        </a:rPr>
                        <a:t>ORDER_ID, ORDER_SEQ_ID</a:t>
                      </a:r>
                    </a:p>
                  </a:txBody>
                  <a:tcPr anchor="ctr" marT="12700" marB="12700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22730"/>
                          </a:solidFill>
                        </a:rPr>
                        <a:t>ORDER_ID→ORDERS, PRODUCT_ID→PRODUCTS</a:t>
                      </a:r>
                    </a:p>
                  </a:txBody>
                  <a:tcPr anchor="ctr" marT="12700" marB="12700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22730"/>
                          </a:solidFill>
                        </a:rPr>
                        <a:t>주문 상세</a:t>
                      </a:r>
                    </a:p>
                  </a:txBody>
                  <a:tcPr anchor="ctr" marT="12700" marB="12700"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텍스트 개체 틀 3"/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pPr algn="r"/>
            <a:r>
              <a:rPr lang="en-US" altLang="ko-KR" sz="1600" dirty="0" smtClean="0"/>
              <a:t>Product</a:t>
            </a:r>
            <a:r>
              <a:rPr lang="ko-KR" altLang="en-US" sz="1600" dirty="0" smtClean="0"/>
              <a:t/>
            </a:r>
            <a:endParaRPr lang="ko-KR" altLang="en-US" sz="1600" dirty="0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ko-KR" altLang="en-US" dirty="0" smtClean="0"/>
              <a:t>상품영역 — PRODUCTS · CATEGORIES · CORPORATIONS</a:t>
            </a:r>
            <a:r>
              <a:rPr lang="en-US" altLang="ko-KR" dirty="0" smtClean="0"/>
              <a:t/>
            </a:r>
            <a:endParaRPr lang="ko-KR" altLang="en-US" dirty="0"/>
          </a:p>
        </p:txBody>
      </p:sp>
      <p:sp>
        <p:nvSpPr>
          <p:cNvPr id="10" name="텍스트 개체 틀 4"/>
          <p:cNvSpPr>
            <a:spLocks noGrp="1"/>
          </p:cNvSpPr>
          <p:nvPr>
            <p:ph type="body" sz="quarter" idx="12"/>
          </p:nvPr>
        </p:nvSpPr>
        <p:spPr>
          <a:xfrm>
            <a:off x="234132" y="828303"/>
            <a:ext cx="7956884" cy="835266"/>
          </a:xfrm>
        </p:spPr>
        <p:txBody>
          <a:bodyPr vert="horz" lIns="91440" tIns="45720" rIns="91440" bIns="45720" rtlCol="0">
            <a:normAutofit/>
          </a:bodyPr>
          <a:lstStyle/>
          <a:p>
            <a:pPr defTabSz="914400">
              <a:spcBef>
                <a:spcPct val="20000"/>
              </a:spcBef>
            </a:pPr>
            <a:r>
              <a:rPr lang="en-US" altLang="ko-KR" sz="1600" dirty="0">
                <a:solidFill>
                  <a:srgbClr val="50646E"/>
                </a:solidFill>
              </a:rPr>
              <a:t>ID 참조로 정규화 (중복 저장 방지)</a:t>
            </a:r>
            <a:r>
              <a:rPr lang="ko-KR" altLang="en-US" sz="1600" dirty="0">
                <a:solidFill>
                  <a:srgbClr val="50646E"/>
                </a:solidFill>
              </a:rPr>
              <a:t/>
            </a:r>
            <a:r>
              <a:rPr lang="en-US" altLang="ko-KR" sz="1600" dirty="0">
                <a:solidFill>
                  <a:srgbClr val="50646E"/>
                </a:solidFill>
              </a:rPr>
              <a:t/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17624" y="1764296"/>
          <a:ext cx="10058400" cy="15361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52800"/>
                <a:gridCol w="3352800"/>
                <a:gridCol w="3352800"/>
              </a:tblGrid>
              <a:tr h="384048"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</a:rPr>
                        <a:t>테이블</a:t>
                      </a:r>
                    </a:p>
                  </a:txBody>
                  <a:tcPr anchor="ctr" marT="25400" marB="25400"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</a:rPr>
                        <a:t>PK</a:t>
                      </a:r>
                    </a:p>
                  </a:txBody>
                  <a:tcPr anchor="ctr" marT="25400" marB="25400"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</a:rPr>
                        <a:t>핵심</a:t>
                      </a:r>
                    </a:p>
                  </a:txBody>
                  <a:tcPr anchor="ctr" marT="25400" marB="25400">
                    <a:solidFill>
                      <a:srgbClr val="1B2A4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222730"/>
                          </a:solidFill>
                        </a:rPr>
                        <a:t>PRODUCTS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222730"/>
                          </a:solidFill>
                        </a:rPr>
                        <a:t>PRODUCT_ID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222730"/>
                          </a:solidFill>
                        </a:rPr>
                        <a:t>ISBN_NO·WRITER_NAME → 온라인 서점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222730"/>
                          </a:solidFill>
                        </a:rPr>
                        <a:t>CATEGORIES</a:t>
                      </a:r>
                    </a:p>
                  </a:txBody>
                  <a:tcPr anchor="ctr" marT="12700" marB="12700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222730"/>
                          </a:solidFill>
                        </a:rPr>
                        <a:t>CATEGORY_ID</a:t>
                      </a:r>
                    </a:p>
                  </a:txBody>
                  <a:tcPr anchor="ctr" marT="12700" marB="12700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222730"/>
                          </a:solidFill>
                        </a:rPr>
                        <a:t>상품 분류</a:t>
                      </a:r>
                    </a:p>
                  </a:txBody>
                  <a:tcPr anchor="ctr" marT="12700" marB="12700">
                    <a:solidFill>
                      <a:srgbClr val="F2F4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222730"/>
                          </a:solidFill>
                        </a:rPr>
                        <a:t>CORPORATIONS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222730"/>
                          </a:solidFill>
                        </a:rPr>
                        <a:t>CORPORATION_ID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222730"/>
                          </a:solidFill>
                        </a:rPr>
                        <a:t>협력업체 (PK명 COOPERATIONS_PK 오탈자)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텍스트 개체 틀 3"/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pPr algn="r"/>
            <a:r>
              <a:rPr lang="en-US" altLang="ko-KR" sz="1600" dirty="0" smtClean="0"/>
              <a:t>Shipment</a:t>
            </a:r>
            <a:r>
              <a:rPr lang="ko-KR" altLang="en-US" sz="1600" dirty="0" smtClean="0"/>
              <a:t/>
            </a:r>
            <a:endParaRPr lang="ko-KR" altLang="en-US" sz="1600" dirty="0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ko-KR" altLang="en-US" dirty="0" smtClean="0"/>
              <a:t>배송영역 — SHIPMENTS</a:t>
            </a:r>
            <a:r>
              <a:rPr lang="en-US" altLang="ko-KR" dirty="0" smtClean="0"/>
              <a:t/>
            </a:r>
            <a:endParaRPr lang="ko-KR" altLang="en-US" dirty="0"/>
          </a:p>
        </p:txBody>
      </p:sp>
      <p:sp>
        <p:nvSpPr>
          <p:cNvPr id="10" name="텍스트 개체 틀 4"/>
          <p:cNvSpPr>
            <a:spLocks noGrp="1"/>
          </p:cNvSpPr>
          <p:nvPr>
            <p:ph type="body" sz="quarter" idx="12"/>
          </p:nvPr>
        </p:nvSpPr>
        <p:spPr>
          <a:xfrm>
            <a:off x="234132" y="828303"/>
            <a:ext cx="7956884" cy="835266"/>
          </a:xfrm>
        </p:spPr>
        <p:txBody>
          <a:bodyPr vert="horz" lIns="91440" tIns="45720" rIns="91440" bIns="45720" rtlCol="0">
            <a:normAutofit/>
          </a:bodyPr>
          <a:lstStyle/>
          <a:p>
            <a:pPr defTabSz="914400">
              <a:spcBef>
                <a:spcPct val="20000"/>
              </a:spcBef>
            </a:pPr>
            <a:r>
              <a:rPr lang="en-US" altLang="ko-KR" sz="1600" dirty="0">
                <a:solidFill>
                  <a:srgbClr val="50646E"/>
                </a:solidFill>
              </a:rPr>
              <a:t>PK=ORDER_ID → 주문:배송 1:1 (선택적)</a:t>
            </a:r>
            <a:r>
              <a:rPr lang="ko-KR" altLang="en-US" sz="1600" dirty="0">
                <a:solidFill>
                  <a:srgbClr val="50646E"/>
                </a:solidFill>
              </a:rPr>
              <a:t/>
            </a:r>
            <a:r>
              <a:rPr lang="en-US" altLang="ko-KR" sz="1600" dirty="0">
                <a:solidFill>
                  <a:srgbClr val="50646E"/>
                </a:solidFill>
              </a:rPr>
              <a:t/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17624" y="1764296"/>
          <a:ext cx="10058400" cy="26883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9200"/>
                <a:gridCol w="5029200"/>
              </a:tblGrid>
              <a:tr h="384048"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</a:rPr>
                        <a:t>컬럼</a:t>
                      </a:r>
                    </a:p>
                  </a:txBody>
                  <a:tcPr anchor="ctr" marT="25400" marB="25400"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</a:rPr>
                        <a:t>설명</a:t>
                      </a:r>
                    </a:p>
                  </a:txBody>
                  <a:tcPr anchor="ctr" marT="25400" marB="25400">
                    <a:solidFill>
                      <a:srgbClr val="1B2A4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222730"/>
                          </a:solidFill>
                        </a:rPr>
                        <a:t>ORDER_ID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222730"/>
                          </a:solidFill>
                        </a:rPr>
                        <a:t>주문ID (PK, FK→ORDERS)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222730"/>
                          </a:solidFill>
                        </a:rPr>
                        <a:t>CUST_ID</a:t>
                      </a:r>
                    </a:p>
                  </a:txBody>
                  <a:tcPr anchor="ctr" marT="12700" marB="12700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222730"/>
                          </a:solidFill>
                        </a:rPr>
                        <a:t>고객ID (직접 FK, 비정규화)</a:t>
                      </a:r>
                    </a:p>
                  </a:txBody>
                  <a:tcPr anchor="ctr" marT="12700" marB="12700">
                    <a:solidFill>
                      <a:srgbClr val="F2F4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222730"/>
                          </a:solidFill>
                        </a:rPr>
                        <a:t>SHIPMENT_STATUS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222730"/>
                          </a:solidFill>
                        </a:rPr>
                        <a:t>배송상태(1:전~5:반품완료)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222730"/>
                          </a:solidFill>
                        </a:rPr>
                        <a:t>SHIPMENT_CORPORATION_ID</a:t>
                      </a:r>
                    </a:p>
                  </a:txBody>
                  <a:tcPr anchor="ctr" marT="12700" marB="12700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222730"/>
                          </a:solidFill>
                        </a:rPr>
                        <a:t>배송 협력업체</a:t>
                      </a:r>
                    </a:p>
                  </a:txBody>
                  <a:tcPr anchor="ctr" marT="12700" marB="12700">
                    <a:solidFill>
                      <a:srgbClr val="F2F4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222730"/>
                          </a:solidFill>
                        </a:rPr>
                        <a:t>TRACKING_NUMBER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222730"/>
                          </a:solidFill>
                        </a:rPr>
                        <a:t>송장번호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222730"/>
                          </a:solidFill>
                        </a:rPr>
                        <a:t>DELIVERY_START_DT / END_DT</a:t>
                      </a:r>
                    </a:p>
                  </a:txBody>
                  <a:tcPr anchor="ctr" marT="12700" marB="12700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222730"/>
                          </a:solidFill>
                        </a:rPr>
                        <a:t>배송 시작/완료일</a:t>
                      </a:r>
                    </a:p>
                  </a:txBody>
                  <a:tcPr anchor="ctr" marT="12700" marB="12700"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텍스트 개체 틀 3"/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pPr algn="r"/>
            <a:r>
              <a:rPr lang="en-US" altLang="ko-KR" sz="1600" dirty="0" smtClean="0"/>
              <a:t>Inquiry</a:t>
            </a:r>
            <a:r>
              <a:rPr lang="ko-KR" altLang="en-US" sz="1600" dirty="0" smtClean="0"/>
              <a:t/>
            </a:r>
            <a:endParaRPr lang="ko-KR" altLang="en-US" sz="1600" dirty="0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ko-KR" altLang="en-US" dirty="0" smtClean="0"/>
              <a:t>문의영역 — INQUIRIES</a:t>
            </a:r>
            <a:r>
              <a:rPr lang="en-US" altLang="ko-KR" dirty="0" smtClean="0"/>
              <a:t/>
            </a:r>
            <a:endParaRPr lang="ko-KR" altLang="en-US" dirty="0"/>
          </a:p>
        </p:txBody>
      </p:sp>
      <p:sp>
        <p:nvSpPr>
          <p:cNvPr id="10" name="텍스트 개체 틀 4"/>
          <p:cNvSpPr>
            <a:spLocks noGrp="1"/>
          </p:cNvSpPr>
          <p:nvPr>
            <p:ph type="body" sz="quarter" idx="12"/>
          </p:nvPr>
        </p:nvSpPr>
        <p:spPr>
          <a:xfrm>
            <a:off x="234132" y="828303"/>
            <a:ext cx="7956884" cy="835266"/>
          </a:xfrm>
        </p:spPr>
        <p:txBody>
          <a:bodyPr vert="horz" lIns="91440" tIns="45720" rIns="91440" bIns="45720" rtlCol="0">
            <a:normAutofit/>
          </a:bodyPr>
          <a:lstStyle/>
          <a:p>
            <a:pPr defTabSz="914400">
              <a:spcBef>
                <a:spcPct val="20000"/>
              </a:spcBef>
            </a:pPr>
            <a:r>
              <a:rPr lang="en-US" altLang="ko-KR" sz="1600" dirty="0">
                <a:solidFill>
                  <a:srgbClr val="50646E"/>
                </a:solidFill>
              </a:rPr>
              <a:t>nullable FK로 주문·상품과 느슨하게 연결 (고객센터 티켓 성격)</a:t>
            </a:r>
            <a:r>
              <a:rPr lang="ko-KR" altLang="en-US" sz="1600" dirty="0">
                <a:solidFill>
                  <a:srgbClr val="50646E"/>
                </a:solidFill>
              </a:rPr>
              <a:t/>
            </a:r>
            <a:r>
              <a:rPr lang="en-US" altLang="ko-KR" sz="1600" dirty="0">
                <a:solidFill>
                  <a:srgbClr val="50646E"/>
                </a:solidFill>
              </a:rPr>
              <a:t/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17624" y="1764296"/>
          <a:ext cx="10058400" cy="26883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9200"/>
                <a:gridCol w="5029200"/>
              </a:tblGrid>
              <a:tr h="384048"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</a:rPr>
                        <a:t>컬럼</a:t>
                      </a:r>
                    </a:p>
                  </a:txBody>
                  <a:tcPr anchor="ctr" marT="25400" marB="25400"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</a:rPr>
                        <a:t>설명</a:t>
                      </a:r>
                    </a:p>
                  </a:txBody>
                  <a:tcPr anchor="ctr" marT="25400" marB="25400">
                    <a:solidFill>
                      <a:srgbClr val="1B2A4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222730"/>
                          </a:solidFill>
                        </a:rPr>
                        <a:t>CUST_ID, INQ_DT, INQ_TYPE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222730"/>
                          </a:solidFill>
                        </a:rPr>
                        <a:t>복합 PK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222730"/>
                          </a:solidFill>
                        </a:rPr>
                        <a:t>ORDER_ID / PRODUCT_ID</a:t>
                      </a:r>
                    </a:p>
                  </a:txBody>
                  <a:tcPr anchor="ctr" marT="12700" marB="12700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222730"/>
                          </a:solidFill>
                        </a:rPr>
                        <a:t>nullable FK</a:t>
                      </a:r>
                    </a:p>
                  </a:txBody>
                  <a:tcPr anchor="ctr" marT="12700" marB="12700">
                    <a:solidFill>
                      <a:srgbClr val="F2F4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222730"/>
                          </a:solidFill>
                        </a:rPr>
                        <a:t>EMP_ID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222730"/>
                          </a:solidFill>
                        </a:rPr>
                        <a:t>상담 사원 (FK)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222730"/>
                          </a:solidFill>
                        </a:rPr>
                        <a:t>INQ_Q / INQ_A</a:t>
                      </a:r>
                    </a:p>
                  </a:txBody>
                  <a:tcPr anchor="ctr" marT="12700" marB="12700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222730"/>
                          </a:solidFill>
                        </a:rPr>
                        <a:t>상담/답변 (CLOB)</a:t>
                      </a:r>
                    </a:p>
                  </a:txBody>
                  <a:tcPr anchor="ctr" marT="12700" marB="12700">
                    <a:solidFill>
                      <a:srgbClr val="F2F4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222730"/>
                          </a:solidFill>
                        </a:rPr>
                        <a:t>INQ_STATUS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222730"/>
                          </a:solidFill>
                        </a:rPr>
                        <a:t>처리상태(1:대기,2:완료)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222730"/>
                          </a:solidFill>
                        </a:rPr>
                        <a:t>INQ_SATIS_GRADE</a:t>
                      </a:r>
                    </a:p>
                  </a:txBody>
                  <a:tcPr anchor="ctr" marT="12700" marB="12700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222730"/>
                          </a:solidFill>
                        </a:rPr>
                        <a:t>만족도(1~5)</a:t>
                      </a:r>
                    </a:p>
                  </a:txBody>
                  <a:tcPr anchor="ctr" marT="12700" marB="12700"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텍스트 개체 틀 3"/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pPr algn="r"/>
            <a:r>
              <a:rPr lang="en-US" altLang="ko-KR" sz="1600" dirty="0" smtClean="0"/>
              <a:t>Org</a:t>
            </a:r>
            <a:r>
              <a:rPr lang="ko-KR" altLang="en-US" sz="1600" dirty="0" smtClean="0"/>
              <a:t/>
            </a:r>
            <a:endParaRPr lang="ko-KR" altLang="en-US" sz="1600" dirty="0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ko-KR" altLang="en-US" dirty="0" smtClean="0"/>
              <a:t>조직영역 — EMPLOYEES · DEPARTMENTS</a:t>
            </a:r>
            <a:r>
              <a:rPr lang="en-US" altLang="ko-KR" dirty="0" smtClean="0"/>
              <a:t/>
            </a:r>
            <a:endParaRPr lang="ko-KR" altLang="en-US" dirty="0"/>
          </a:p>
        </p:txBody>
      </p:sp>
      <p:sp>
        <p:nvSpPr>
          <p:cNvPr id="10" name="텍스트 개체 틀 4"/>
          <p:cNvSpPr>
            <a:spLocks noGrp="1"/>
          </p:cNvSpPr>
          <p:nvPr>
            <p:ph type="body" sz="quarter" idx="12"/>
          </p:nvPr>
        </p:nvSpPr>
        <p:spPr>
          <a:xfrm>
            <a:off x="234132" y="828303"/>
            <a:ext cx="7956884" cy="835266"/>
          </a:xfrm>
        </p:spPr>
        <p:txBody>
          <a:bodyPr vert="horz" lIns="91440" tIns="45720" rIns="91440" bIns="45720" rtlCol="0">
            <a:normAutofit/>
          </a:bodyPr>
          <a:lstStyle/>
          <a:p>
            <a:pPr defTabSz="914400">
              <a:spcBef>
                <a:spcPct val="20000"/>
              </a:spcBef>
            </a:pPr>
            <a:r>
              <a:rPr lang="en-US" altLang="ko-KR" sz="1600" dirty="0">
                <a:solidFill>
                  <a:srgbClr val="50646E"/>
                </a:solidFill>
              </a:rPr>
              <a:t>자기참조로 관리자·부서 트리 표현</a:t>
            </a:r>
            <a:r>
              <a:rPr lang="ko-KR" altLang="en-US" sz="1600" dirty="0">
                <a:solidFill>
                  <a:srgbClr val="50646E"/>
                </a:solidFill>
              </a:rPr>
              <a:t/>
            </a:r>
            <a:r>
              <a:rPr lang="en-US" altLang="ko-KR" sz="1600" dirty="0">
                <a:solidFill>
                  <a:srgbClr val="50646E"/>
                </a:solidFill>
              </a:rPr>
              <a:t/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17624" y="1764296"/>
          <a:ext cx="10058400" cy="11521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52800"/>
                <a:gridCol w="3352800"/>
                <a:gridCol w="3352800"/>
              </a:tblGrid>
              <a:tr h="384048">
                <a:tc>
                  <a:txBody>
                    <a:bodyPr/>
                    <a:lstStyle/>
                    <a:p>
                      <a:pPr algn="ctr"/>
                      <a:r>
                        <a:rPr b="1" sz="1150">
                          <a:solidFill>
                            <a:srgbClr val="FFFFFF"/>
                          </a:solidFill>
                        </a:rPr>
                        <a:t>테이블</a:t>
                      </a:r>
                    </a:p>
                  </a:txBody>
                  <a:tcPr anchor="ctr" marT="25400" marB="25400"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150">
                          <a:solidFill>
                            <a:srgbClr val="FFFFFF"/>
                          </a:solidFill>
                        </a:rPr>
                        <a:t>PK</a:t>
                      </a:r>
                    </a:p>
                  </a:txBody>
                  <a:tcPr anchor="ctr" marT="25400" marB="25400"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150">
                          <a:solidFill>
                            <a:srgbClr val="FFFFFF"/>
                          </a:solidFill>
                        </a:rPr>
                        <a:t>자기참조 FK</a:t>
                      </a:r>
                    </a:p>
                  </a:txBody>
                  <a:tcPr anchor="ctr" marT="25400" marB="25400">
                    <a:solidFill>
                      <a:srgbClr val="1B2A4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222730"/>
                          </a:solidFill>
                        </a:rPr>
                        <a:t>EMPLOYEES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22730"/>
                          </a:solidFill>
                        </a:rPr>
                        <a:t>EMP_ID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22730"/>
                          </a:solidFill>
                        </a:rPr>
                        <a:t>ADMIN_EMP_ID→EMP_ID (관리자)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222730"/>
                          </a:solidFill>
                        </a:rPr>
                        <a:t>DEPARTMENTS</a:t>
                      </a:r>
                    </a:p>
                  </a:txBody>
                  <a:tcPr anchor="ctr" marT="12700" marB="12700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22730"/>
                          </a:solidFill>
                        </a:rPr>
                        <a:t>DEPT_ID</a:t>
                      </a:r>
                    </a:p>
                  </a:txBody>
                  <a:tcPr anchor="ctr" marT="12700" marB="12700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22730"/>
                          </a:solidFill>
                        </a:rPr>
                        <a:t>UPPER_DEPT_ID→DEPT_ID (상위부서)</a:t>
                      </a:r>
                    </a:p>
                  </a:txBody>
                  <a:tcPr anchor="ctr" marT="12700" marB="12700"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텍스트 개체 틀 3"/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pPr algn="r"/>
            <a:r>
              <a:rPr lang="en-US" altLang="ko-KR" sz="1600" dirty="0" smtClean="0"/>
              <a:t>Relations</a:t>
            </a:r>
            <a:r>
              <a:rPr lang="ko-KR" altLang="en-US" sz="1600" dirty="0" smtClean="0"/>
              <a:t/>
            </a:r>
            <a:endParaRPr lang="ko-KR" altLang="en-US" sz="1600" dirty="0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ko-KR" altLang="en-US" dirty="0" smtClean="0"/>
              <a:t>FK 관계 요약 (18건 중 주요)</a:t>
            </a:r>
            <a:r>
              <a:rPr lang="en-US" altLang="ko-KR" dirty="0" smtClean="0"/>
              <a:t/>
            </a:r>
            <a:endParaRPr lang="ko-KR" altLang="en-US" dirty="0"/>
          </a:p>
        </p:txBody>
      </p:sp>
      <p:sp>
        <p:nvSpPr>
          <p:cNvPr id="10" name="텍스트 개체 틀 4"/>
          <p:cNvSpPr>
            <a:spLocks noGrp="1"/>
          </p:cNvSpPr>
          <p:nvPr>
            <p:ph type="body" sz="quarter" idx="12"/>
          </p:nvPr>
        </p:nvSpPr>
        <p:spPr>
          <a:xfrm>
            <a:off x="234132" y="828303"/>
            <a:ext cx="7956884" cy="835266"/>
          </a:xfrm>
        </p:spPr>
        <p:txBody>
          <a:bodyPr vert="horz" lIns="91440" tIns="45720" rIns="91440" bIns="45720" rtlCol="0">
            <a:normAutofit/>
          </a:bodyPr>
          <a:lstStyle/>
          <a:p>
            <a:pPr defTabSz="914400">
              <a:spcBef>
                <a:spcPct val="20000"/>
              </a:spcBef>
            </a:pPr>
            <a:r>
              <a:rPr lang="en-US" altLang="ko-KR" sz="1600" dirty="0">
                <a:solidFill>
                  <a:srgbClr val="50646E"/>
                </a:solidFill>
              </a:rPr>
              <a:t>자식 → 부모 참조 구조</a:t>
            </a:r>
            <a:r>
              <a:rPr lang="ko-KR" altLang="en-US" sz="1600" dirty="0">
                <a:solidFill>
                  <a:srgbClr val="50646E"/>
                </a:solidFill>
              </a:rPr>
              <a:t/>
            </a:r>
            <a:r>
              <a:rPr lang="en-US" altLang="ko-KR" sz="1600" dirty="0">
                <a:solidFill>
                  <a:srgbClr val="50646E"/>
                </a:solidFill>
              </a:rPr>
              <a:t/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17624" y="1764296"/>
          <a:ext cx="10058400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52800"/>
                <a:gridCol w="3352800"/>
                <a:gridCol w="3352800"/>
              </a:tblGrid>
              <a:tr h="384048">
                <a:tc>
                  <a:txBody>
                    <a:bodyPr/>
                    <a:lstStyle/>
                    <a:p>
                      <a:pPr algn="ctr"/>
                      <a:r>
                        <a:rPr b="1" sz="1050">
                          <a:solidFill>
                            <a:srgbClr val="FFFFFF"/>
                          </a:solidFill>
                        </a:rPr>
                        <a:t>자식</a:t>
                      </a:r>
                    </a:p>
                  </a:txBody>
                  <a:tcPr anchor="ctr" marT="25400" marB="25400"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50">
                          <a:solidFill>
                            <a:srgbClr val="FFFFFF"/>
                          </a:solidFill>
                        </a:rPr>
                        <a:t>FK 컬럼</a:t>
                      </a:r>
                    </a:p>
                  </a:txBody>
                  <a:tcPr anchor="ctr" marT="25400" marB="25400"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50">
                          <a:solidFill>
                            <a:srgbClr val="FFFFFF"/>
                          </a:solidFill>
                        </a:rPr>
                        <a:t>부모</a:t>
                      </a:r>
                    </a:p>
                  </a:txBody>
                  <a:tcPr anchor="ctr" marT="25400" marB="25400">
                    <a:solidFill>
                      <a:srgbClr val="1B2A4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222730"/>
                          </a:solidFill>
                        </a:rPr>
                        <a:t>ORDERS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22730"/>
                          </a:solidFill>
                        </a:rPr>
                        <a:t>CUST_ID / ORDER_RCT_EMP_ID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22730"/>
                          </a:solidFill>
                        </a:rPr>
                        <a:t>CUSTOMERS / EMPLOYEES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222730"/>
                          </a:solidFill>
                        </a:rPr>
                        <a:t>ORDER_ITEMS</a:t>
                      </a:r>
                    </a:p>
                  </a:txBody>
                  <a:tcPr anchor="ctr" marT="12700" marB="12700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22730"/>
                          </a:solidFill>
                        </a:rPr>
                        <a:t>ORDER_ID / PRODUCT_ID</a:t>
                      </a:r>
                    </a:p>
                  </a:txBody>
                  <a:tcPr anchor="ctr" marT="12700" marB="12700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22730"/>
                          </a:solidFill>
                        </a:rPr>
                        <a:t>ORDERS / PRODUCTS</a:t>
                      </a:r>
                    </a:p>
                  </a:txBody>
                  <a:tcPr anchor="ctr" marT="12700" marB="12700">
                    <a:solidFill>
                      <a:srgbClr val="F2F4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222730"/>
                          </a:solidFill>
                        </a:rPr>
                        <a:t>SHIPMENTS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22730"/>
                          </a:solidFill>
                        </a:rPr>
                        <a:t>CUST_ID/ORDER_ID/SHIPMENT_CORP_ID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22730"/>
                          </a:solidFill>
                        </a:rPr>
                        <a:t>CUSTOMERS/ORDERS/CORPORATIONS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222730"/>
                          </a:solidFill>
                        </a:rPr>
                        <a:t>INQUIRIES</a:t>
                      </a:r>
                    </a:p>
                  </a:txBody>
                  <a:tcPr anchor="ctr" marT="12700" marB="12700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22730"/>
                          </a:solidFill>
                        </a:rPr>
                        <a:t>CUST_ID/ORDER_ID/PRODUCT_ID/EMP_ID</a:t>
                      </a:r>
                    </a:p>
                  </a:txBody>
                  <a:tcPr anchor="ctr" marT="12700" marB="12700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22730"/>
                          </a:solidFill>
                        </a:rPr>
                        <a:t>4개 부모 테이블</a:t>
                      </a:r>
                    </a:p>
                  </a:txBody>
                  <a:tcPr anchor="ctr" marT="12700" marB="12700">
                    <a:solidFill>
                      <a:srgbClr val="F2F4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222730"/>
                          </a:solidFill>
                        </a:rPr>
                        <a:t>PRODUCTS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22730"/>
                          </a:solidFill>
                        </a:rPr>
                        <a:t>CATEGORY_ID / VENDOR_ID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22730"/>
                          </a:solidFill>
                        </a:rPr>
                        <a:t>CATEGORIES / CORPORATIONS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텍스트 개체 틀 3"/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pPr algn="r"/>
            <a:r>
              <a:rPr lang="en-US" altLang="ko-KR" sz="1600" dirty="0" smtClean="0"/>
              <a:t>Index</a:t>
            </a:r>
            <a:r>
              <a:rPr lang="ko-KR" altLang="en-US" sz="1600" dirty="0" smtClean="0"/>
              <a:t/>
            </a:r>
            <a:endParaRPr lang="ko-KR" altLang="en-US" sz="1600" dirty="0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ko-KR" altLang="en-US" dirty="0" smtClean="0"/>
              <a:t>인덱스 목록 &amp; 명명 해석</a:t>
            </a:r>
            <a:r>
              <a:rPr lang="en-US" altLang="ko-KR" dirty="0" smtClean="0"/>
              <a:t/>
            </a:r>
            <a:endParaRPr lang="ko-KR" altLang="en-US" dirty="0"/>
          </a:p>
        </p:txBody>
      </p:sp>
      <p:sp>
        <p:nvSpPr>
          <p:cNvPr id="10" name="텍스트 개체 틀 4"/>
          <p:cNvSpPr>
            <a:spLocks noGrp="1"/>
          </p:cNvSpPr>
          <p:nvPr>
            <p:ph type="body" sz="quarter" idx="12"/>
          </p:nvPr>
        </p:nvSpPr>
        <p:spPr>
          <a:xfrm>
            <a:off x="234132" y="828303"/>
            <a:ext cx="7956884" cy="835266"/>
          </a:xfrm>
        </p:spPr>
        <p:txBody>
          <a:bodyPr vert="horz" lIns="91440" tIns="45720" rIns="91440" bIns="45720" rtlCol="0">
            <a:normAutofit/>
          </a:bodyPr>
          <a:lstStyle/>
          <a:p>
            <a:pPr defTabSz="914400">
              <a:spcBef>
                <a:spcPct val="20000"/>
              </a:spcBef>
            </a:pPr>
            <a:r>
              <a:rPr lang="en-US" altLang="ko-KR" sz="1600" dirty="0">
                <a:solidFill>
                  <a:srgbClr val="50646E"/>
                </a:solidFill>
              </a:rPr>
              <a:t>PK/FK는 자동 아님 — 설계자가 의도적으로 추가</a:t>
            </a:r>
            <a:r>
              <a:rPr lang="ko-KR" altLang="en-US" sz="1600" dirty="0">
                <a:solidFill>
                  <a:srgbClr val="50646E"/>
                </a:solidFill>
              </a:rPr>
              <a:t/>
            </a:r>
            <a:r>
              <a:rPr lang="en-US" altLang="ko-KR" sz="1600" dirty="0">
                <a:solidFill>
                  <a:srgbClr val="50646E"/>
                </a:solidFill>
              </a:rPr>
              <a:t/>
            </a:r>
          </a:p>
        </p:txBody>
      </p:sp>
      <p:sp>
        <p:nvSpPr>
          <p:cNvPr id="11" name="내용 개체 틀 10"/>
          <p:cNvSpPr>
            <a:spLocks noGrp="1"/>
          </p:cNvSpPr>
          <p:nvPr>
            <p:ph idx="13"/>
          </p:nvPr>
        </p:nvSpPr>
        <p:spPr/>
        <p:txBody>
          <a:bodyPr wrap="square"/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730"/>
                </a:solidFill>
              </a:rPr>
              <a:t>• _PK: PK 지원 고유 인덱스 (제약 생성 시 함께 생성)</a:t>
            </a:r>
            <a:endParaRPr lang="ko-KR" altLang="en-US" dirty="0"/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730"/>
                </a:solidFill>
              </a:rPr>
              <a:t>• _F1·_F2: FK 컬럼 인덱스 — Oracle은 FK 생성 시 자동 생성하지 않음(의도적 추가)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730"/>
                </a:solidFill>
              </a:rPr>
              <a:t>• _N1·_N2: 날짜·상태 단일 조회용 (ORDER_DT, ORDER_STATUS)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730"/>
                </a:solidFill>
              </a:rPr>
              <a:t>• _T1: ORDERS_T1(CUST_ID, ORDER_DT) — 고객별 날짜 조회 패턴용으로 추정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텍스트 개체 틀 3"/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pPr algn="r"/>
            <a:r>
              <a:rPr lang="en-US" altLang="ko-KR" sz="1600" dirty="0" smtClean="0"/>
              <a:t>Validation</a:t>
            </a:r>
            <a:r>
              <a:rPr lang="ko-KR" altLang="en-US" sz="1600" dirty="0" smtClean="0"/>
              <a:t/>
            </a:r>
            <a:endParaRPr lang="ko-KR" altLang="en-US" sz="1600" dirty="0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ko-KR" altLang="en-US" dirty="0" smtClean="0"/>
              <a:t>데이터 검증 — SHIPMENTS 1:1?</a:t>
            </a:r>
            <a:r>
              <a:rPr lang="en-US" altLang="ko-KR" dirty="0" smtClean="0"/>
              <a:t/>
            </a:r>
            <a:endParaRPr lang="ko-KR" altLang="en-US" dirty="0"/>
          </a:p>
        </p:txBody>
      </p:sp>
      <p:sp>
        <p:nvSpPr>
          <p:cNvPr id="10" name="텍스트 개체 틀 4"/>
          <p:cNvSpPr>
            <a:spLocks noGrp="1"/>
          </p:cNvSpPr>
          <p:nvPr>
            <p:ph type="body" sz="quarter" idx="12"/>
          </p:nvPr>
        </p:nvSpPr>
        <p:spPr>
          <a:xfrm>
            <a:off x="234132" y="828303"/>
            <a:ext cx="7956884" cy="835266"/>
          </a:xfrm>
        </p:spPr>
        <p:txBody>
          <a:bodyPr vert="horz" lIns="91440" tIns="45720" rIns="91440" bIns="45720" rtlCol="0">
            <a:normAutofit/>
          </a:bodyPr>
          <a:lstStyle/>
          <a:p>
            <a:pPr defTabSz="914400">
              <a:spcBef>
                <a:spcPct val="20000"/>
              </a:spcBef>
            </a:pPr>
            <a:r>
              <a:rPr lang="en-US" altLang="ko-KR" sz="1600" dirty="0">
                <a:solidFill>
                  <a:srgbClr val="50646E"/>
                </a:solidFill>
              </a:rPr>
              <a:t>전체 2,000,001건 중 배송기록 없음 40,734건(2.04%)</a:t>
            </a:r>
            <a:r>
              <a:rPr lang="ko-KR" altLang="en-US" sz="1600" dirty="0">
                <a:solidFill>
                  <a:srgbClr val="50646E"/>
                </a:solidFill>
              </a:rPr>
              <a:t/>
            </a:r>
            <a:r>
              <a:rPr lang="en-US" altLang="ko-KR" sz="1600" dirty="0">
                <a:solidFill>
                  <a:srgbClr val="50646E"/>
                </a:solidFill>
              </a:rPr>
              <a:t/>
            </a:r>
          </a:p>
        </p:txBody>
      </p:sp>
      <p:pic>
        <p:nvPicPr>
          <p:cNvPr id="11" name="Picture 10" descr="shipments_don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6388" y="2774766"/>
            <a:ext cx="5645288" cy="317918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153293" y="1764296"/>
            <a:ext cx="4233966" cy="52001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730"/>
                </a:solidFill>
              </a:rPr>
              <a:t>• PK=ORDER_ID이므로 "1주문 1배송"은 제약이 수학적으로 보장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730"/>
                </a:solidFill>
              </a:rPr>
              <a:t>• 배송기록 없는 40,734건 대부분이 주문취소(코드 8)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730"/>
                </a:solidFill>
              </a:rPr>
              <a:t>• → 필수 1:1이 아니라 "정상 진행 시 생성, 취소 시 없음"인 선택적(0/1) 관계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텍스트 개체 틀 3"/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pPr algn="r"/>
            <a:r>
              <a:rPr lang="en-US" altLang="ko-KR" sz="1600" dirty="0" smtClean="0"/>
              <a:t>Anomaly</a:t>
            </a:r>
            <a:r>
              <a:rPr lang="ko-KR" altLang="en-US" sz="1600" dirty="0" smtClean="0"/>
              <a:t/>
            </a:r>
            <a:endParaRPr lang="ko-KR" altLang="en-US" sz="1600" dirty="0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ko-KR" altLang="en-US" dirty="0" smtClean="0"/>
              <a:t>데이터 이상치 탐지</a:t>
            </a:r>
            <a:r>
              <a:rPr lang="en-US" altLang="ko-KR" dirty="0" smtClean="0"/>
              <a:t/>
            </a:r>
            <a:endParaRPr lang="ko-KR" altLang="en-US" dirty="0"/>
          </a:p>
        </p:txBody>
      </p:sp>
      <p:sp>
        <p:nvSpPr>
          <p:cNvPr id="10" name="텍스트 개체 틀 4"/>
          <p:cNvSpPr>
            <a:spLocks noGrp="1"/>
          </p:cNvSpPr>
          <p:nvPr>
            <p:ph type="body" sz="quarter" idx="12"/>
          </p:nvPr>
        </p:nvSpPr>
        <p:spPr>
          <a:xfrm>
            <a:off x="234132" y="828303"/>
            <a:ext cx="7956884" cy="835266"/>
          </a:xfrm>
        </p:spPr>
        <p:txBody>
          <a:bodyPr vert="horz" lIns="91440" tIns="45720" rIns="91440" bIns="45720" rtlCol="0">
            <a:normAutofit/>
          </a:bodyPr>
          <a:lstStyle/>
          <a:p>
            <a:pPr defTabSz="914400">
              <a:spcBef>
                <a:spcPct val="20000"/>
              </a:spcBef>
            </a:pPr>
            <a:r>
              <a:rPr lang="en-US" altLang="ko-KR" sz="1600" dirty="0">
                <a:solidFill>
                  <a:srgbClr val="50646E"/>
                </a:solidFill>
              </a:rPr>
              <a:t>ORDER_ID=10,000,000 — 미완성 주문 1건</a:t>
            </a:r>
            <a:r>
              <a:rPr lang="ko-KR" altLang="en-US" sz="1600" dirty="0">
                <a:solidFill>
                  <a:srgbClr val="50646E"/>
                </a:solidFill>
              </a:rPr>
              <a:t/>
            </a:r>
            <a:r>
              <a:rPr lang="en-US" altLang="ko-KR" sz="1600" dirty="0">
                <a:solidFill>
                  <a:srgbClr val="50646E"/>
                </a:solidFill>
              </a:rPr>
              <a:t/>
            </a:r>
          </a:p>
        </p:txBody>
      </p:sp>
      <p:sp>
        <p:nvSpPr>
          <p:cNvPr id="11" name="내용 개체 틀 10"/>
          <p:cNvSpPr>
            <a:spLocks noGrp="1"/>
          </p:cNvSpPr>
          <p:nvPr>
            <p:ph idx="13"/>
          </p:nvPr>
        </p:nvSpPr>
        <p:spPr/>
        <p:txBody>
          <a:bodyPr wrap="square"/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730"/>
                </a:solidFill>
              </a:rPr>
              <a:t>• ORDER_STATUS·배송기록이 모두 NULL인 주문 헤더만 존재</a:t>
            </a:r>
            <a:endParaRPr lang="ko-KR" altLang="en-US" dirty="0"/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730"/>
                </a:solidFill>
              </a:rPr>
              <a:t>• CUST_ID=1,000 / ORDER_DT 2026-02-02 00:00:00 등 값이 지나치게 라운드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730"/>
                </a:solidFill>
              </a:rPr>
              <a:t>• 판단: 연습용 DB의 경계값/시드 데이터일 가능성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730"/>
                </a:solidFill>
              </a:rPr>
              <a:t>• 시사점: 주문 생성이 단일 트랜잭션으로 묶이지 않으면 부분실패로 이런 미완성 데이터 발생 가능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텍스트 개체 틀 3"/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pPr algn="r"/>
            <a:r>
              <a:rPr lang="en-US" altLang="ko-KR" sz="1600" dirty="0" smtClean="0"/>
              <a:t>Synthetic</a:t>
            </a:r>
            <a:r>
              <a:rPr lang="ko-KR" altLang="en-US" sz="1600" dirty="0" smtClean="0"/>
              <a:t/>
            </a:r>
            <a:endParaRPr lang="ko-KR" altLang="en-US" sz="1600" dirty="0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ko-KR" altLang="en-US" dirty="0" smtClean="0"/>
              <a:t>합성 데이터 판단</a:t>
            </a:r>
            <a:r>
              <a:rPr lang="en-US" altLang="ko-KR" dirty="0" smtClean="0"/>
              <a:t/>
            </a:r>
            <a:endParaRPr lang="ko-KR" altLang="en-US" dirty="0"/>
          </a:p>
        </p:txBody>
      </p:sp>
      <p:sp>
        <p:nvSpPr>
          <p:cNvPr id="10" name="텍스트 개체 틀 4"/>
          <p:cNvSpPr>
            <a:spLocks noGrp="1"/>
          </p:cNvSpPr>
          <p:nvPr>
            <p:ph type="body" sz="quarter" idx="12"/>
          </p:nvPr>
        </p:nvSpPr>
        <p:spPr>
          <a:xfrm>
            <a:off x="234132" y="828303"/>
            <a:ext cx="7956884" cy="835266"/>
          </a:xfrm>
        </p:spPr>
        <p:txBody>
          <a:bodyPr vert="horz" lIns="91440" tIns="45720" rIns="91440" bIns="45720" rtlCol="0">
            <a:normAutofit/>
          </a:bodyPr>
          <a:lstStyle/>
          <a:p>
            <a:pPr defTabSz="914400">
              <a:spcBef>
                <a:spcPct val="20000"/>
              </a:spcBef>
            </a:pPr>
            <a:r>
              <a:rPr lang="en-US" altLang="ko-KR" sz="1600" dirty="0">
                <a:solidFill>
                  <a:srgbClr val="50646E"/>
                </a:solidFill>
              </a:rPr>
              <a:t>채널 분포가 연도와 무관하게 동일</a:t>
            </a:r>
            <a:r>
              <a:rPr lang="ko-KR" altLang="en-US" sz="1600" dirty="0">
                <a:solidFill>
                  <a:srgbClr val="50646E"/>
                </a:solidFill>
              </a:rPr>
              <a:t/>
            </a:r>
            <a:r>
              <a:rPr lang="en-US" altLang="ko-KR" sz="1600" dirty="0">
                <a:solidFill>
                  <a:srgbClr val="50646E"/>
                </a:solidFill>
              </a:rPr>
              <a:t/>
            </a:r>
          </a:p>
        </p:txBody>
      </p:sp>
      <p:pic>
        <p:nvPicPr>
          <p:cNvPr id="11" name="Picture 10" descr="channel_b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6388" y="2300362"/>
            <a:ext cx="5645288" cy="412799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153293" y="1764296"/>
            <a:ext cx="4233966" cy="52001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730"/>
                </a:solidFill>
              </a:rPr>
              <a:t>• 스마트폰 보급 이전 2001년에도 모바일 35%로 동일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730"/>
                </a:solidFill>
              </a:rPr>
              <a:t>• 시간·채널을 독립적 확률로 무작위 생성한 합성(연습용) 데이터로 판단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730"/>
                </a:solidFill>
              </a:rPr>
              <a:t>• 실제 운영 로그의 시계열 특성과 다름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텍스트 개체 틀 3"/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pPr algn="r"/>
            <a:r>
              <a:rPr lang="en-US" altLang="ko-KR" sz="1600" dirty="0" smtClean="0"/>
              <a:t>Transaction</a:t>
            </a:r>
            <a:r>
              <a:rPr lang="ko-KR" altLang="en-US" sz="1600" dirty="0" smtClean="0"/>
              <a:t/>
            </a:r>
            <a:endParaRPr lang="ko-KR" altLang="en-US" sz="1600" dirty="0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ko-KR" altLang="en-US" dirty="0" smtClean="0"/>
              <a:t>트랜잭션 시나리오 T1~T7</a:t>
            </a:r>
            <a:r>
              <a:rPr lang="en-US" altLang="ko-KR" dirty="0" smtClean="0"/>
              <a:t/>
            </a:r>
            <a:endParaRPr lang="ko-KR" altLang="en-US" dirty="0"/>
          </a:p>
        </p:txBody>
      </p:sp>
      <p:sp>
        <p:nvSpPr>
          <p:cNvPr id="10" name="텍스트 개체 틀 4"/>
          <p:cNvSpPr>
            <a:spLocks noGrp="1"/>
          </p:cNvSpPr>
          <p:nvPr>
            <p:ph type="body" sz="quarter" idx="12"/>
          </p:nvPr>
        </p:nvSpPr>
        <p:spPr>
          <a:xfrm>
            <a:off x="234132" y="828303"/>
            <a:ext cx="7956884" cy="835266"/>
          </a:xfrm>
        </p:spPr>
        <p:txBody>
          <a:bodyPr vert="horz" lIns="91440" tIns="45720" rIns="91440" bIns="45720" rtlCol="0">
            <a:normAutofit/>
          </a:bodyPr>
          <a:lstStyle/>
          <a:p>
            <a:pPr defTabSz="914400">
              <a:spcBef>
                <a:spcPct val="20000"/>
              </a:spcBef>
            </a:pPr>
            <a:r>
              <a:rPr lang="en-US" altLang="ko-KR" sz="1600" dirty="0">
                <a:solidFill>
                  <a:srgbClr val="50646E"/>
                </a:solidFill>
              </a:rPr>
              <a:t>다중 테이블 갱신 정합성 리스크가 큰 7개 트랜잭션</a:t>
            </a:r>
            <a:r>
              <a:rPr lang="ko-KR" altLang="en-US" sz="1600" dirty="0">
                <a:solidFill>
                  <a:srgbClr val="50646E"/>
                </a:solidFill>
              </a:rPr>
              <a:t/>
            </a:r>
            <a:r>
              <a:rPr lang="en-US" altLang="ko-KR" sz="1600" dirty="0">
                <a:solidFill>
                  <a:srgbClr val="50646E"/>
                </a:solidFill>
              </a:rPr>
              <a:t/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17624" y="1764296"/>
          <a:ext cx="10058400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14600"/>
                <a:gridCol w="2514600"/>
                <a:gridCol w="2514600"/>
                <a:gridCol w="2514600"/>
              </a:tblGrid>
              <a:tr h="384048"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</a:rPr>
                        <a:t>#</a:t>
                      </a:r>
                    </a:p>
                  </a:txBody>
                  <a:tcPr anchor="ctr" marT="25400" marB="25400"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</a:rPr>
                        <a:t>트랜잭션</a:t>
                      </a:r>
                    </a:p>
                  </a:txBody>
                  <a:tcPr anchor="ctr" marT="25400" marB="25400"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</a:rPr>
                        <a:t>연산</a:t>
                      </a:r>
                    </a:p>
                  </a:txBody>
                  <a:tcPr anchor="ctr" marT="25400" marB="25400"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</a:rPr>
                        <a:t>증명 속성</a:t>
                      </a:r>
                    </a:p>
                  </a:txBody>
                  <a:tcPr anchor="ctr" marT="25400" marB="25400">
                    <a:solidFill>
                      <a:srgbClr val="1B2A4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222730"/>
                          </a:solidFill>
                        </a:rPr>
                        <a:t>T1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222730"/>
                          </a:solidFill>
                        </a:rPr>
                        <a:t>신규 주문 처리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222730"/>
                          </a:solidFill>
                        </a:rPr>
                        <a:t>INSERT×4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222730"/>
                          </a:solidFill>
                        </a:rPr>
                        <a:t>원자성·일관성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222730"/>
                          </a:solidFill>
                        </a:rPr>
                        <a:t>T2</a:t>
                      </a:r>
                    </a:p>
                  </a:txBody>
                  <a:tcPr anchor="ctr" marT="12700" marB="12700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222730"/>
                          </a:solidFill>
                        </a:rPr>
                        <a:t>주문 취소/반품</a:t>
                      </a:r>
                    </a:p>
                  </a:txBody>
                  <a:tcPr anchor="ctr" marT="12700" marB="12700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222730"/>
                          </a:solidFill>
                        </a:rPr>
                        <a:t>UPDATE×2</a:t>
                      </a:r>
                    </a:p>
                  </a:txBody>
                  <a:tcPr anchor="ctr" marT="12700" marB="12700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222730"/>
                          </a:solidFill>
                        </a:rPr>
                        <a:t>원자성</a:t>
                      </a:r>
                    </a:p>
                  </a:txBody>
                  <a:tcPr anchor="ctr" marT="12700" marB="12700">
                    <a:solidFill>
                      <a:srgbClr val="F2F4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222730"/>
                          </a:solidFill>
                        </a:rPr>
                        <a:t>T3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222730"/>
                          </a:solidFill>
                        </a:rPr>
                        <a:t>고객 탈퇴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222730"/>
                          </a:solidFill>
                        </a:rPr>
                        <a:t>DELETE×7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222730"/>
                          </a:solidFill>
                        </a:rPr>
                        <a:t>원자성·참조무결성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222730"/>
                          </a:solidFill>
                        </a:rPr>
                        <a:t>T4</a:t>
                      </a:r>
                    </a:p>
                  </a:txBody>
                  <a:tcPr anchor="ctr" marT="12700" marB="12700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222730"/>
                          </a:solidFill>
                        </a:rPr>
                        <a:t>상담 등록</a:t>
                      </a:r>
                    </a:p>
                  </a:txBody>
                  <a:tcPr anchor="ctr" marT="12700" marB="12700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222730"/>
                          </a:solidFill>
                        </a:rPr>
                        <a:t>INSERT×1</a:t>
                      </a:r>
                    </a:p>
                  </a:txBody>
                  <a:tcPr anchor="ctr" marT="12700" marB="12700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222730"/>
                          </a:solidFill>
                        </a:rPr>
                        <a:t>일관성</a:t>
                      </a:r>
                    </a:p>
                  </a:txBody>
                  <a:tcPr anchor="ctr" marT="12700" marB="12700">
                    <a:solidFill>
                      <a:srgbClr val="F2F4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222730"/>
                          </a:solidFill>
                        </a:rPr>
                        <a:t>T5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222730"/>
                          </a:solidFill>
                        </a:rPr>
                        <a:t>배송 시작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222730"/>
                          </a:solidFill>
                        </a:rPr>
                        <a:t>UPDATE+INSERT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222730"/>
                          </a:solidFill>
                        </a:rPr>
                        <a:t>원자성·일관성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222730"/>
                          </a:solidFill>
                        </a:rPr>
                        <a:t>T6</a:t>
                      </a:r>
                    </a:p>
                  </a:txBody>
                  <a:tcPr anchor="ctr" marT="12700" marB="12700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222730"/>
                          </a:solidFill>
                        </a:rPr>
                        <a:t>협력업체 해지</a:t>
                      </a:r>
                    </a:p>
                  </a:txBody>
                  <a:tcPr anchor="ctr" marT="12700" marB="12700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222730"/>
                          </a:solidFill>
                        </a:rPr>
                        <a:t>DELETE×1</a:t>
                      </a:r>
                    </a:p>
                  </a:txBody>
                  <a:tcPr anchor="ctr" marT="12700" marB="12700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222730"/>
                          </a:solidFill>
                        </a:rPr>
                        <a:t>참조무결성</a:t>
                      </a:r>
                    </a:p>
                  </a:txBody>
                  <a:tcPr anchor="ctr" marT="12700" marB="12700">
                    <a:solidFill>
                      <a:srgbClr val="F2F4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222730"/>
                          </a:solidFill>
                        </a:rPr>
                        <a:t>T7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222730"/>
                          </a:solidFill>
                        </a:rPr>
                        <a:t>상품 가격 변경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222730"/>
                          </a:solidFill>
                        </a:rPr>
                        <a:t>UPDATE×1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222730"/>
                          </a:solidFill>
                        </a:rPr>
                        <a:t>일관성(이력 불변)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텍스트 개체 틀 3"/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pPr algn="r"/>
            <a:r>
              <a:rPr lang="en-US" altLang="ko-KR" sz="1600" dirty="0" smtClean="0"/>
              <a:t>Flow</a:t>
            </a:r>
            <a:r>
              <a:rPr lang="ko-KR" altLang="en-US" sz="1600" dirty="0" smtClean="0"/>
              <a:t/>
            </a:r>
            <a:endParaRPr lang="ko-KR" altLang="en-US" sz="1600" dirty="0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ko-KR" altLang="en-US" dirty="0" smtClean="0"/>
              <a:t>T1 신규 주문 처리 흐름</a:t>
            </a:r>
            <a:r>
              <a:rPr lang="en-US" altLang="ko-KR" dirty="0" smtClean="0"/>
              <a:t/>
            </a:r>
            <a:endParaRPr lang="ko-KR" altLang="en-US" dirty="0"/>
          </a:p>
        </p:txBody>
      </p:sp>
      <p:sp>
        <p:nvSpPr>
          <p:cNvPr id="10" name="텍스트 개체 틀 4"/>
          <p:cNvSpPr>
            <a:spLocks noGrp="1"/>
          </p:cNvSpPr>
          <p:nvPr>
            <p:ph type="body" sz="quarter" idx="12"/>
          </p:nvPr>
        </p:nvSpPr>
        <p:spPr>
          <a:xfrm>
            <a:off x="234132" y="828303"/>
            <a:ext cx="7956884" cy="835266"/>
          </a:xfrm>
        </p:spPr>
        <p:txBody>
          <a:bodyPr vert="horz" lIns="91440" tIns="45720" rIns="91440" bIns="45720" rtlCol="0">
            <a:normAutofit/>
          </a:bodyPr>
          <a:lstStyle/>
          <a:p>
            <a:pPr defTabSz="914400">
              <a:spcBef>
                <a:spcPct val="20000"/>
              </a:spcBef>
            </a:pPr>
            <a:r>
              <a:rPr lang="en-US" altLang="ko-KR" sz="1600" dirty="0">
                <a:solidFill>
                  <a:srgbClr val="50646E"/>
                </a:solidFill>
              </a:rPr>
              <a:t>INSERT×4를 하나의 트랜잭션으로 (all-or-nothing)</a:t>
            </a:r>
            <a:r>
              <a:rPr lang="ko-KR" altLang="en-US" sz="1600" dirty="0">
                <a:solidFill>
                  <a:srgbClr val="50646E"/>
                </a:solidFill>
              </a:rPr>
              <a:t/>
            </a:r>
            <a:r>
              <a:rPr lang="en-US" altLang="ko-KR" sz="1600" dirty="0">
                <a:solidFill>
                  <a:srgbClr val="50646E"/>
                </a:solidFill>
              </a:rPr>
              <a:t/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17624" y="1764296"/>
          <a:ext cx="10058400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14600"/>
                <a:gridCol w="2514600"/>
                <a:gridCol w="2514600"/>
                <a:gridCol w="2514600"/>
              </a:tblGrid>
              <a:tr h="384048"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</a:rPr>
                        <a:t>단계</a:t>
                      </a:r>
                    </a:p>
                  </a:txBody>
                  <a:tcPr anchor="ctr" marT="25400" marB="25400"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</a:rPr>
                        <a:t>작업</a:t>
                      </a:r>
                    </a:p>
                  </a:txBody>
                  <a:tcPr anchor="ctr" marT="25400" marB="25400"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</a:rPr>
                        <a:t>대상</a:t>
                      </a:r>
                    </a:p>
                  </a:txBody>
                  <a:tcPr anchor="ctr" marT="25400" marB="25400"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</a:rPr>
                        <a:t>비고</a:t>
                      </a:r>
                    </a:p>
                  </a:txBody>
                  <a:tcPr anchor="ctr" marT="25400" marB="25400">
                    <a:solidFill>
                      <a:srgbClr val="1B2A4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222730"/>
                          </a:solidFill>
                        </a:rPr>
                        <a:t>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222730"/>
                          </a:solidFill>
                        </a:rPr>
                        <a:t>주문 헤더 등록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222730"/>
                          </a:solidFill>
                        </a:rPr>
                        <a:t>ORDERS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222730"/>
                          </a:solidFill>
                        </a:rPr>
                        <a:t>INSERT #1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222730"/>
                          </a:solidFill>
                        </a:rPr>
                        <a:t>2</a:t>
                      </a:r>
                    </a:p>
                  </a:txBody>
                  <a:tcPr anchor="ctr" marT="12700" marB="12700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222730"/>
                          </a:solidFill>
                        </a:rPr>
                        <a:t>주문 상세(2건)</a:t>
                      </a:r>
                    </a:p>
                  </a:txBody>
                  <a:tcPr anchor="ctr" marT="12700" marB="12700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222730"/>
                          </a:solidFill>
                        </a:rPr>
                        <a:t>ORDER_ITEMS</a:t>
                      </a:r>
                    </a:p>
                  </a:txBody>
                  <a:tcPr anchor="ctr" marT="12700" marB="12700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222730"/>
                          </a:solidFill>
                        </a:rPr>
                        <a:t>INSERT #2,#3</a:t>
                      </a:r>
                    </a:p>
                  </a:txBody>
                  <a:tcPr anchor="ctr" marT="12700" marB="12700">
                    <a:solidFill>
                      <a:srgbClr val="F2F4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222730"/>
                          </a:solidFill>
                        </a:rPr>
                        <a:t>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222730"/>
                          </a:solidFill>
                        </a:rPr>
                        <a:t>배송 레코드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222730"/>
                          </a:solidFill>
                        </a:rPr>
                        <a:t>SHIPMENTS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222730"/>
                          </a:solidFill>
                        </a:rPr>
                        <a:t>INSERT #4 (1:1 FK)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222730"/>
                          </a:solidFill>
                        </a:rPr>
                        <a:t>4</a:t>
                      </a:r>
                    </a:p>
                  </a:txBody>
                  <a:tcPr anchor="ctr" marT="12700" marB="12700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222730"/>
                          </a:solidFill>
                        </a:rPr>
                        <a:t>무결성 검증</a:t>
                      </a:r>
                    </a:p>
                  </a:txBody>
                  <a:tcPr anchor="ctr" marT="12700" marB="12700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222730"/>
                          </a:solidFill>
                        </a:rPr>
                        <a:t>FK</a:t>
                      </a:r>
                    </a:p>
                  </a:txBody>
                  <a:tcPr anchor="ctr" marT="12700" marB="12700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222730"/>
                          </a:solidFill>
                        </a:rPr>
                        <a:t>없는 상품 → ORA-02291</a:t>
                      </a:r>
                    </a:p>
                  </a:txBody>
                  <a:tcPr anchor="ctr" marT="12700" marB="12700">
                    <a:solidFill>
                      <a:srgbClr val="F2F4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222730"/>
                          </a:solidFill>
                        </a:rPr>
                        <a:t>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222730"/>
                          </a:solidFill>
                        </a:rPr>
                        <a:t>커밋/롤백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222730"/>
                          </a:solidFill>
                        </a:rPr>
                        <a:t>전체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222730"/>
                          </a:solidFill>
                        </a:rPr>
                        <a:t>4건 all-or-nothing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텍스트 개체 틀 3"/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pPr algn="r"/>
            <a:r>
              <a:rPr lang="en-US" altLang="ko-KR" sz="1600" dirty="0" smtClean="0"/>
              <a:t>ACID</a:t>
            </a:r>
            <a:r>
              <a:rPr lang="ko-KR" altLang="en-US" sz="1600" dirty="0" smtClean="0"/>
              <a:t/>
            </a:r>
            <a:endParaRPr lang="ko-KR" altLang="en-US" sz="1600" dirty="0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ko-KR" altLang="en-US" dirty="0" smtClean="0"/>
              <a:t>ACID·무결성 검증 결과</a:t>
            </a:r>
            <a:r>
              <a:rPr lang="en-US" altLang="ko-KR" dirty="0" smtClean="0"/>
              <a:t/>
            </a:r>
            <a:endParaRPr lang="ko-KR" altLang="en-US" dirty="0"/>
          </a:p>
        </p:txBody>
      </p:sp>
      <p:sp>
        <p:nvSpPr>
          <p:cNvPr id="10" name="텍스트 개체 틀 4"/>
          <p:cNvSpPr>
            <a:spLocks noGrp="1"/>
          </p:cNvSpPr>
          <p:nvPr>
            <p:ph type="body" sz="quarter" idx="12"/>
          </p:nvPr>
        </p:nvSpPr>
        <p:spPr>
          <a:xfrm>
            <a:off x="234132" y="828303"/>
            <a:ext cx="7956884" cy="835266"/>
          </a:xfrm>
        </p:spPr>
        <p:txBody>
          <a:bodyPr vert="horz" lIns="91440" tIns="45720" rIns="91440" bIns="45720" rtlCol="0">
            <a:normAutofit/>
          </a:bodyPr>
          <a:lstStyle/>
          <a:p>
            <a:pPr defTabSz="914400">
              <a:spcBef>
                <a:spcPct val="20000"/>
              </a:spcBef>
            </a:pPr>
            <a:r>
              <a:rPr lang="en-US" altLang="ko-KR" sz="1600" dirty="0">
                <a:solidFill>
                  <a:srgbClr val="50646E"/>
                </a:solidFill>
              </a:rPr>
              <a:t>성공/실패 경로로 각 속성 확인</a:t>
            </a:r>
            <a:r>
              <a:rPr lang="ko-KR" altLang="en-US" sz="1600" dirty="0">
                <a:solidFill>
                  <a:srgbClr val="50646E"/>
                </a:solidFill>
              </a:rPr>
              <a:t/>
            </a:r>
            <a:r>
              <a:rPr lang="en-US" altLang="ko-KR" sz="1600" dirty="0">
                <a:solidFill>
                  <a:srgbClr val="50646E"/>
                </a:solidFill>
              </a:rPr>
              <a:t/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17624" y="1764296"/>
          <a:ext cx="1005840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52800"/>
                <a:gridCol w="3352800"/>
                <a:gridCol w="3352800"/>
              </a:tblGrid>
              <a:tr h="384048">
                <a:tc>
                  <a:txBody>
                    <a:bodyPr/>
                    <a:lstStyle/>
                    <a:p>
                      <a:pPr algn="ctr"/>
                      <a:r>
                        <a:rPr b="1" sz="1150">
                          <a:solidFill>
                            <a:srgbClr val="FFFFFF"/>
                          </a:solidFill>
                        </a:rPr>
                        <a:t>속성</a:t>
                      </a:r>
                    </a:p>
                  </a:txBody>
                  <a:tcPr anchor="ctr" marT="25400" marB="25400"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150">
                          <a:solidFill>
                            <a:srgbClr val="FFFFFF"/>
                          </a:solidFill>
                        </a:rPr>
                        <a:t>확인 관점</a:t>
                      </a:r>
                    </a:p>
                  </a:txBody>
                  <a:tcPr anchor="ctr" marT="25400" marB="25400"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150">
                          <a:solidFill>
                            <a:srgbClr val="FFFFFF"/>
                          </a:solidFill>
                        </a:rPr>
                        <a:t>트랜잭션</a:t>
                      </a:r>
                    </a:p>
                  </a:txBody>
                  <a:tcPr anchor="ctr" marT="25400" marB="25400">
                    <a:solidFill>
                      <a:srgbClr val="1B2A4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222730"/>
                          </a:solidFill>
                        </a:rPr>
                        <a:t>원자성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22730"/>
                          </a:solidFill>
                        </a:rPr>
                        <a:t>일부만 반영되지 않는지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22730"/>
                          </a:solidFill>
                        </a:rPr>
                        <a:t>T1,T2,T3,T5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222730"/>
                          </a:solidFill>
                        </a:rPr>
                        <a:t>일관성</a:t>
                      </a:r>
                    </a:p>
                  </a:txBody>
                  <a:tcPr anchor="ctr" marT="12700" marB="12700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22730"/>
                          </a:solidFill>
                        </a:rPr>
                        <a:t>FK·PK 및 로직 오류 차단</a:t>
                      </a:r>
                    </a:p>
                  </a:txBody>
                  <a:tcPr anchor="ctr" marT="12700" marB="12700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22730"/>
                          </a:solidFill>
                        </a:rPr>
                        <a:t>T1,T4,T5,T7</a:t>
                      </a:r>
                    </a:p>
                  </a:txBody>
                  <a:tcPr anchor="ctr" marT="12700" marB="12700">
                    <a:solidFill>
                      <a:srgbClr val="F2F4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222730"/>
                          </a:solidFill>
                        </a:rPr>
                        <a:t>참조무결성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22730"/>
                          </a:solidFill>
                        </a:rPr>
                        <a:t>FK가 삭제 순서 강제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22730"/>
                          </a:solidFill>
                        </a:rPr>
                        <a:t>T3,T6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222730"/>
                          </a:solidFill>
                        </a:rPr>
                        <a:t>지속성</a:t>
                      </a:r>
                    </a:p>
                  </a:txBody>
                  <a:tcPr anchor="ctr" marT="12700" marB="12700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22730"/>
                          </a:solidFill>
                        </a:rPr>
                        <a:t>COMMIT 후 재조회·재접속 유지</a:t>
                      </a:r>
                    </a:p>
                  </a:txBody>
                  <a:tcPr anchor="ctr" marT="12700" marB="12700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22730"/>
                          </a:solidFill>
                        </a:rPr>
                        <a:t>T1~T7</a:t>
                      </a:r>
                    </a:p>
                  </a:txBody>
                  <a:tcPr anchor="ctr" marT="12700" marB="12700"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텍스트 개체 틀 3"/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pPr algn="r"/>
            <a:r>
              <a:rPr lang="en-US" altLang="ko-KR" sz="1600" dirty="0" smtClean="0"/>
              <a:t>Isolation</a:t>
            </a:r>
            <a:r>
              <a:rPr lang="ko-KR" altLang="en-US" sz="1600" dirty="0" smtClean="0"/>
              <a:t/>
            </a:r>
            <a:endParaRPr lang="ko-KR" altLang="en-US" sz="1600" dirty="0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ko-KR" altLang="en-US" dirty="0" smtClean="0"/>
              <a:t>고립성(Isolation) 2세션 검증</a:t>
            </a:r>
            <a:r>
              <a:rPr lang="en-US" altLang="ko-KR" dirty="0" smtClean="0"/>
              <a:t/>
            </a:r>
            <a:endParaRPr lang="ko-KR" altLang="en-US" dirty="0"/>
          </a:p>
        </p:txBody>
      </p:sp>
      <p:sp>
        <p:nvSpPr>
          <p:cNvPr id="10" name="텍스트 개체 틀 4"/>
          <p:cNvSpPr>
            <a:spLocks noGrp="1"/>
          </p:cNvSpPr>
          <p:nvPr>
            <p:ph type="body" sz="quarter" idx="12"/>
          </p:nvPr>
        </p:nvSpPr>
        <p:spPr>
          <a:xfrm>
            <a:off x="234132" y="828303"/>
            <a:ext cx="7956884" cy="835266"/>
          </a:xfrm>
        </p:spPr>
        <p:txBody>
          <a:bodyPr vert="horz" lIns="91440" tIns="45720" rIns="91440" bIns="45720" rtlCol="0">
            <a:normAutofit/>
          </a:bodyPr>
          <a:lstStyle/>
          <a:p>
            <a:pPr defTabSz="914400">
              <a:spcBef>
                <a:spcPct val="20000"/>
              </a:spcBef>
            </a:pPr>
            <a:r>
              <a:rPr lang="en-US" altLang="ko-KR" sz="1600" dirty="0">
                <a:solidFill>
                  <a:srgbClr val="50646E"/>
                </a:solidFill>
              </a:rPr>
              <a:t>단일 세션 테스트로 부족한 고립성을 별도 확인</a:t>
            </a:r>
            <a:r>
              <a:rPr lang="ko-KR" altLang="en-US" sz="1600" dirty="0">
                <a:solidFill>
                  <a:srgbClr val="50646E"/>
                </a:solidFill>
              </a:rPr>
              <a:t/>
            </a:r>
            <a:r>
              <a:rPr lang="en-US" altLang="ko-KR" sz="1600" dirty="0">
                <a:solidFill>
                  <a:srgbClr val="50646E"/>
                </a:solidFill>
              </a:rPr>
              <a:t/>
            </a:r>
          </a:p>
        </p:txBody>
      </p:sp>
      <p:sp>
        <p:nvSpPr>
          <p:cNvPr id="11" name="내용 개체 틀 10"/>
          <p:cNvSpPr>
            <a:spLocks noGrp="1"/>
          </p:cNvSpPr>
          <p:nvPr>
            <p:ph idx="13"/>
          </p:nvPr>
        </p:nvSpPr>
        <p:spPr/>
        <p:txBody>
          <a:bodyPr wrap="square"/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730"/>
                </a:solidFill>
              </a:rPr>
              <a:t>• 세션1: UPDATE 후 COMMIT 안 함 → 세션2에서 기존 값이 보여야 함</a:t>
            </a:r>
            <a:endParaRPr lang="ko-KR" altLang="en-US" dirty="0"/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730"/>
                </a:solidFill>
              </a:rPr>
              <a:t>• 세션1: COMMIT → 세션2에서 변경값이 보여야 함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730"/>
                </a:solidFill>
              </a:rPr>
              <a:t>• 기대: 미커밋 변경은 세션2에 비가시, COMMIT 이후에만 조회 → 읽기 일관성·고립성 확인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텍스트 개체 틀 3"/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pPr algn="r"/>
            <a:r>
              <a:rPr lang="en-US" altLang="ko-KR" sz="1600" dirty="0" smtClean="0"/>
              <a:t>Method</a:t>
            </a:r>
            <a:r>
              <a:rPr lang="ko-KR" altLang="en-US" sz="1600" dirty="0" smtClean="0"/>
              <a:t/>
            </a:r>
            <a:endParaRPr lang="ko-KR" altLang="en-US" sz="1600" dirty="0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ko-KR" altLang="en-US" dirty="0" smtClean="0"/>
              <a:t>역공학 방법 — 딕셔너리 조회</a:t>
            </a:r>
            <a:r>
              <a:rPr lang="en-US" altLang="ko-KR" dirty="0" smtClean="0"/>
              <a:t/>
            </a:r>
            <a:endParaRPr lang="ko-KR" altLang="en-US" dirty="0"/>
          </a:p>
        </p:txBody>
      </p:sp>
      <p:sp>
        <p:nvSpPr>
          <p:cNvPr id="10" name="텍스트 개체 틀 4"/>
          <p:cNvSpPr>
            <a:spLocks noGrp="1"/>
          </p:cNvSpPr>
          <p:nvPr>
            <p:ph type="body" sz="quarter" idx="12"/>
          </p:nvPr>
        </p:nvSpPr>
        <p:spPr>
          <a:xfrm>
            <a:off x="234132" y="828303"/>
            <a:ext cx="7956884" cy="835266"/>
          </a:xfrm>
        </p:spPr>
        <p:txBody>
          <a:bodyPr vert="horz" lIns="91440" tIns="45720" rIns="91440" bIns="45720" rtlCol="0">
            <a:normAutofit/>
          </a:bodyPr>
          <a:lstStyle/>
          <a:p>
            <a:pPr defTabSz="914400">
              <a:spcBef>
                <a:spcPct val="20000"/>
              </a:spcBef>
            </a:pPr>
            <a:r>
              <a:rPr lang="en-US" altLang="ko-KR" sz="1600" dirty="0">
                <a:solidFill>
                  <a:srgbClr val="50646E"/>
                </a:solidFill>
              </a:rPr>
              <a:t>정방향 설계서 없이 메타데이터로 구조 복원</a:t>
            </a:r>
            <a:r>
              <a:rPr lang="ko-KR" altLang="en-US" sz="1600" dirty="0">
                <a:solidFill>
                  <a:srgbClr val="50646E"/>
                </a:solidFill>
              </a:rPr>
              <a:t/>
            </a:r>
            <a:r>
              <a:rPr lang="en-US" altLang="ko-KR" sz="1600" dirty="0">
                <a:solidFill>
                  <a:srgbClr val="50646E"/>
                </a:solidFill>
              </a:rPr>
              <a:t/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17624" y="1764296"/>
          <a:ext cx="10058400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52800"/>
                <a:gridCol w="3352800"/>
                <a:gridCol w="3352800"/>
              </a:tblGrid>
              <a:tr h="384048"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</a:rPr>
                        <a:t>도구</a:t>
                      </a:r>
                    </a:p>
                  </a:txBody>
                  <a:tcPr anchor="ctr" marT="25400" marB="25400"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</a:rPr>
                        <a:t>조회 대상</a:t>
                      </a:r>
                    </a:p>
                  </a:txBody>
                  <a:tcPr anchor="ctr" marT="25400" marB="25400"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</a:rPr>
                        <a:t>용도</a:t>
                      </a:r>
                    </a:p>
                  </a:txBody>
                  <a:tcPr anchor="ctr" marT="25400" marB="25400">
                    <a:solidFill>
                      <a:srgbClr val="1B2A4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222730"/>
                          </a:solidFill>
                        </a:rPr>
                        <a:t>DBMS_METADATA.GET_DDL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222730"/>
                          </a:solidFill>
                        </a:rPr>
                        <a:t>객체 DDL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222730"/>
                          </a:solidFill>
                        </a:rPr>
                        <a:t>테이블·제약 원본 정의 복원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222730"/>
                          </a:solidFill>
                        </a:rPr>
                        <a:t>USER_TABLES / TAB_COLUMNS</a:t>
                      </a:r>
                    </a:p>
                  </a:txBody>
                  <a:tcPr anchor="ctr" marT="12700" marB="12700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222730"/>
                          </a:solidFill>
                        </a:rPr>
                        <a:t>테이블·컬럼</a:t>
                      </a:r>
                    </a:p>
                  </a:txBody>
                  <a:tcPr anchor="ctr" marT="12700" marB="12700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222730"/>
                          </a:solidFill>
                        </a:rPr>
                        <a:t>구조·데이터 타입 확인</a:t>
                      </a:r>
                    </a:p>
                  </a:txBody>
                  <a:tcPr anchor="ctr" marT="12700" marB="12700">
                    <a:solidFill>
                      <a:srgbClr val="F2F4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222730"/>
                          </a:solidFill>
                        </a:rPr>
                        <a:t>USER_CONSTRAINTS / CONS_COLUMNS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222730"/>
                          </a:solidFill>
                        </a:rPr>
                        <a:t>제약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222730"/>
                          </a:solidFill>
                        </a:rPr>
                        <a:t>PK·FK·UK 관계 추출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222730"/>
                          </a:solidFill>
                        </a:rPr>
                        <a:t>USER_IND_COLUMNS</a:t>
                      </a:r>
                    </a:p>
                  </a:txBody>
                  <a:tcPr anchor="ctr" marT="12700" marB="12700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222730"/>
                          </a:solidFill>
                        </a:rPr>
                        <a:t>인덱스</a:t>
                      </a:r>
                    </a:p>
                  </a:txBody>
                  <a:tcPr anchor="ctr" marT="12700" marB="12700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222730"/>
                          </a:solidFill>
                        </a:rPr>
                        <a:t>인덱스 컬럼 순서 확인</a:t>
                      </a:r>
                    </a:p>
                  </a:txBody>
                  <a:tcPr anchor="ctr" marT="12700" marB="12700">
                    <a:solidFill>
                      <a:srgbClr val="F2F4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222730"/>
                          </a:solidFill>
                        </a:rPr>
                        <a:t>USER_COL_COMMENTS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222730"/>
                          </a:solidFill>
                        </a:rPr>
                        <a:t>코멘트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222730"/>
                          </a:solidFill>
                        </a:rPr>
                        <a:t>컬럼 의미 해석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텍스트 개체 틀 3"/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pPr algn="r"/>
            <a:r>
              <a:rPr lang="en-US" altLang="ko-KR" sz="1600" dirty="0" smtClean="0"/>
              <a:t>Principle</a:t>
            </a:r>
            <a:r>
              <a:rPr lang="ko-KR" altLang="en-US" sz="1600" dirty="0" smtClean="0"/>
              <a:t/>
            </a:r>
            <a:endParaRPr lang="ko-KR" altLang="en-US" sz="1600" dirty="0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ko-KR" altLang="en-US" dirty="0" smtClean="0"/>
              <a:t>데이터 검증 3원칙</a:t>
            </a:r>
            <a:r>
              <a:rPr lang="en-US" altLang="ko-KR" dirty="0" smtClean="0"/>
              <a:t/>
            </a:r>
            <a:endParaRPr lang="ko-KR" altLang="en-US" dirty="0"/>
          </a:p>
        </p:txBody>
      </p:sp>
      <p:sp>
        <p:nvSpPr>
          <p:cNvPr id="10" name="텍스트 개체 틀 4"/>
          <p:cNvSpPr>
            <a:spLocks noGrp="1"/>
          </p:cNvSpPr>
          <p:nvPr>
            <p:ph type="body" sz="quarter" idx="12"/>
          </p:nvPr>
        </p:nvSpPr>
        <p:spPr>
          <a:xfrm>
            <a:off x="234132" y="828303"/>
            <a:ext cx="7956884" cy="835266"/>
          </a:xfrm>
        </p:spPr>
        <p:txBody>
          <a:bodyPr vert="horz" lIns="91440" tIns="45720" rIns="91440" bIns="45720" rtlCol="0">
            <a:normAutofit/>
          </a:bodyPr>
          <a:lstStyle/>
          <a:p>
            <a:pPr defTabSz="914400">
              <a:spcBef>
                <a:spcPct val="20000"/>
              </a:spcBef>
            </a:pPr>
            <a:r>
              <a:rPr lang="en-US" altLang="ko-KR" sz="1600" dirty="0">
                <a:solidFill>
                  <a:srgbClr val="50646E"/>
                </a:solidFill>
              </a:rPr>
              <a:t>정적 구조만으로는 설계 의도를 확인할 수 없어 실측</a:t>
            </a:r>
            <a:r>
              <a:rPr lang="ko-KR" altLang="en-US" sz="1600" dirty="0">
                <a:solidFill>
                  <a:srgbClr val="50646E"/>
                </a:solidFill>
              </a:rPr>
              <a:t/>
            </a:r>
            <a:r>
              <a:rPr lang="en-US" altLang="ko-KR" sz="1600" dirty="0">
                <a:solidFill>
                  <a:srgbClr val="50646E"/>
                </a:solidFill>
              </a:rPr>
              <a:t/>
            </a:r>
          </a:p>
        </p:txBody>
      </p:sp>
      <p:sp>
        <p:nvSpPr>
          <p:cNvPr id="11" name="내용 개체 틀 10"/>
          <p:cNvSpPr>
            <a:spLocks noGrp="1"/>
          </p:cNvSpPr>
          <p:nvPr>
            <p:ph idx="13"/>
          </p:nvPr>
        </p:nvSpPr>
        <p:spPr/>
        <p:txBody>
          <a:bodyPr wrap="square"/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730"/>
                </a:solidFill>
              </a:rPr>
              <a:t>• A. 집계 전 MIN/MAX로 극단값·이상치를 먼저 확인</a:t>
            </a:r>
            <a:endParaRPr lang="ko-KR" altLang="en-US" dirty="0"/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730"/>
                </a:solidFill>
              </a:rPr>
              <a:t>• B. 가설을 세우고 쿼리 결과로 채택·기각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730"/>
                </a:solidFill>
              </a:rPr>
              <a:t>• C. 확인된 사실과 추정을 명확히 구분하여 기술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730"/>
                </a:solidFill>
              </a:rPr>
              <a:t>• → 문서상 구조와 실제 데이터를 교차검증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텍스트 개체 틀 3"/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pPr algn="r"/>
            <a:r>
              <a:rPr lang="en-US" altLang="ko-KR" sz="1600" dirty="0" smtClean="0"/>
              <a:t>Snapshot</a:t>
            </a:r>
            <a:r>
              <a:rPr lang="ko-KR" altLang="en-US" sz="1600" dirty="0" smtClean="0"/>
              <a:t/>
            </a:r>
            <a:endParaRPr lang="ko-KR" altLang="en-US" sz="1600" dirty="0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ko-KR" altLang="en-US" dirty="0" smtClean="0"/>
              <a:t>가격 스냅샷 설계</a:t>
            </a:r>
            <a:r>
              <a:rPr lang="en-US" altLang="ko-KR" dirty="0" smtClean="0"/>
              <a:t/>
            </a:r>
            <a:endParaRPr lang="ko-KR" altLang="en-US" dirty="0"/>
          </a:p>
        </p:txBody>
      </p:sp>
      <p:sp>
        <p:nvSpPr>
          <p:cNvPr id="10" name="텍스트 개체 틀 4"/>
          <p:cNvSpPr>
            <a:spLocks noGrp="1"/>
          </p:cNvSpPr>
          <p:nvPr>
            <p:ph type="body" sz="quarter" idx="12"/>
          </p:nvPr>
        </p:nvSpPr>
        <p:spPr>
          <a:xfrm>
            <a:off x="234132" y="828303"/>
            <a:ext cx="7956884" cy="835266"/>
          </a:xfrm>
        </p:spPr>
        <p:txBody>
          <a:bodyPr vert="horz" lIns="91440" tIns="45720" rIns="91440" bIns="45720" rtlCol="0">
            <a:normAutofit/>
          </a:bodyPr>
          <a:lstStyle/>
          <a:p>
            <a:pPr defTabSz="914400">
              <a:spcBef>
                <a:spcPct val="20000"/>
              </a:spcBef>
            </a:pPr>
            <a:r>
              <a:rPr lang="en-US" altLang="ko-KR" sz="1600" dirty="0">
                <a:solidFill>
                  <a:srgbClr val="50646E"/>
                </a:solidFill>
              </a:rPr>
              <a:t>ORDER_ITEMS.ORDER_PRICE = 주문 당시 결제 단가</a:t>
            </a:r>
            <a:r>
              <a:rPr lang="ko-KR" altLang="en-US" sz="1600" dirty="0">
                <a:solidFill>
                  <a:srgbClr val="50646E"/>
                </a:solidFill>
              </a:rPr>
              <a:t/>
            </a:r>
            <a:r>
              <a:rPr lang="en-US" altLang="ko-KR" sz="1600" dirty="0">
                <a:solidFill>
                  <a:srgbClr val="50646E"/>
                </a:solidFill>
              </a:rPr>
              <a:t/>
            </a:r>
          </a:p>
        </p:txBody>
      </p:sp>
      <p:sp>
        <p:nvSpPr>
          <p:cNvPr id="11" name="내용 개체 틀 10"/>
          <p:cNvSpPr>
            <a:spLocks noGrp="1"/>
          </p:cNvSpPr>
          <p:nvPr>
            <p:ph idx="13"/>
          </p:nvPr>
        </p:nvSpPr>
        <p:spPr/>
        <p:txBody>
          <a:bodyPr wrap="square"/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730"/>
                </a:solidFill>
              </a:rPr>
              <a:t>• ORDER_PRICE는 주문 시점에 저장된 금액 스냅샷(불변)</a:t>
            </a:r>
            <a:endParaRPr lang="ko-KR" altLang="en-US" dirty="0"/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730"/>
                </a:solidFill>
              </a:rPr>
              <a:t>• PRODUCTS.PRODUCT_PRICE는 현재 상품가 → 시간에 따라 변동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730"/>
                </a:solidFill>
              </a:rPr>
              <a:t>• 과거 구매금액 분석에는 스냅샷(ORDER_PRICE) 사용이 정확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730"/>
                </a:solidFill>
              </a:rPr>
              <a:t>• T7(상품 가격 변경)이 과거 주문 금액을 바꾸지 않음을 보장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텍스트 개체 틀 3"/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pPr algn="r"/>
            <a:r>
              <a:rPr lang="en-US" altLang="ko-KR" sz="1600" dirty="0" smtClean="0"/>
              <a:t>CodeCol</a:t>
            </a:r>
            <a:r>
              <a:rPr lang="ko-KR" altLang="en-US" sz="1600" dirty="0" smtClean="0"/>
              <a:t/>
            </a:r>
            <a:endParaRPr lang="ko-KR" altLang="en-US" sz="1600" dirty="0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ko-KR" altLang="en-US" dirty="0" smtClean="0"/>
              <a:t>코드성 컬럼 실측 검증</a:t>
            </a:r>
            <a:r>
              <a:rPr lang="en-US" altLang="ko-KR" dirty="0" smtClean="0"/>
              <a:t/>
            </a:r>
            <a:endParaRPr lang="ko-KR" altLang="en-US" dirty="0"/>
          </a:p>
        </p:txBody>
      </p:sp>
      <p:sp>
        <p:nvSpPr>
          <p:cNvPr id="10" name="텍스트 개체 틀 4"/>
          <p:cNvSpPr>
            <a:spLocks noGrp="1"/>
          </p:cNvSpPr>
          <p:nvPr>
            <p:ph type="body" sz="quarter" idx="12"/>
          </p:nvPr>
        </p:nvSpPr>
        <p:spPr>
          <a:xfrm>
            <a:off x="234132" y="828303"/>
            <a:ext cx="7956884" cy="835266"/>
          </a:xfrm>
        </p:spPr>
        <p:txBody>
          <a:bodyPr vert="horz" lIns="91440" tIns="45720" rIns="91440" bIns="45720" rtlCol="0">
            <a:normAutofit/>
          </a:bodyPr>
          <a:lstStyle/>
          <a:p>
            <a:pPr defTabSz="914400">
              <a:spcBef>
                <a:spcPct val="20000"/>
              </a:spcBef>
            </a:pPr>
            <a:r>
              <a:rPr lang="en-US" altLang="ko-KR" sz="1600" dirty="0">
                <a:solidFill>
                  <a:srgbClr val="50646E"/>
                </a:solidFill>
              </a:rPr>
              <a:t>MIN/MAX·분포로 코드값 의미 확인</a:t>
            </a:r>
            <a:r>
              <a:rPr lang="ko-KR" altLang="en-US" sz="1600" dirty="0">
                <a:solidFill>
                  <a:srgbClr val="50646E"/>
                </a:solidFill>
              </a:rPr>
              <a:t/>
            </a:r>
            <a:r>
              <a:rPr lang="en-US" altLang="ko-KR" sz="1600" dirty="0">
                <a:solidFill>
                  <a:srgbClr val="50646E"/>
                </a:solidFill>
              </a:rPr>
              <a:t/>
            </a:r>
          </a:p>
        </p:txBody>
      </p:sp>
      <p:sp>
        <p:nvSpPr>
          <p:cNvPr id="11" name="내용 개체 틀 10"/>
          <p:cNvSpPr>
            <a:spLocks noGrp="1"/>
          </p:cNvSpPr>
          <p:nvPr>
            <p:ph idx="13"/>
          </p:nvPr>
        </p:nvSpPr>
        <p:spPr/>
        <p:txBody>
          <a:bodyPr wrap="square"/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730"/>
                </a:solidFill>
              </a:rPr>
              <a:t>• CUST_GENDER_TYPE: 1(남)·2(여) 값만 존재 확인</a:t>
            </a:r>
            <a:endParaRPr lang="ko-KR" altLang="en-US" dirty="0"/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730"/>
                </a:solidFill>
              </a:rPr>
              <a:t>• ORDER_STATUS: 정상 1~4 + 취소/반품 8·9 코드 체계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730"/>
                </a:solidFill>
              </a:rPr>
              <a:t>• SHIPMENT_STATUS: 1(전)~5(반품완료) 단계 코드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730"/>
                </a:solidFill>
              </a:rPr>
              <a:t>• 문서 정의와 실제 데이터 도메인을 대조해 불일치 없음 확인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텍스트 개체 틀 3"/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pPr algn="r"/>
            <a:r>
              <a:rPr lang="en-US" altLang="ko-KR" sz="1600" dirty="0" smtClean="0"/>
              <a:t>T2</a:t>
            </a:r>
            <a:r>
              <a:rPr lang="ko-KR" altLang="en-US" sz="1600" dirty="0" smtClean="0"/>
              <a:t/>
            </a:r>
            <a:endParaRPr lang="ko-KR" altLang="en-US" sz="1600" dirty="0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ko-KR" altLang="en-US" dirty="0" smtClean="0"/>
              <a:t>T2 주문 취소/반품</a:t>
            </a:r>
            <a:r>
              <a:rPr lang="en-US" altLang="ko-KR" dirty="0" smtClean="0"/>
              <a:t/>
            </a:r>
            <a:endParaRPr lang="ko-KR" altLang="en-US" dirty="0"/>
          </a:p>
        </p:txBody>
      </p:sp>
      <p:sp>
        <p:nvSpPr>
          <p:cNvPr id="10" name="텍스트 개체 틀 4"/>
          <p:cNvSpPr>
            <a:spLocks noGrp="1"/>
          </p:cNvSpPr>
          <p:nvPr>
            <p:ph type="body" sz="quarter" idx="12"/>
          </p:nvPr>
        </p:nvSpPr>
        <p:spPr>
          <a:xfrm>
            <a:off x="234132" y="828303"/>
            <a:ext cx="7956884" cy="835266"/>
          </a:xfrm>
        </p:spPr>
        <p:txBody>
          <a:bodyPr vert="horz" lIns="91440" tIns="45720" rIns="91440" bIns="45720" rtlCol="0">
            <a:normAutofit/>
          </a:bodyPr>
          <a:lstStyle/>
          <a:p>
            <a:pPr defTabSz="914400">
              <a:spcBef>
                <a:spcPct val="20000"/>
              </a:spcBef>
            </a:pPr>
            <a:r>
              <a:rPr lang="en-US" altLang="ko-KR" sz="1600" dirty="0">
                <a:solidFill>
                  <a:srgbClr val="50646E"/>
                </a:solidFill>
              </a:rPr>
              <a:t>주문·배송 상태를 함께 갱신 (원자성)</a:t>
            </a:r>
            <a:r>
              <a:rPr lang="ko-KR" altLang="en-US" sz="1600" dirty="0">
                <a:solidFill>
                  <a:srgbClr val="50646E"/>
                </a:solidFill>
              </a:rPr>
              <a:t/>
            </a:r>
            <a:r>
              <a:rPr lang="en-US" altLang="ko-KR" sz="1600" dirty="0">
                <a:solidFill>
                  <a:srgbClr val="50646E"/>
                </a:solidFill>
              </a:rPr>
              <a:t/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17624" y="1764296"/>
          <a:ext cx="10058400" cy="15361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52800"/>
                <a:gridCol w="3352800"/>
                <a:gridCol w="3352800"/>
              </a:tblGrid>
              <a:tr h="384048">
                <a:tc>
                  <a:txBody>
                    <a:bodyPr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단계</a:t>
                      </a:r>
                    </a:p>
                  </a:txBody>
                  <a:tcPr anchor="ctr" marT="25400" marB="25400"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작업</a:t>
                      </a:r>
                    </a:p>
                  </a:txBody>
                  <a:tcPr anchor="ctr" marT="25400" marB="25400"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대상</a:t>
                      </a:r>
                    </a:p>
                  </a:txBody>
                  <a:tcPr anchor="ctr" marT="25400" marB="25400">
                    <a:solidFill>
                      <a:srgbClr val="1B2A4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222730"/>
                          </a:solidFill>
                        </a:rPr>
                        <a:t>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>
                          <a:solidFill>
                            <a:srgbClr val="222730"/>
                          </a:solidFill>
                        </a:rPr>
                        <a:t>주문 상태 → 취소/반품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>
                          <a:solidFill>
                            <a:srgbClr val="222730"/>
                          </a:solidFill>
                        </a:rPr>
                        <a:t>ORDERS.ORDER_STATUS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222730"/>
                          </a:solidFill>
                        </a:rPr>
                        <a:t>2</a:t>
                      </a:r>
                    </a:p>
                  </a:txBody>
                  <a:tcPr anchor="ctr" marT="12700" marB="12700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>
                          <a:solidFill>
                            <a:srgbClr val="222730"/>
                          </a:solidFill>
                        </a:rPr>
                        <a:t>배송 상태 → 반품</a:t>
                      </a:r>
                    </a:p>
                  </a:txBody>
                  <a:tcPr anchor="ctr" marT="12700" marB="12700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>
                          <a:solidFill>
                            <a:srgbClr val="222730"/>
                          </a:solidFill>
                        </a:rPr>
                        <a:t>SHIPMENTS.SHIPMENT_STATUS</a:t>
                      </a:r>
                    </a:p>
                  </a:txBody>
                  <a:tcPr anchor="ctr" marT="12700" marB="12700">
                    <a:solidFill>
                      <a:srgbClr val="F2F4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222730"/>
                          </a:solidFill>
                        </a:rPr>
                        <a:t>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>
                          <a:solidFill>
                            <a:srgbClr val="222730"/>
                          </a:solidFill>
                        </a:rPr>
                        <a:t>커밋/롤백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>
                          <a:solidFill>
                            <a:srgbClr val="222730"/>
                          </a:solidFill>
                        </a:rPr>
                        <a:t>두 UPDATE all-or-nothing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텍스트 개체 틀 3"/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pPr algn="r"/>
            <a:r>
              <a:rPr lang="en-US" altLang="ko-KR" sz="1600" dirty="0" smtClean="0"/>
              <a:t>T3</a:t>
            </a:r>
            <a:r>
              <a:rPr lang="ko-KR" altLang="en-US" sz="1600" dirty="0" smtClean="0"/>
              <a:t/>
            </a:r>
            <a:endParaRPr lang="ko-KR" altLang="en-US" sz="1600" dirty="0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ko-KR" altLang="en-US" dirty="0" smtClean="0"/>
              <a:t>T3 고객 탈퇴</a:t>
            </a:r>
            <a:r>
              <a:rPr lang="en-US" altLang="ko-KR" dirty="0" smtClean="0"/>
              <a:t/>
            </a:r>
            <a:endParaRPr lang="ko-KR" altLang="en-US" dirty="0"/>
          </a:p>
        </p:txBody>
      </p:sp>
      <p:sp>
        <p:nvSpPr>
          <p:cNvPr id="10" name="텍스트 개체 틀 4"/>
          <p:cNvSpPr>
            <a:spLocks noGrp="1"/>
          </p:cNvSpPr>
          <p:nvPr>
            <p:ph type="body" sz="quarter" idx="12"/>
          </p:nvPr>
        </p:nvSpPr>
        <p:spPr>
          <a:xfrm>
            <a:off x="234132" y="828303"/>
            <a:ext cx="7956884" cy="835266"/>
          </a:xfrm>
        </p:spPr>
        <p:txBody>
          <a:bodyPr vert="horz" lIns="91440" tIns="45720" rIns="91440" bIns="45720" rtlCol="0">
            <a:normAutofit/>
          </a:bodyPr>
          <a:lstStyle/>
          <a:p>
            <a:pPr defTabSz="914400">
              <a:spcBef>
                <a:spcPct val="20000"/>
              </a:spcBef>
            </a:pPr>
            <a:r>
              <a:rPr lang="en-US" altLang="ko-KR" sz="1600" dirty="0">
                <a:solidFill>
                  <a:srgbClr val="50646E"/>
                </a:solidFill>
              </a:rPr>
              <a:t>자식→부모 순서 DELETE (참조무결성)</a:t>
            </a:r>
            <a:r>
              <a:rPr lang="ko-KR" altLang="en-US" sz="1600" dirty="0">
                <a:solidFill>
                  <a:srgbClr val="50646E"/>
                </a:solidFill>
              </a:rPr>
              <a:t/>
            </a:r>
            <a:r>
              <a:rPr lang="en-US" altLang="ko-KR" sz="1600" dirty="0">
                <a:solidFill>
                  <a:srgbClr val="50646E"/>
                </a:solidFill>
              </a:rPr>
              <a:t/>
            </a:r>
          </a:p>
        </p:txBody>
      </p:sp>
      <p:sp>
        <p:nvSpPr>
          <p:cNvPr id="11" name="내용 개체 틀 10"/>
          <p:cNvSpPr>
            <a:spLocks noGrp="1"/>
          </p:cNvSpPr>
          <p:nvPr>
            <p:ph idx="13"/>
          </p:nvPr>
        </p:nvSpPr>
        <p:spPr/>
        <p:txBody>
          <a:bodyPr wrap="square"/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730"/>
                </a:solidFill>
              </a:rPr>
              <a:t>• 한 고객의 모든 흔적을 7개 테이블에서 삭제</a:t>
            </a:r>
            <a:endParaRPr lang="ko-KR" altLang="en-US" dirty="0"/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730"/>
                </a:solidFill>
              </a:rPr>
              <a:t>• 삭제 순서: INQUIRIES → SHIPMENTS → ORDER_ITEMS → ORDERS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730"/>
                </a:solidFill>
              </a:rPr>
              <a:t>• → SHIPMENT_ADDRESSES → CUST_CONTACTS → CUSTOMERS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730"/>
                </a:solidFill>
              </a:rPr>
              <a:t>• 순서를 어기면 ORA-02292(자식 존재)로 실패 → 참조무결성 증명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텍스트 개체 틀 3"/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pPr algn="r"/>
            <a:r>
              <a:rPr lang="en-US" altLang="ko-KR" sz="1600" dirty="0" smtClean="0"/>
              <a:t>T5·T6·T7</a:t>
            </a:r>
            <a:r>
              <a:rPr lang="ko-KR" altLang="en-US" sz="1600" dirty="0" smtClean="0"/>
              <a:t/>
            </a:r>
            <a:endParaRPr lang="ko-KR" altLang="en-US" sz="1600" dirty="0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ko-KR" altLang="en-US" dirty="0" smtClean="0"/>
              <a:t>T5·T6·T7 시나리오</a:t>
            </a:r>
            <a:r>
              <a:rPr lang="en-US" altLang="ko-KR" dirty="0" smtClean="0"/>
              <a:t/>
            </a:r>
            <a:endParaRPr lang="ko-KR" altLang="en-US" dirty="0"/>
          </a:p>
        </p:txBody>
      </p:sp>
      <p:sp>
        <p:nvSpPr>
          <p:cNvPr id="10" name="텍스트 개체 틀 4"/>
          <p:cNvSpPr>
            <a:spLocks noGrp="1"/>
          </p:cNvSpPr>
          <p:nvPr>
            <p:ph type="body" sz="quarter" idx="12"/>
          </p:nvPr>
        </p:nvSpPr>
        <p:spPr>
          <a:xfrm>
            <a:off x="234132" y="828303"/>
            <a:ext cx="7956884" cy="835266"/>
          </a:xfrm>
        </p:spPr>
        <p:txBody>
          <a:bodyPr vert="horz" lIns="91440" tIns="45720" rIns="91440" bIns="45720" rtlCol="0">
            <a:normAutofit/>
          </a:bodyPr>
          <a:lstStyle/>
          <a:p>
            <a:pPr defTabSz="914400">
              <a:spcBef>
                <a:spcPct val="20000"/>
              </a:spcBef>
            </a:pPr>
            <a:r>
              <a:rPr lang="en-US" altLang="ko-KR" sz="1600" dirty="0">
                <a:solidFill>
                  <a:srgbClr val="50646E"/>
                </a:solidFill>
              </a:rPr>
              <a:t>상태 전이·해지·가격 변경</a:t>
            </a:r>
            <a:r>
              <a:rPr lang="ko-KR" altLang="en-US" sz="1600" dirty="0">
                <a:solidFill>
                  <a:srgbClr val="50646E"/>
                </a:solidFill>
              </a:rPr>
              <a:t/>
            </a:r>
            <a:r>
              <a:rPr lang="en-US" altLang="ko-KR" sz="1600" dirty="0">
                <a:solidFill>
                  <a:srgbClr val="50646E"/>
                </a:solidFill>
              </a:rPr>
              <a:t/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17624" y="1764296"/>
          <a:ext cx="10058400" cy="15361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14600"/>
                <a:gridCol w="2514600"/>
                <a:gridCol w="2514600"/>
                <a:gridCol w="2514600"/>
              </a:tblGrid>
              <a:tr h="384048"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</a:rPr>
                        <a:t>#</a:t>
                      </a:r>
                    </a:p>
                  </a:txBody>
                  <a:tcPr anchor="ctr" marT="25400" marB="25400"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</a:rPr>
                        <a:t>트랜잭션</a:t>
                      </a:r>
                    </a:p>
                  </a:txBody>
                  <a:tcPr anchor="ctr" marT="25400" marB="25400"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</a:rPr>
                        <a:t>핵심 연산</a:t>
                      </a:r>
                    </a:p>
                  </a:txBody>
                  <a:tcPr anchor="ctr" marT="25400" marB="25400"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</a:rPr>
                        <a:t>증명</a:t>
                      </a:r>
                    </a:p>
                  </a:txBody>
                  <a:tcPr anchor="ctr" marT="25400" marB="25400">
                    <a:solidFill>
                      <a:srgbClr val="1B2A4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222730"/>
                          </a:solidFill>
                        </a:rPr>
                        <a:t>T5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222730"/>
                          </a:solidFill>
                        </a:rPr>
                        <a:t>배송 시작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222730"/>
                          </a:solidFill>
                        </a:rPr>
                        <a:t>SHIPMENTS UPDATE + 이력 INSERT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222730"/>
                          </a:solidFill>
                        </a:rPr>
                        <a:t>원자성·일관성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222730"/>
                          </a:solidFill>
                        </a:rPr>
                        <a:t>T6</a:t>
                      </a:r>
                    </a:p>
                  </a:txBody>
                  <a:tcPr anchor="ctr" marT="12700" marB="12700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222730"/>
                          </a:solidFill>
                        </a:rPr>
                        <a:t>협력업체 해지</a:t>
                      </a:r>
                    </a:p>
                  </a:txBody>
                  <a:tcPr anchor="ctr" marT="12700" marB="12700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222730"/>
                          </a:solidFill>
                        </a:rPr>
                        <a:t>CORPORATIONS DELETE</a:t>
                      </a:r>
                    </a:p>
                  </a:txBody>
                  <a:tcPr anchor="ctr" marT="12700" marB="12700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222730"/>
                          </a:solidFill>
                        </a:rPr>
                        <a:t>참조무결성(ORA-02292)</a:t>
                      </a:r>
                    </a:p>
                  </a:txBody>
                  <a:tcPr anchor="ctr" marT="12700" marB="12700">
                    <a:solidFill>
                      <a:srgbClr val="F2F4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222730"/>
                          </a:solidFill>
                        </a:rPr>
                        <a:t>T7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222730"/>
                          </a:solidFill>
                        </a:rPr>
                        <a:t>상품 가격 변경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222730"/>
                          </a:solidFill>
                        </a:rPr>
                        <a:t>PRODUCTS.PRODUCT_PRICE UPDATE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222730"/>
                          </a:solidFill>
                        </a:rPr>
                        <a:t>과거 주문 금액 불변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텍스트 개체 틀 3"/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pPr algn="r"/>
            <a:r>
              <a:rPr lang="en-US" altLang="ko-KR" sz="1600" dirty="0" smtClean="0"/>
              <a:t>Failure</a:t>
            </a:r>
            <a:r>
              <a:rPr lang="ko-KR" altLang="en-US" sz="1600" dirty="0" smtClean="0"/>
              <a:t/>
            </a:r>
            <a:endParaRPr lang="ko-KR" altLang="en-US" sz="1600" dirty="0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ko-KR" altLang="en-US" dirty="0" smtClean="0"/>
              <a:t>실패 경로 — 무결성 오류</a:t>
            </a:r>
            <a:r>
              <a:rPr lang="en-US" altLang="ko-KR" dirty="0" smtClean="0"/>
              <a:t/>
            </a:r>
            <a:endParaRPr lang="ko-KR" altLang="en-US" dirty="0"/>
          </a:p>
        </p:txBody>
      </p:sp>
      <p:sp>
        <p:nvSpPr>
          <p:cNvPr id="10" name="텍스트 개체 틀 4"/>
          <p:cNvSpPr>
            <a:spLocks noGrp="1"/>
          </p:cNvSpPr>
          <p:nvPr>
            <p:ph type="body" sz="quarter" idx="12"/>
          </p:nvPr>
        </p:nvSpPr>
        <p:spPr>
          <a:xfrm>
            <a:off x="234132" y="828303"/>
            <a:ext cx="7956884" cy="835266"/>
          </a:xfrm>
        </p:spPr>
        <p:txBody>
          <a:bodyPr vert="horz" lIns="91440" tIns="45720" rIns="91440" bIns="45720" rtlCol="0">
            <a:normAutofit/>
          </a:bodyPr>
          <a:lstStyle/>
          <a:p>
            <a:pPr defTabSz="914400">
              <a:spcBef>
                <a:spcPct val="20000"/>
              </a:spcBef>
            </a:pPr>
            <a:r>
              <a:rPr lang="en-US" altLang="ko-KR" sz="1600" dirty="0">
                <a:solidFill>
                  <a:srgbClr val="50646E"/>
                </a:solidFill>
              </a:rPr>
              <a:t>일부러 위반해 제약이 막는지 확인</a:t>
            </a:r>
            <a:r>
              <a:rPr lang="ko-KR" altLang="en-US" sz="1600" dirty="0">
                <a:solidFill>
                  <a:srgbClr val="50646E"/>
                </a:solidFill>
              </a:rPr>
              <a:t/>
            </a:r>
            <a:r>
              <a:rPr lang="en-US" altLang="ko-KR" sz="1600" dirty="0">
                <a:solidFill>
                  <a:srgbClr val="50646E"/>
                </a:solidFill>
              </a:rPr>
              <a:t/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17624" y="1764296"/>
          <a:ext cx="10058400" cy="15361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52800"/>
                <a:gridCol w="3352800"/>
                <a:gridCol w="3352800"/>
              </a:tblGrid>
              <a:tr h="384048">
                <a:tc>
                  <a:txBody>
                    <a:bodyPr/>
                    <a:lstStyle/>
                    <a:p>
                      <a:pPr algn="ctr"/>
                      <a:r>
                        <a:rPr b="1" sz="1150">
                          <a:solidFill>
                            <a:srgbClr val="FFFFFF"/>
                          </a:solidFill>
                        </a:rPr>
                        <a:t>오류</a:t>
                      </a:r>
                    </a:p>
                  </a:txBody>
                  <a:tcPr anchor="ctr" marT="25400" marB="25400"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150">
                          <a:solidFill>
                            <a:srgbClr val="FFFFFF"/>
                          </a:solidFill>
                        </a:rPr>
                        <a:t>상황</a:t>
                      </a:r>
                    </a:p>
                  </a:txBody>
                  <a:tcPr anchor="ctr" marT="25400" marB="25400"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150">
                          <a:solidFill>
                            <a:srgbClr val="FFFFFF"/>
                          </a:solidFill>
                        </a:rPr>
                        <a:t>의미</a:t>
                      </a:r>
                    </a:p>
                  </a:txBody>
                  <a:tcPr anchor="ctr" marT="25400" marB="25400">
                    <a:solidFill>
                      <a:srgbClr val="1B2A4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222730"/>
                          </a:solidFill>
                        </a:rPr>
                        <a:t>ORA-02291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22730"/>
                          </a:solidFill>
                        </a:rPr>
                        <a:t>부모 없는 FK로 INSERT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22730"/>
                          </a:solidFill>
                        </a:rPr>
                        <a:t>참조 무결성 위반(자식→부모)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222730"/>
                          </a:solidFill>
                        </a:rPr>
                        <a:t>ORA-02292</a:t>
                      </a:r>
                    </a:p>
                  </a:txBody>
                  <a:tcPr anchor="ctr" marT="12700" marB="12700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22730"/>
                          </a:solidFill>
                        </a:rPr>
                        <a:t>자식이 있는 부모 DELETE</a:t>
                      </a:r>
                    </a:p>
                  </a:txBody>
                  <a:tcPr anchor="ctr" marT="12700" marB="12700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22730"/>
                          </a:solidFill>
                        </a:rPr>
                        <a:t>참조 무결성 위반(부모→자식)</a:t>
                      </a:r>
                    </a:p>
                  </a:txBody>
                  <a:tcPr anchor="ctr" marT="12700" marB="12700">
                    <a:solidFill>
                      <a:srgbClr val="F2F4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222730"/>
                          </a:solidFill>
                        </a:rPr>
                        <a:t>ORA-00001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22730"/>
                          </a:solidFill>
                        </a:rPr>
                        <a:t>PK 중복 INSERT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22730"/>
                          </a:solidFill>
                        </a:rPr>
                        <a:t>고유성 위반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텍스트 개체 틀 3"/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pPr algn="r"/>
            <a:r>
              <a:rPr lang="en-US" altLang="ko-KR" sz="1600" dirty="0" smtClean="0"/>
              <a:t>Stat</a:t>
            </a:r>
            <a:r>
              <a:rPr lang="ko-KR" altLang="en-US" sz="1600" dirty="0" smtClean="0"/>
              <a:t/>
            </a:r>
            <a:endParaRPr lang="ko-KR" altLang="en-US" sz="1600" dirty="0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ko-KR" altLang="en-US" dirty="0" smtClean="0"/>
              <a:t>스키마 규모 요약</a:t>
            </a:r>
            <a:r>
              <a:rPr lang="en-US" altLang="ko-KR" dirty="0" smtClean="0"/>
              <a:t/>
            </a:r>
            <a:endParaRPr lang="ko-KR" altLang="en-US" dirty="0"/>
          </a:p>
        </p:txBody>
      </p:sp>
      <p:sp>
        <p:nvSpPr>
          <p:cNvPr id="10" name="텍스트 개체 틀 4"/>
          <p:cNvSpPr>
            <a:spLocks noGrp="1"/>
          </p:cNvSpPr>
          <p:nvPr>
            <p:ph type="body" sz="quarter" idx="12"/>
          </p:nvPr>
        </p:nvSpPr>
        <p:spPr>
          <a:xfrm>
            <a:off x="234132" y="828303"/>
            <a:ext cx="7956884" cy="835266"/>
          </a:xfrm>
        </p:spPr>
        <p:txBody>
          <a:bodyPr vert="horz" lIns="91440" tIns="45720" rIns="91440" bIns="45720" rtlCol="0">
            <a:normAutofit/>
          </a:bodyPr>
          <a:lstStyle/>
          <a:p>
            <a:pPr defTabSz="914400">
              <a:spcBef>
                <a:spcPct val="20000"/>
              </a:spcBef>
            </a:pPr>
            <a:r>
              <a:rPr lang="en-US" altLang="ko-KR" sz="1600" dirty="0">
                <a:solidFill>
                  <a:srgbClr val="50646E"/>
                </a:solidFill>
              </a:rPr>
              <a:t>한눈에 보는 BO 스키마</a:t>
            </a:r>
            <a:r>
              <a:rPr lang="ko-KR" altLang="en-US" sz="1600" dirty="0">
                <a:solidFill>
                  <a:srgbClr val="50646E"/>
                </a:solidFill>
              </a:rPr>
              <a:t/>
            </a:r>
            <a:r>
              <a:rPr lang="en-US" altLang="ko-KR" sz="1600" dirty="0">
                <a:solidFill>
                  <a:srgbClr val="50646E"/>
                </a:solidFill>
              </a:rPr>
              <a:t/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17624" y="1764296"/>
          <a:ext cx="10058400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52800"/>
                <a:gridCol w="3352800"/>
                <a:gridCol w="3352800"/>
              </a:tblGrid>
              <a:tr h="384048">
                <a:tc>
                  <a:txBody>
                    <a:bodyPr/>
                    <a:lstStyle/>
                    <a:p>
                      <a:pPr algn="ctr"/>
                      <a:r>
                        <a:rPr b="1" sz="1150">
                          <a:solidFill>
                            <a:srgbClr val="FFFFFF"/>
                          </a:solidFill>
                        </a:rPr>
                        <a:t>구분</a:t>
                      </a:r>
                    </a:p>
                  </a:txBody>
                  <a:tcPr anchor="ctr" marT="25400" marB="25400"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150">
                          <a:solidFill>
                            <a:srgbClr val="FFFFFF"/>
                          </a:solidFill>
                        </a:rPr>
                        <a:t>수량</a:t>
                      </a:r>
                    </a:p>
                  </a:txBody>
                  <a:tcPr anchor="ctr" marT="25400" marB="25400"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150">
                          <a:solidFill>
                            <a:srgbClr val="FFFFFF"/>
                          </a:solidFill>
                        </a:rPr>
                        <a:t>비고</a:t>
                      </a:r>
                    </a:p>
                  </a:txBody>
                  <a:tcPr anchor="ctr" marT="25400" marB="25400">
                    <a:solidFill>
                      <a:srgbClr val="1B2A4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222730"/>
                          </a:solidFill>
                        </a:rPr>
                        <a:t>업무 테이블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22730"/>
                          </a:solidFill>
                        </a:rPr>
                        <a:t>12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22730"/>
                          </a:solidFill>
                        </a:rPr>
                        <a:t>6개 도메인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222730"/>
                          </a:solidFill>
                        </a:rPr>
                        <a:t>비업무(스크래치)</a:t>
                      </a:r>
                    </a:p>
                  </a:txBody>
                  <a:tcPr anchor="ctr" marT="12700" marB="12700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22730"/>
                          </a:solidFill>
                        </a:rPr>
                        <a:t>4</a:t>
                      </a:r>
                    </a:p>
                  </a:txBody>
                  <a:tcPr anchor="ctr" marT="12700" marB="12700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22730"/>
                          </a:solidFill>
                        </a:rPr>
                        <a:t>실습 보조</a:t>
                      </a:r>
                    </a:p>
                  </a:txBody>
                  <a:tcPr anchor="ctr" marT="12700" marB="12700">
                    <a:solidFill>
                      <a:srgbClr val="F2F4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222730"/>
                          </a:solidFill>
                        </a:rPr>
                        <a:t>FK 관계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22730"/>
                          </a:solidFill>
                        </a:rPr>
                        <a:t>18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22730"/>
                          </a:solidFill>
                        </a:rPr>
                        <a:t>자식→부모 참조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222730"/>
                          </a:solidFill>
                        </a:rPr>
                        <a:t>도메인</a:t>
                      </a:r>
                    </a:p>
                  </a:txBody>
                  <a:tcPr anchor="ctr" marT="12700" marB="12700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22730"/>
                          </a:solidFill>
                        </a:rPr>
                        <a:t>6</a:t>
                      </a:r>
                    </a:p>
                  </a:txBody>
                  <a:tcPr anchor="ctr" marT="12700" marB="12700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22730"/>
                          </a:solidFill>
                        </a:rPr>
                        <a:t>고객·주문·상품·배송·문의·조직</a:t>
                      </a:r>
                    </a:p>
                  </a:txBody>
                  <a:tcPr anchor="ctr" marT="12700" marB="12700">
                    <a:solidFill>
                      <a:srgbClr val="F2F4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222730"/>
                          </a:solidFill>
                        </a:rPr>
                        <a:t>최대 테이블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22730"/>
                          </a:solidFill>
                        </a:rPr>
                        <a:t>ORDER_ITEMS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22730"/>
                          </a:solidFill>
                        </a:rPr>
                        <a:t>약 5,000,000건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텍스트 개체 틀 3"/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pPr algn="r"/>
            <a:r>
              <a:rPr lang="en-US" altLang="ko-KR" sz="1600" dirty="0" smtClean="0"/>
              <a:t>Scratch</a:t>
            </a:r>
            <a:r>
              <a:rPr lang="ko-KR" altLang="en-US" sz="1600" dirty="0" smtClean="0"/>
              <a:t/>
            </a:r>
            <a:endParaRPr lang="ko-KR" altLang="en-US" sz="1600" dirty="0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ko-KR" altLang="en-US" dirty="0" smtClean="0"/>
              <a:t>비업무 테이블 4종</a:t>
            </a:r>
            <a:r>
              <a:rPr lang="en-US" altLang="ko-KR" dirty="0" smtClean="0"/>
              <a:t/>
            </a:r>
            <a:endParaRPr lang="ko-KR" altLang="en-US" dirty="0"/>
          </a:p>
        </p:txBody>
      </p:sp>
      <p:sp>
        <p:nvSpPr>
          <p:cNvPr id="10" name="텍스트 개체 틀 4"/>
          <p:cNvSpPr>
            <a:spLocks noGrp="1"/>
          </p:cNvSpPr>
          <p:nvPr>
            <p:ph type="body" sz="quarter" idx="12"/>
          </p:nvPr>
        </p:nvSpPr>
        <p:spPr>
          <a:xfrm>
            <a:off x="234132" y="828303"/>
            <a:ext cx="7956884" cy="835266"/>
          </a:xfrm>
        </p:spPr>
        <p:txBody>
          <a:bodyPr vert="horz" lIns="91440" tIns="45720" rIns="91440" bIns="45720" rtlCol="0">
            <a:normAutofit/>
          </a:bodyPr>
          <a:lstStyle/>
          <a:p>
            <a:pPr defTabSz="914400">
              <a:spcBef>
                <a:spcPct val="20000"/>
              </a:spcBef>
            </a:pPr>
            <a:r>
              <a:rPr lang="en-US" altLang="ko-KR" sz="1600" dirty="0">
                <a:solidFill>
                  <a:srgbClr val="50646E"/>
                </a:solidFill>
              </a:rPr>
              <a:t>업무 ERD와 구분해 제외</a:t>
            </a:r>
            <a:r>
              <a:rPr lang="ko-KR" altLang="en-US" sz="1600" dirty="0">
                <a:solidFill>
                  <a:srgbClr val="50646E"/>
                </a:solidFill>
              </a:rPr>
              <a:t/>
            </a:r>
            <a:r>
              <a:rPr lang="en-US" altLang="ko-KR" sz="1600" dirty="0">
                <a:solidFill>
                  <a:srgbClr val="50646E"/>
                </a:solidFill>
              </a:rPr>
              <a:t/>
            </a:r>
          </a:p>
        </p:txBody>
      </p:sp>
      <p:sp>
        <p:nvSpPr>
          <p:cNvPr id="11" name="내용 개체 틀 10"/>
          <p:cNvSpPr>
            <a:spLocks noGrp="1"/>
          </p:cNvSpPr>
          <p:nvPr>
            <p:ph idx="13"/>
          </p:nvPr>
        </p:nvSpPr>
        <p:spPr/>
        <p:txBody>
          <a:bodyPr wrap="square"/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730"/>
                </a:solidFill>
              </a:rPr>
              <a:t>• 설치·실습 과정에서 생성된 스크래치/샘플성 테이블</a:t>
            </a:r>
            <a:endParaRPr lang="ko-KR" altLang="en-US" dirty="0"/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730"/>
                </a:solidFill>
              </a:rPr>
              <a:t>• 업무 규칙(PK/FK 체인)에 포함되지 않아 ERD 분석 대상에서 제외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730"/>
                </a:solidFill>
              </a:rPr>
              <a:t>• 역공학 시 USER_TABLES 전수 조회 후 업무 12개만 선별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730"/>
                </a:solidFill>
              </a:rPr>
              <a:t>• 분석 범위를 명확히 해 도메인 해석의 노이즈 제거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텍스트 개체 틀 3"/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pPr algn="r"/>
            <a:r>
              <a:rPr lang="en-US" altLang="ko-KR" sz="1600" dirty="0" smtClean="0"/>
              <a:t>Risk</a:t>
            </a:r>
            <a:r>
              <a:rPr lang="ko-KR" altLang="en-US" sz="1600" dirty="0" smtClean="0"/>
              <a:t/>
            </a:r>
            <a:endParaRPr lang="ko-KR" altLang="en-US" sz="1600" dirty="0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ko-KR" altLang="en-US" dirty="0" smtClean="0"/>
              <a:t>왜 다중 테이블 갱신인가</a:t>
            </a:r>
            <a:r>
              <a:rPr lang="en-US" altLang="ko-KR" dirty="0" smtClean="0"/>
              <a:t/>
            </a:r>
            <a:endParaRPr lang="ko-KR" altLang="en-US" dirty="0"/>
          </a:p>
        </p:txBody>
      </p:sp>
      <p:sp>
        <p:nvSpPr>
          <p:cNvPr id="10" name="텍스트 개체 틀 4"/>
          <p:cNvSpPr>
            <a:spLocks noGrp="1"/>
          </p:cNvSpPr>
          <p:nvPr>
            <p:ph type="body" sz="quarter" idx="12"/>
          </p:nvPr>
        </p:nvSpPr>
        <p:spPr>
          <a:xfrm>
            <a:off x="234132" y="828303"/>
            <a:ext cx="7956884" cy="835266"/>
          </a:xfrm>
        </p:spPr>
        <p:txBody>
          <a:bodyPr vert="horz" lIns="91440" tIns="45720" rIns="91440" bIns="45720" rtlCol="0">
            <a:normAutofit/>
          </a:bodyPr>
          <a:lstStyle/>
          <a:p>
            <a:pPr defTabSz="914400">
              <a:spcBef>
                <a:spcPct val="20000"/>
              </a:spcBef>
            </a:pPr>
            <a:r>
              <a:rPr lang="en-US" altLang="ko-KR" sz="1600" dirty="0">
                <a:solidFill>
                  <a:srgbClr val="50646E"/>
                </a:solidFill>
              </a:rPr>
              <a:t>정합성 리스크가 큰 지점을 선별</a:t>
            </a:r>
            <a:r>
              <a:rPr lang="ko-KR" altLang="en-US" sz="1600" dirty="0">
                <a:solidFill>
                  <a:srgbClr val="50646E"/>
                </a:solidFill>
              </a:rPr>
              <a:t/>
            </a:r>
            <a:r>
              <a:rPr lang="en-US" altLang="ko-KR" sz="1600" dirty="0">
                <a:solidFill>
                  <a:srgbClr val="50646E"/>
                </a:solidFill>
              </a:rPr>
              <a:t/>
            </a:r>
          </a:p>
        </p:txBody>
      </p:sp>
      <p:sp>
        <p:nvSpPr>
          <p:cNvPr id="11" name="내용 개체 틀 10"/>
          <p:cNvSpPr>
            <a:spLocks noGrp="1"/>
          </p:cNvSpPr>
          <p:nvPr>
            <p:ph idx="13"/>
          </p:nvPr>
        </p:nvSpPr>
        <p:spPr/>
        <p:txBody>
          <a:bodyPr wrap="square"/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730"/>
                </a:solidFill>
              </a:rPr>
              <a:t>• 단일 테이블 갱신은 제약만으로 충분</a:t>
            </a:r>
            <a:endParaRPr lang="ko-KR" altLang="en-US" dirty="0"/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730"/>
                </a:solidFill>
              </a:rPr>
              <a:t>• 주문·배송·상세처럼 여러 테이블을 함께 바꿀 때 부분실패 위험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730"/>
                </a:solidFill>
              </a:rPr>
              <a:t>• 부분실패 = 헤더만 있고 상세 없는 미완성 데이터(이상치 사례)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730"/>
                </a:solidFill>
              </a:rPr>
              <a:t>• → 하나의 트랜잭션으로 묶어 all-or-nothing 보장이 핵심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텍스트 개체 틀 3"/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pPr algn="r"/>
            <a:r>
              <a:rPr lang="en-US" altLang="ko-KR" sz="1600" dirty="0" smtClean="0"/>
              <a:t>T4</a:t>
            </a:r>
            <a:r>
              <a:rPr lang="ko-KR" altLang="en-US" sz="1600" dirty="0" smtClean="0"/>
              <a:t/>
            </a:r>
            <a:endParaRPr lang="ko-KR" altLang="en-US" sz="1600" dirty="0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ko-KR" altLang="en-US" dirty="0" smtClean="0"/>
              <a:t>T4 상담 등록</a:t>
            </a:r>
            <a:r>
              <a:rPr lang="en-US" altLang="ko-KR" dirty="0" smtClean="0"/>
              <a:t/>
            </a:r>
            <a:endParaRPr lang="ko-KR" altLang="en-US" dirty="0"/>
          </a:p>
        </p:txBody>
      </p:sp>
      <p:sp>
        <p:nvSpPr>
          <p:cNvPr id="10" name="텍스트 개체 틀 4"/>
          <p:cNvSpPr>
            <a:spLocks noGrp="1"/>
          </p:cNvSpPr>
          <p:nvPr>
            <p:ph type="body" sz="quarter" idx="12"/>
          </p:nvPr>
        </p:nvSpPr>
        <p:spPr>
          <a:xfrm>
            <a:off x="234132" y="828303"/>
            <a:ext cx="7956884" cy="835266"/>
          </a:xfrm>
        </p:spPr>
        <p:txBody>
          <a:bodyPr vert="horz" lIns="91440" tIns="45720" rIns="91440" bIns="45720" rtlCol="0">
            <a:normAutofit/>
          </a:bodyPr>
          <a:lstStyle/>
          <a:p>
            <a:pPr defTabSz="914400">
              <a:spcBef>
                <a:spcPct val="20000"/>
              </a:spcBef>
            </a:pPr>
            <a:r>
              <a:rPr lang="en-US" altLang="ko-KR" sz="1600" dirty="0">
                <a:solidFill>
                  <a:srgbClr val="50646E"/>
                </a:solidFill>
              </a:rPr>
              <a:t>nullable FK로 느슨히 연결된 티켓</a:t>
            </a:r>
            <a:r>
              <a:rPr lang="ko-KR" altLang="en-US" sz="1600" dirty="0">
                <a:solidFill>
                  <a:srgbClr val="50646E"/>
                </a:solidFill>
              </a:rPr>
              <a:t/>
            </a:r>
            <a:r>
              <a:rPr lang="en-US" altLang="ko-KR" sz="1600" dirty="0">
                <a:solidFill>
                  <a:srgbClr val="50646E"/>
                </a:solidFill>
              </a:rPr>
              <a:t/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17624" y="1764296"/>
          <a:ext cx="10058400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9200"/>
                <a:gridCol w="5029200"/>
              </a:tblGrid>
              <a:tr h="384048">
                <a:tc>
                  <a:txBody>
                    <a:bodyPr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항목</a:t>
                      </a:r>
                    </a:p>
                  </a:txBody>
                  <a:tcPr anchor="ctr" marT="25400" marB="25400"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내용</a:t>
                      </a:r>
                    </a:p>
                  </a:txBody>
                  <a:tcPr anchor="ctr" marT="25400" marB="25400">
                    <a:solidFill>
                      <a:srgbClr val="1B2A4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222730"/>
                          </a:solidFill>
                        </a:rPr>
                        <a:t>대상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>
                          <a:solidFill>
                            <a:srgbClr val="222730"/>
                          </a:solidFill>
                        </a:rPr>
                        <a:t>INQUIRIES INSERT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222730"/>
                          </a:solidFill>
                        </a:rPr>
                        <a:t>연결</a:t>
                      </a:r>
                    </a:p>
                  </a:txBody>
                  <a:tcPr anchor="ctr" marT="12700" marB="12700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>
                          <a:solidFill>
                            <a:srgbClr val="222730"/>
                          </a:solidFill>
                        </a:rPr>
                        <a:t>ORDER_ID/PRODUCT_ID nullable FK</a:t>
                      </a:r>
                    </a:p>
                  </a:txBody>
                  <a:tcPr anchor="ctr" marT="12700" marB="12700">
                    <a:solidFill>
                      <a:srgbClr val="F2F4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222730"/>
                          </a:solidFill>
                        </a:rPr>
                        <a:t>상담사원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>
                          <a:solidFill>
                            <a:srgbClr val="222730"/>
                          </a:solidFill>
                        </a:rPr>
                        <a:t>EMP_ID FK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222730"/>
                          </a:solidFill>
                        </a:rPr>
                        <a:t>일관성</a:t>
                      </a:r>
                    </a:p>
                  </a:txBody>
                  <a:tcPr anchor="ctr" marT="12700" marB="12700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>
                          <a:solidFill>
                            <a:srgbClr val="222730"/>
                          </a:solidFill>
                        </a:rPr>
                        <a:t>존재하지 않는 주문/상품 참조 시 차단</a:t>
                      </a:r>
                    </a:p>
                  </a:txBody>
                  <a:tcPr anchor="ctr" marT="12700" marB="12700">
                    <a:solidFill>
                      <a:srgbClr val="F2F4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222730"/>
                          </a:solidFill>
                        </a:rPr>
                        <a:t>상태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>
                          <a:solidFill>
                            <a:srgbClr val="222730"/>
                          </a:solidFill>
                        </a:rPr>
                        <a:t>INQ_STATUS 1(대기)→2(완료)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텍스트 개체 틀 3"/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pPr algn="r"/>
            <a:r>
              <a:rPr lang="en-US" altLang="ko-KR" sz="1600" dirty="0" smtClean="0"/>
              <a:t>Design</a:t>
            </a:r>
            <a:r>
              <a:rPr lang="ko-KR" altLang="en-US" sz="1600" dirty="0" smtClean="0"/>
              <a:t/>
            </a:r>
            <a:endParaRPr lang="ko-KR" altLang="en-US" sz="1600" dirty="0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ko-KR" altLang="en-US" dirty="0" smtClean="0"/>
              <a:t>트랜잭션 설계 원칙</a:t>
            </a:r>
            <a:r>
              <a:rPr lang="en-US" altLang="ko-KR" dirty="0" smtClean="0"/>
              <a:t/>
            </a:r>
            <a:endParaRPr lang="ko-KR" altLang="en-US" dirty="0"/>
          </a:p>
        </p:txBody>
      </p:sp>
      <p:sp>
        <p:nvSpPr>
          <p:cNvPr id="10" name="텍스트 개체 틀 4"/>
          <p:cNvSpPr>
            <a:spLocks noGrp="1"/>
          </p:cNvSpPr>
          <p:nvPr>
            <p:ph type="body" sz="quarter" idx="12"/>
          </p:nvPr>
        </p:nvSpPr>
        <p:spPr>
          <a:xfrm>
            <a:off x="234132" y="828303"/>
            <a:ext cx="7956884" cy="835266"/>
          </a:xfrm>
        </p:spPr>
        <p:txBody>
          <a:bodyPr vert="horz" lIns="91440" tIns="45720" rIns="91440" bIns="45720" rtlCol="0">
            <a:normAutofit/>
          </a:bodyPr>
          <a:lstStyle/>
          <a:p>
            <a:pPr defTabSz="914400">
              <a:spcBef>
                <a:spcPct val="20000"/>
              </a:spcBef>
            </a:pPr>
            <a:r>
              <a:rPr lang="en-US" altLang="ko-KR" sz="1600" dirty="0">
                <a:solidFill>
                  <a:srgbClr val="50646E"/>
                </a:solidFill>
              </a:rPr>
              <a:t>정합성을 코드가 아니라 경계로 보장</a:t>
            </a:r>
            <a:r>
              <a:rPr lang="ko-KR" altLang="en-US" sz="1600" dirty="0">
                <a:solidFill>
                  <a:srgbClr val="50646E"/>
                </a:solidFill>
              </a:rPr>
              <a:t/>
            </a:r>
            <a:r>
              <a:rPr lang="en-US" altLang="ko-KR" sz="1600" dirty="0">
                <a:solidFill>
                  <a:srgbClr val="50646E"/>
                </a:solidFill>
              </a:rPr>
              <a:t/>
            </a:r>
          </a:p>
        </p:txBody>
      </p:sp>
      <p:sp>
        <p:nvSpPr>
          <p:cNvPr id="11" name="내용 개체 틀 10"/>
          <p:cNvSpPr>
            <a:spLocks noGrp="1"/>
          </p:cNvSpPr>
          <p:nvPr>
            <p:ph idx="13"/>
          </p:nvPr>
        </p:nvSpPr>
        <p:spPr/>
        <p:txBody>
          <a:bodyPr wrap="square"/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730"/>
                </a:solidFill>
              </a:rPr>
              <a:t>• 연관된 다중 갱신은 하나의 트랜잭션 경계로 묶는다</a:t>
            </a:r>
            <a:endParaRPr lang="ko-KR" altLang="en-US" dirty="0"/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730"/>
                </a:solidFill>
              </a:rPr>
              <a:t>• 실패 시 전체 롤백 → 중간 상태를 외부에 노출하지 않음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730"/>
                </a:solidFill>
              </a:rPr>
              <a:t>• 제약(PK/FK)은 마지막 안전망, 트랜잭션 경계가 1차 방어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730"/>
                </a:solidFill>
              </a:rPr>
              <a:t>• 성공/실패 경로를 모두 시험해 속성별로 증명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제목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SQL 튜닝 및 인덱스 전략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ko-KR" altLang="en-US" dirty="0"/>
              <a:t/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10"/>
          </p:nvPr>
        </p:nvSpPr>
        <p:spPr/>
        <p:txBody>
          <a:bodyPr anchor="ctr"/>
          <a:lstStyle/>
          <a:p>
            <a:pPr>
              <a:lnSpc>
                <a:spcPct val="150000"/>
              </a:lnSpc>
            </a:pPr>
            <a:r>
              <a:rPr lang="en-US" altLang="ko-KR" dirty="0">
                <a:latin typeface="다키 L" pitchFamily="2" charset="-127"/>
                <a:ea typeface="다키 L" pitchFamily="2" charset="-127"/>
              </a:rPr>
              <a:t>1) 실행계획 분석 방법   2) FTS vs Index Range Scan   3) 복합 인덱스 컬럼 순서</a:t>
            </a:r>
            <a:r>
              <a:rPr lang="ko-KR" altLang="en-US" dirty="0">
                <a:latin typeface="다키 L" pitchFamily="2" charset="-127"/>
                <a:ea typeface="다키 L" pitchFamily="2" charset="-127"/>
              </a:rPr>
              <a:t/>
            </a:r>
            <a:r>
              <a:rPr lang="en-US" altLang="ko-KR" dirty="0">
                <a:latin typeface="다키 L" pitchFamily="2" charset="-127"/>
                <a:ea typeface="다키 L" pitchFamily="2" charset="-127"/>
              </a:rPr>
              <a:t/>
            </a:r>
          </a:p>
        </p:txBody>
      </p:sp>
      <p:sp>
        <p:nvSpPr>
          <p:cNvPr id="6" name="텍스트 개체 틀 5"/>
          <p:cNvSpPr>
            <a:spLocks noGrp="1"/>
          </p:cNvSpPr>
          <p:nvPr>
            <p:ph type="body" sz="quarter" idx="11"/>
          </p:nvPr>
        </p:nvSpPr>
        <p:spPr/>
        <p:txBody>
          <a:bodyPr>
            <a:noAutofit/>
          </a:bodyPr>
          <a:lstStyle/>
          <a:p>
            <a:r>
              <a:rPr lang="en-US" altLang="ko-KR" sz="6000" dirty="0" smtClean="0">
                <a:solidFill>
                  <a:srgbClr val="2484C6"/>
                </a:solidFill>
                <a:latin typeface="다키 M Title" pitchFamily="2" charset="-127"/>
                <a:ea typeface="다키 M Title" pitchFamily="2" charset="-127"/>
              </a:rPr>
              <a:t>02</a:t>
            </a:r>
            <a:endParaRPr lang="ko-KR" altLang="en-US" sz="6000" dirty="0">
              <a:solidFill>
                <a:srgbClr val="2484C6"/>
              </a:solidFill>
              <a:latin typeface="다키 M Title" pitchFamily="2" charset="-127"/>
              <a:ea typeface="다키 M Title" pitchFamily="2" charset="-127"/>
            </a:endParaRP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텍스트 개체 틀 3"/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pPr algn="r"/>
            <a:r>
              <a:rPr lang="en-US" altLang="ko-KR" sz="1600" dirty="0" smtClean="0"/>
              <a:t>Overview</a:t>
            </a:r>
            <a:r>
              <a:rPr lang="ko-KR" altLang="en-US" sz="1600" dirty="0" smtClean="0"/>
              <a:t/>
            </a:r>
            <a:endParaRPr lang="ko-KR" altLang="en-US" sz="1600" dirty="0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ko-KR" altLang="en-US" dirty="0" smtClean="0"/>
              <a:t>개요 — 튜닝 = 접근 경로 유도</a:t>
            </a:r>
            <a:r>
              <a:rPr lang="en-US" altLang="ko-KR" dirty="0" smtClean="0"/>
              <a:t/>
            </a:r>
            <a:endParaRPr lang="ko-KR" altLang="en-US" dirty="0"/>
          </a:p>
        </p:txBody>
      </p:sp>
      <p:sp>
        <p:nvSpPr>
          <p:cNvPr id="10" name="텍스트 개체 틀 4"/>
          <p:cNvSpPr>
            <a:spLocks noGrp="1"/>
          </p:cNvSpPr>
          <p:nvPr>
            <p:ph type="body" sz="quarter" idx="12"/>
          </p:nvPr>
        </p:nvSpPr>
        <p:spPr>
          <a:xfrm>
            <a:off x="234132" y="828303"/>
            <a:ext cx="7956884" cy="835266"/>
          </a:xfrm>
        </p:spPr>
        <p:txBody>
          <a:bodyPr vert="horz" lIns="91440" tIns="45720" rIns="91440" bIns="45720" rtlCol="0">
            <a:normAutofit/>
          </a:bodyPr>
          <a:lstStyle/>
          <a:p>
            <a:pPr defTabSz="914400">
              <a:spcBef>
                <a:spcPct val="20000"/>
              </a:spcBef>
            </a:pPr>
            <a:r>
              <a:rPr lang="en-US" altLang="ko-KR" sz="1600" dirty="0">
                <a:solidFill>
                  <a:srgbClr val="50646E"/>
                </a:solidFill>
              </a:rPr>
              <a:t>실행계획을 근거로 두 가지 전략을 검증</a:t>
            </a:r>
            <a:r>
              <a:rPr lang="ko-KR" altLang="en-US" sz="1600" dirty="0">
                <a:solidFill>
                  <a:srgbClr val="50646E"/>
                </a:solidFill>
              </a:rPr>
              <a:t/>
            </a:r>
            <a:r>
              <a:rPr lang="en-US" altLang="ko-KR" sz="1600" dirty="0">
                <a:solidFill>
                  <a:srgbClr val="50646E"/>
                </a:solidFill>
              </a:rPr>
              <a:t/>
            </a:r>
          </a:p>
        </p:txBody>
      </p:sp>
      <p:sp>
        <p:nvSpPr>
          <p:cNvPr id="11" name="내용 개체 틀 10"/>
          <p:cNvSpPr>
            <a:spLocks noGrp="1"/>
          </p:cNvSpPr>
          <p:nvPr>
            <p:ph idx="13"/>
          </p:nvPr>
        </p:nvSpPr>
        <p:spPr/>
        <p:txBody>
          <a:bodyPr wrap="square"/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730"/>
                </a:solidFill>
              </a:rPr>
              <a:t>• SQL 튜닝은 문장 수정이 아니라 옵티마이저 접근 경로(access path)를 유도하는 일</a:t>
            </a:r>
            <a:endParaRPr lang="ko-KR" altLang="en-US" dirty="0"/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730"/>
                </a:solidFill>
              </a:rPr>
              <a:t>• 모든 실험은 "코드 → 실행계획 확인 → 표 정리 → 해석" 4단계 반복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730"/>
                </a:solidFill>
              </a:rPr>
              <a:t>• ① Full Table Scan → Index Range Scan 유도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730"/>
                </a:solidFill>
              </a:rPr>
              <a:t>• ② 복합 인덱스 컬럼 순서(카디널리티) 비교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텍스트 개체 틀 3"/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pPr algn="r"/>
            <a:r>
              <a:rPr lang="en-US" altLang="ko-KR" sz="1600" dirty="0" smtClean="0"/>
              <a:t>Tools</a:t>
            </a:r>
            <a:r>
              <a:rPr lang="ko-KR" altLang="en-US" sz="1600" dirty="0" smtClean="0"/>
              <a:t/>
            </a:r>
            <a:endParaRPr lang="ko-KR" altLang="en-US" sz="1600" dirty="0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ko-KR" altLang="en-US" dirty="0" smtClean="0"/>
              <a:t>실행계획 분석 도구 3종</a:t>
            </a:r>
            <a:r>
              <a:rPr lang="en-US" altLang="ko-KR" dirty="0" smtClean="0"/>
              <a:t/>
            </a:r>
            <a:endParaRPr lang="ko-KR" altLang="en-US" dirty="0"/>
          </a:p>
        </p:txBody>
      </p:sp>
      <p:sp>
        <p:nvSpPr>
          <p:cNvPr id="10" name="텍스트 개체 틀 4"/>
          <p:cNvSpPr>
            <a:spLocks noGrp="1"/>
          </p:cNvSpPr>
          <p:nvPr>
            <p:ph type="body" sz="quarter" idx="12"/>
          </p:nvPr>
        </p:nvSpPr>
        <p:spPr>
          <a:xfrm>
            <a:off x="234132" y="828303"/>
            <a:ext cx="7956884" cy="835266"/>
          </a:xfrm>
        </p:spPr>
        <p:txBody>
          <a:bodyPr vert="horz" lIns="91440" tIns="45720" rIns="91440" bIns="45720" rtlCol="0">
            <a:normAutofit/>
          </a:bodyPr>
          <a:lstStyle/>
          <a:p>
            <a:pPr defTabSz="914400">
              <a:spcBef>
                <a:spcPct val="20000"/>
              </a:spcBef>
            </a:pPr>
            <a:r>
              <a:rPr lang="en-US" altLang="ko-KR" sz="1600" dirty="0">
                <a:solidFill>
                  <a:srgbClr val="50646E"/>
                </a:solidFill>
              </a:rPr>
              <a:t>예측치 vs 실측치를 구분해 최종 근거로 사용</a:t>
            </a:r>
            <a:r>
              <a:rPr lang="ko-KR" altLang="en-US" sz="1600" dirty="0">
                <a:solidFill>
                  <a:srgbClr val="50646E"/>
                </a:solidFill>
              </a:rPr>
              <a:t/>
            </a:r>
            <a:r>
              <a:rPr lang="en-US" altLang="ko-KR" sz="1600" dirty="0">
                <a:solidFill>
                  <a:srgbClr val="50646E"/>
                </a:solidFill>
              </a:rPr>
              <a:t/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17624" y="1764296"/>
          <a:ext cx="10058400" cy="15361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14600"/>
                <a:gridCol w="2514600"/>
                <a:gridCol w="2514600"/>
                <a:gridCol w="2514600"/>
              </a:tblGrid>
              <a:tr h="384048">
                <a:tc>
                  <a:txBody>
                    <a:bodyPr/>
                    <a:lstStyle/>
                    <a:p>
                      <a:pPr algn="ctr"/>
                      <a:r>
                        <a:rPr b="1" sz="1150">
                          <a:solidFill>
                            <a:srgbClr val="FFFFFF"/>
                          </a:solidFill>
                        </a:rPr>
                        <a:t>도구</a:t>
                      </a:r>
                    </a:p>
                  </a:txBody>
                  <a:tcPr anchor="ctr" marT="25400" marB="25400"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150">
                          <a:solidFill>
                            <a:srgbClr val="FFFFFF"/>
                          </a:solidFill>
                        </a:rPr>
                        <a:t>SQL 실행</a:t>
                      </a:r>
                    </a:p>
                  </a:txBody>
                  <a:tcPr anchor="ctr" marT="25400" marB="25400"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150">
                          <a:solidFill>
                            <a:srgbClr val="FFFFFF"/>
                          </a:solidFill>
                        </a:rPr>
                        <a:t>확인 정보</a:t>
                      </a:r>
                    </a:p>
                  </a:txBody>
                  <a:tcPr anchor="ctr" marT="25400" marB="25400"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150">
                          <a:solidFill>
                            <a:srgbClr val="FFFFFF"/>
                          </a:solidFill>
                        </a:rPr>
                        <a:t>활용</a:t>
                      </a:r>
                    </a:p>
                  </a:txBody>
                  <a:tcPr anchor="ctr" marT="25400" marB="25400">
                    <a:solidFill>
                      <a:srgbClr val="1B2A4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222730"/>
                          </a:solidFill>
                        </a:rPr>
                        <a:t>EXPLAIN PLAN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22730"/>
                          </a:solidFill>
                        </a:rPr>
                        <a:t>미실행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22730"/>
                          </a:solidFill>
                        </a:rPr>
                        <a:t>예상 Cost, E-Rows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22730"/>
                          </a:solidFill>
                        </a:rPr>
                        <a:t>사전 확인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222730"/>
                          </a:solidFill>
                        </a:rPr>
                        <a:t>AUTOTRACE</a:t>
                      </a:r>
                    </a:p>
                  </a:txBody>
                  <a:tcPr anchor="ctr" marT="12700" marB="12700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22730"/>
                          </a:solidFill>
                        </a:rPr>
                        <a:t>실행</a:t>
                      </a:r>
                    </a:p>
                  </a:txBody>
                  <a:tcPr anchor="ctr" marT="12700" marB="12700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22730"/>
                          </a:solidFill>
                        </a:rPr>
                        <a:t>계획+세션 통계</a:t>
                      </a:r>
                    </a:p>
                  </a:txBody>
                  <a:tcPr anchor="ctr" marT="12700" marB="12700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22730"/>
                          </a:solidFill>
                        </a:rPr>
                        <a:t>세션 통계</a:t>
                      </a:r>
                    </a:p>
                  </a:txBody>
                  <a:tcPr anchor="ctr" marT="12700" marB="12700">
                    <a:solidFill>
                      <a:srgbClr val="F2F4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222730"/>
                          </a:solidFill>
                        </a:rPr>
                        <a:t>DBMS_XPLAN.DISPLAY_CURSOR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22730"/>
                          </a:solidFill>
                        </a:rPr>
                        <a:t>실행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22730"/>
                          </a:solidFill>
                        </a:rPr>
                        <a:t>E-Rows, A-Rows, Buffers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22730"/>
                          </a:solidFill>
                        </a:rPr>
                        <a:t>최종 실측 근거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텍스트 개체 틀 3"/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pPr algn="r"/>
            <a:r>
              <a:rPr lang="en-US" altLang="ko-KR" sz="1600" dirty="0" smtClean="0"/>
              <a:t>Distribution</a:t>
            </a:r>
            <a:r>
              <a:rPr lang="ko-KR" altLang="en-US" sz="1600" dirty="0" smtClean="0"/>
              <a:t/>
            </a:r>
            <a:endParaRPr lang="ko-KR" altLang="en-US" sz="1600" dirty="0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ko-KR" altLang="en-US" dirty="0" smtClean="0"/>
              <a:t>사전 데이터 분포</a:t>
            </a:r>
            <a:r>
              <a:rPr lang="en-US" altLang="ko-KR" dirty="0" smtClean="0"/>
              <a:t/>
            </a:r>
            <a:endParaRPr lang="ko-KR" altLang="en-US" dirty="0"/>
          </a:p>
        </p:txBody>
      </p:sp>
      <p:sp>
        <p:nvSpPr>
          <p:cNvPr id="10" name="텍스트 개체 틀 4"/>
          <p:cNvSpPr>
            <a:spLocks noGrp="1"/>
          </p:cNvSpPr>
          <p:nvPr>
            <p:ph type="body" sz="quarter" idx="12"/>
          </p:nvPr>
        </p:nvSpPr>
        <p:spPr>
          <a:xfrm>
            <a:off x="234132" y="828303"/>
            <a:ext cx="7956884" cy="835266"/>
          </a:xfrm>
        </p:spPr>
        <p:txBody>
          <a:bodyPr vert="horz" lIns="91440" tIns="45720" rIns="91440" bIns="45720" rtlCol="0">
            <a:normAutofit/>
          </a:bodyPr>
          <a:lstStyle/>
          <a:p>
            <a:pPr defTabSz="914400">
              <a:spcBef>
                <a:spcPct val="20000"/>
              </a:spcBef>
            </a:pPr>
            <a:r>
              <a:rPr lang="en-US" altLang="ko-KR" sz="1600" dirty="0">
                <a:solidFill>
                  <a:srgbClr val="50646E"/>
                </a:solidFill>
              </a:rPr>
              <a:t>2014 Q2 = 전체의 1.78% / 상태 4가 95.58%</a:t>
            </a:r>
            <a:r>
              <a:rPr lang="ko-KR" altLang="en-US" sz="1600" dirty="0">
                <a:solidFill>
                  <a:srgbClr val="50646E"/>
                </a:solidFill>
              </a:rPr>
              <a:t/>
            </a:r>
            <a:r>
              <a:rPr lang="en-US" altLang="ko-KR" sz="1600" dirty="0">
                <a:solidFill>
                  <a:srgbClr val="50646E"/>
                </a:solidFill>
              </a:rPr>
              <a:t/>
            </a:r>
          </a:p>
        </p:txBody>
      </p:sp>
      <p:pic>
        <p:nvPicPr>
          <p:cNvPr id="11" name="Picture 10" descr="status_b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6388" y="2566375"/>
            <a:ext cx="5645288" cy="3595971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153293" y="1764296"/>
            <a:ext cx="4233966" cy="52001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730"/>
                </a:solidFill>
              </a:rPr>
              <a:t>• 날짜 범위 선택도는 높지만 정상상태 조건은 데이터를 크게 줄이지 못함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730"/>
                </a:solidFill>
              </a:rPr>
              <a:t>• 주요 필터는 ORDER_STATUS가 아니라 ORDER_DT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730"/>
                </a:solidFill>
              </a:rPr>
              <a:t>• 상태 4 편향인데 히스토그램 NONE → 특정 상태만 조회 시 추정 오차 가능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텍스트 개체 틀 3"/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pPr algn="r"/>
            <a:r>
              <a:rPr lang="en-US" altLang="ko-KR" sz="1600" dirty="0" smtClean="0"/>
              <a:t>Statistics</a:t>
            </a:r>
            <a:r>
              <a:rPr lang="ko-KR" altLang="en-US" sz="1600" dirty="0" smtClean="0"/>
              <a:t/>
            </a:r>
            <a:endParaRPr lang="ko-KR" altLang="en-US" sz="1600" dirty="0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ko-KR" altLang="en-US" dirty="0" smtClean="0"/>
              <a:t>통계정보 확인</a:t>
            </a:r>
            <a:r>
              <a:rPr lang="en-US" altLang="ko-KR" dirty="0" smtClean="0"/>
              <a:t/>
            </a:r>
            <a:endParaRPr lang="ko-KR" altLang="en-US" dirty="0"/>
          </a:p>
        </p:txBody>
      </p:sp>
      <p:sp>
        <p:nvSpPr>
          <p:cNvPr id="10" name="텍스트 개체 틀 4"/>
          <p:cNvSpPr>
            <a:spLocks noGrp="1"/>
          </p:cNvSpPr>
          <p:nvPr>
            <p:ph type="body" sz="quarter" idx="12"/>
          </p:nvPr>
        </p:nvSpPr>
        <p:spPr>
          <a:xfrm>
            <a:off x="234132" y="828303"/>
            <a:ext cx="7956884" cy="835266"/>
          </a:xfrm>
        </p:spPr>
        <p:txBody>
          <a:bodyPr vert="horz" lIns="91440" tIns="45720" rIns="91440" bIns="45720" rtlCol="0">
            <a:normAutofit/>
          </a:bodyPr>
          <a:lstStyle/>
          <a:p>
            <a:pPr defTabSz="914400">
              <a:spcBef>
                <a:spcPct val="20000"/>
              </a:spcBef>
            </a:pPr>
            <a:r>
              <a:rPr lang="en-US" altLang="ko-KR" sz="1600" dirty="0">
                <a:solidFill>
                  <a:srgbClr val="50646E"/>
                </a:solidFill>
              </a:rPr>
              <a:t>옵티마이저 판단의 근거</a:t>
            </a:r>
            <a:r>
              <a:rPr lang="ko-KR" altLang="en-US" sz="1600" dirty="0">
                <a:solidFill>
                  <a:srgbClr val="50646E"/>
                </a:solidFill>
              </a:rPr>
              <a:t/>
            </a:r>
            <a:r>
              <a:rPr lang="en-US" altLang="ko-KR" sz="1600" dirty="0">
                <a:solidFill>
                  <a:srgbClr val="50646E"/>
                </a:solidFill>
              </a:rPr>
              <a:t/>
            </a:r>
          </a:p>
        </p:txBody>
      </p:sp>
      <p:sp>
        <p:nvSpPr>
          <p:cNvPr id="11" name="내용 개체 틀 10"/>
          <p:cNvSpPr>
            <a:spLocks noGrp="1"/>
          </p:cNvSpPr>
          <p:nvPr>
            <p:ph idx="13"/>
          </p:nvPr>
        </p:nvSpPr>
        <p:spPr/>
        <p:txBody>
          <a:bodyPr wrap="square"/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730"/>
                </a:solidFill>
              </a:rPr>
              <a:t>• ORDER_ITEMS 5,000,000건(최대) · ORDERS 2,000,005 · CUSTOMERS 100,000</a:t>
            </a:r>
            <a:endParaRPr lang="ko-KR" altLang="en-US" dirty="0"/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730"/>
                </a:solidFill>
              </a:rPr>
              <a:t>• ORDER_DT NUM_DISTINCT 1,971,840 → 날짜 범위 선택도 높음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730"/>
                </a:solidFill>
              </a:rPr>
              <a:t>• NUM_ROWS(통계) 2,000,000 vs 실제 2,000,005 → 테스트 데이터 5건 추가분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730"/>
                </a:solidFill>
              </a:rPr>
              <a:t>• 실행계획 비교는 동일 통계 상태에서 수행(중간 재수집 시 계획 변동)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텍스트 개체 틀 3"/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pPr algn="r"/>
            <a:r>
              <a:rPr lang="en-US" altLang="ko-KR" sz="1600" dirty="0" smtClean="0"/>
              <a:t>Query</a:t>
            </a:r>
            <a:r>
              <a:rPr lang="ko-KR" altLang="en-US" sz="1600" dirty="0" smtClean="0"/>
              <a:t/>
            </a:r>
            <a:endParaRPr lang="ko-KR" altLang="en-US" sz="1600" dirty="0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ko-KR" altLang="en-US" dirty="0" smtClean="0"/>
              <a:t>분석 대상 쿼리 설계</a:t>
            </a:r>
            <a:r>
              <a:rPr lang="en-US" altLang="ko-KR" dirty="0" smtClean="0"/>
              <a:t/>
            </a:r>
            <a:endParaRPr lang="ko-KR" altLang="en-US" dirty="0"/>
          </a:p>
        </p:txBody>
      </p:sp>
      <p:sp>
        <p:nvSpPr>
          <p:cNvPr id="10" name="텍스트 개체 틀 4"/>
          <p:cNvSpPr>
            <a:spLocks noGrp="1"/>
          </p:cNvSpPr>
          <p:nvPr>
            <p:ph type="body" sz="quarter" idx="12"/>
          </p:nvPr>
        </p:nvSpPr>
        <p:spPr>
          <a:xfrm>
            <a:off x="234132" y="828303"/>
            <a:ext cx="7956884" cy="835266"/>
          </a:xfrm>
        </p:spPr>
        <p:txBody>
          <a:bodyPr vert="horz" lIns="91440" tIns="45720" rIns="91440" bIns="45720" rtlCol="0">
            <a:normAutofit/>
          </a:bodyPr>
          <a:lstStyle/>
          <a:p>
            <a:pPr defTabSz="914400">
              <a:spcBef>
                <a:spcPct val="20000"/>
              </a:spcBef>
            </a:pPr>
            <a:r>
              <a:rPr lang="en-US" altLang="ko-KR" sz="1600" dirty="0">
                <a:solidFill>
                  <a:srgbClr val="50646E"/>
                </a:solidFill>
              </a:rPr>
              <a:t>우수회원 = 2014 Q2 구매금액 상위 10명</a:t>
            </a:r>
            <a:r>
              <a:rPr lang="ko-KR" altLang="en-US" sz="1600" dirty="0">
                <a:solidFill>
                  <a:srgbClr val="50646E"/>
                </a:solidFill>
              </a:rPr>
              <a:t/>
            </a:r>
            <a:r>
              <a:rPr lang="en-US" altLang="ko-KR" sz="1600" dirty="0">
                <a:solidFill>
                  <a:srgbClr val="50646E"/>
                </a:solidFill>
              </a:rPr>
              <a:t/>
            </a:r>
          </a:p>
        </p:txBody>
      </p:sp>
      <p:sp>
        <p:nvSpPr>
          <p:cNvPr id="11" name="내용 개체 틀 10"/>
          <p:cNvSpPr>
            <a:spLocks noGrp="1"/>
          </p:cNvSpPr>
          <p:nvPr>
            <p:ph idx="13"/>
          </p:nvPr>
        </p:nvSpPr>
        <p:spPr/>
        <p:txBody>
          <a:bodyPr wrap="square"/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730"/>
                </a:solidFill>
              </a:rPr>
              <a:t>• Q2_SALES CTE로 원천을 1번만 스캔해 3개 집계 CTE가 재사용</a:t>
            </a:r>
            <a:endParaRPr lang="ko-KR" altLang="en-US" dirty="0"/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730"/>
                </a:solidFill>
              </a:rPr>
              <a:t>• 고객별 집계를 1인 1행으로 만든 뒤 조인 → 팬아웃(fan-out) 방지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730"/>
                </a:solidFill>
              </a:rPr>
              <a:t>• ROW_NUMBER RN=1로 최다 채널·카테고리 대표값 추출, RANK로 동점 허용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730"/>
                </a:solidFill>
              </a:rPr>
              <a:t>• 기간은 BETWEEN 대신 &gt;= AND &lt; 로 경계값 오류 방지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텍스트 개체 틀 3"/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pPr algn="r"/>
            <a:r>
              <a:rPr lang="en-US" altLang="ko-KR" sz="1600" dirty="0" smtClean="0"/>
              <a:t>Plan</a:t>
            </a:r>
            <a:r>
              <a:rPr lang="ko-KR" altLang="en-US" sz="1600" dirty="0" smtClean="0"/>
              <a:t/>
            </a:r>
            <a:endParaRPr lang="ko-KR" altLang="en-US" sz="1600" dirty="0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ko-KR" altLang="en-US" dirty="0" smtClean="0"/>
              <a:t>예측 실행계획 (트리)</a:t>
            </a:r>
            <a:r>
              <a:rPr lang="en-US" altLang="ko-KR" dirty="0" smtClean="0"/>
              <a:t/>
            </a:r>
            <a:endParaRPr lang="ko-KR" altLang="en-US" dirty="0"/>
          </a:p>
        </p:txBody>
      </p:sp>
      <p:sp>
        <p:nvSpPr>
          <p:cNvPr id="10" name="텍스트 개체 틀 4"/>
          <p:cNvSpPr>
            <a:spLocks noGrp="1"/>
          </p:cNvSpPr>
          <p:nvPr>
            <p:ph type="body" sz="quarter" idx="12"/>
          </p:nvPr>
        </p:nvSpPr>
        <p:spPr>
          <a:xfrm>
            <a:off x="234132" y="828303"/>
            <a:ext cx="7956884" cy="835266"/>
          </a:xfrm>
        </p:spPr>
        <p:txBody>
          <a:bodyPr vert="horz" lIns="91440" tIns="45720" rIns="91440" bIns="45720" rtlCol="0">
            <a:normAutofit/>
          </a:bodyPr>
          <a:lstStyle/>
          <a:p>
            <a:pPr defTabSz="914400">
              <a:spcBef>
                <a:spcPct val="20000"/>
              </a:spcBef>
            </a:pPr>
            <a:r>
              <a:rPr lang="en-US" altLang="ko-KR" sz="1600" dirty="0">
                <a:solidFill>
                  <a:srgbClr val="50646E"/>
                </a:solidFill>
              </a:rPr>
              <a:t>Full Scan + HASH JOIN + HASH GROUP BY + Top-N</a:t>
            </a:r>
            <a:r>
              <a:rPr lang="ko-KR" altLang="en-US" sz="1600" dirty="0">
                <a:solidFill>
                  <a:srgbClr val="50646E"/>
                </a:solidFill>
              </a:rPr>
              <a:t/>
            </a:r>
            <a:r>
              <a:rPr lang="en-US" altLang="ko-KR" sz="1600" dirty="0">
                <a:solidFill>
                  <a:srgbClr val="50646E"/>
                </a:solidFill>
              </a:rPr>
              <a:t/>
            </a:r>
          </a:p>
        </p:txBody>
      </p:sp>
      <p:pic>
        <p:nvPicPr>
          <p:cNvPr id="11" name="Picture 10" descr="plan_tre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3747" y="1764296"/>
            <a:ext cx="9206154" cy="5200129"/>
          </a:xfrm>
          <a:prstGeom prst="rect">
            <a:avLst/>
          </a:prstGeom>
        </p:spPr>
      </p:pic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텍스트 개체 틀 3"/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pPr algn="r"/>
            <a:r>
              <a:rPr lang="en-US" altLang="ko-KR" sz="1600" dirty="0" smtClean="0"/>
              <a:t>Plan</a:t>
            </a:r>
            <a:r>
              <a:rPr lang="ko-KR" altLang="en-US" sz="1600" dirty="0" smtClean="0"/>
              <a:t/>
            </a:r>
            <a:endParaRPr lang="ko-KR" altLang="en-US" sz="1600" dirty="0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ko-KR" altLang="en-US" dirty="0" smtClean="0"/>
              <a:t>실제 실행계획 — 예측 vs 실측</a:t>
            </a:r>
            <a:r>
              <a:rPr lang="en-US" altLang="ko-KR" dirty="0" smtClean="0"/>
              <a:t/>
            </a:r>
            <a:endParaRPr lang="ko-KR" altLang="en-US" dirty="0"/>
          </a:p>
        </p:txBody>
      </p:sp>
      <p:sp>
        <p:nvSpPr>
          <p:cNvPr id="10" name="텍스트 개체 틀 4"/>
          <p:cNvSpPr>
            <a:spLocks noGrp="1"/>
          </p:cNvSpPr>
          <p:nvPr>
            <p:ph type="body" sz="quarter" idx="12"/>
          </p:nvPr>
        </p:nvSpPr>
        <p:spPr>
          <a:xfrm>
            <a:off x="234132" y="828303"/>
            <a:ext cx="7956884" cy="835266"/>
          </a:xfrm>
        </p:spPr>
        <p:txBody>
          <a:bodyPr vert="horz" lIns="91440" tIns="45720" rIns="91440" bIns="45720" rtlCol="0">
            <a:normAutofit/>
          </a:bodyPr>
          <a:lstStyle/>
          <a:p>
            <a:pPr defTabSz="914400">
              <a:spcBef>
                <a:spcPct val="20000"/>
              </a:spcBef>
            </a:pPr>
            <a:r>
              <a:rPr lang="en-US" altLang="ko-KR" sz="1600" dirty="0">
                <a:solidFill>
                  <a:srgbClr val="50646E"/>
                </a:solidFill>
              </a:rPr>
              <a:t>DISPLAY_CURSOR로 E-Rows/A-Rows 비교</a:t>
            </a:r>
            <a:r>
              <a:rPr lang="ko-KR" altLang="en-US" sz="1600" dirty="0">
                <a:solidFill>
                  <a:srgbClr val="50646E"/>
                </a:solidFill>
              </a:rPr>
              <a:t/>
            </a:r>
            <a:r>
              <a:rPr lang="en-US" altLang="ko-KR" sz="1600" dirty="0">
                <a:solidFill>
                  <a:srgbClr val="50646E"/>
                </a:solidFill>
              </a:rPr>
              <a:t/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17624" y="1764296"/>
          <a:ext cx="1005840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011680"/>
                <a:gridCol w="2011680"/>
                <a:gridCol w="2011680"/>
                <a:gridCol w="2011680"/>
              </a:tblGrid>
              <a:tr h="384048"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</a:rPr>
                        <a:t>Id</a:t>
                      </a:r>
                    </a:p>
                  </a:txBody>
                  <a:tcPr anchor="ctr" marT="25400" marB="25400"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</a:rPr>
                        <a:t>Operation</a:t>
                      </a:r>
                    </a:p>
                  </a:txBody>
                  <a:tcPr anchor="ctr" marT="25400" marB="25400"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</a:rPr>
                        <a:t>E-Rows</a:t>
                      </a:r>
                    </a:p>
                  </a:txBody>
                  <a:tcPr anchor="ctr" marT="25400" marB="25400"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</a:rPr>
                        <a:t>A-Rows</a:t>
                      </a:r>
                    </a:p>
                  </a:txBody>
                  <a:tcPr anchor="ctr" marT="25400" marB="25400"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</a:rPr>
                        <a:t>Buffers</a:t>
                      </a:r>
                    </a:p>
                  </a:txBody>
                  <a:tcPr anchor="ctr" marT="25400" marB="25400">
                    <a:solidFill>
                      <a:srgbClr val="1B2A4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222730"/>
                          </a:solidFill>
                        </a:rPr>
                        <a:t>10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222730"/>
                          </a:solidFill>
                        </a:rPr>
                        <a:t>TABLE ACCESS FULL ORDERS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222730"/>
                          </a:solidFill>
                        </a:rPr>
                        <a:t>23,680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222730"/>
                          </a:solidFill>
                        </a:rPr>
                        <a:t>(실측)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222730"/>
                          </a:solidFill>
                        </a:rPr>
                        <a:t>(실측)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222730"/>
                          </a:solidFill>
                        </a:rPr>
                        <a:t>11</a:t>
                      </a:r>
                    </a:p>
                  </a:txBody>
                  <a:tcPr anchor="ctr" marT="12700" marB="12700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222730"/>
                          </a:solidFill>
                        </a:rPr>
                        <a:t>TABLE ACCESS FULL ORDER_ITEMS</a:t>
                      </a:r>
                    </a:p>
                  </a:txBody>
                  <a:tcPr anchor="ctr" marT="12700" marB="12700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222730"/>
                          </a:solidFill>
                        </a:rPr>
                        <a:t>5,000K</a:t>
                      </a:r>
                    </a:p>
                  </a:txBody>
                  <a:tcPr anchor="ctr" marT="12700" marB="12700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222730"/>
                          </a:solidFill>
                        </a:rPr>
                        <a:t>(실측)</a:t>
                      </a:r>
                    </a:p>
                  </a:txBody>
                  <a:tcPr anchor="ctr" marT="12700" marB="12700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222730"/>
                          </a:solidFill>
                        </a:rPr>
                        <a:t>(실측)</a:t>
                      </a:r>
                    </a:p>
                  </a:txBody>
                  <a:tcPr anchor="ctr" marT="12700" marB="12700">
                    <a:solidFill>
                      <a:srgbClr val="F2F4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222730"/>
                          </a:solidFill>
                        </a:rPr>
                        <a:t>9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222730"/>
                          </a:solidFill>
                        </a:rPr>
                        <a:t>HASH JOIN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222730"/>
                          </a:solidFill>
                        </a:rPr>
                        <a:t>59,295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222730"/>
                          </a:solidFill>
                        </a:rPr>
                        <a:t>(실측)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222730"/>
                          </a:solidFill>
                        </a:rPr>
                        <a:t>(실측)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222730"/>
                          </a:solidFill>
                        </a:rPr>
                        <a:t>8</a:t>
                      </a:r>
                    </a:p>
                  </a:txBody>
                  <a:tcPr anchor="ctr" marT="12700" marB="12700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222730"/>
                          </a:solidFill>
                        </a:rPr>
                        <a:t>TABLE ACCESS FULL CUSTOMERS</a:t>
                      </a:r>
                    </a:p>
                  </a:txBody>
                  <a:tcPr anchor="ctr" marT="12700" marB="12700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222730"/>
                          </a:solidFill>
                        </a:rPr>
                        <a:t>100K</a:t>
                      </a:r>
                    </a:p>
                  </a:txBody>
                  <a:tcPr anchor="ctr" marT="12700" marB="12700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222730"/>
                          </a:solidFill>
                        </a:rPr>
                        <a:t>(실측)</a:t>
                      </a:r>
                    </a:p>
                  </a:txBody>
                  <a:tcPr anchor="ctr" marT="12700" marB="12700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222730"/>
                          </a:solidFill>
                        </a:rPr>
                        <a:t>(실측)</a:t>
                      </a:r>
                    </a:p>
                  </a:txBody>
                  <a:tcPr anchor="ctr" marT="12700" marB="12700"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텍스트 개체 틀 3"/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pPr algn="r"/>
            <a:r>
              <a:rPr lang="en-US" altLang="ko-KR" sz="1600" dirty="0" smtClean="0"/>
              <a:t>Tuning ①</a:t>
            </a:r>
            <a:r>
              <a:rPr lang="ko-KR" altLang="en-US" sz="1600" dirty="0" smtClean="0"/>
              <a:t/>
            </a:r>
            <a:endParaRPr lang="ko-KR" altLang="en-US" sz="1600" dirty="0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ko-KR" altLang="en-US" dirty="0" smtClean="0"/>
              <a:t>FTS vs Index Range Scan</a:t>
            </a:r>
            <a:r>
              <a:rPr lang="en-US" altLang="ko-KR" dirty="0" smtClean="0"/>
              <a:t/>
            </a:r>
            <a:endParaRPr lang="ko-KR" altLang="en-US" dirty="0"/>
          </a:p>
        </p:txBody>
      </p:sp>
      <p:sp>
        <p:nvSpPr>
          <p:cNvPr id="10" name="텍스트 개체 틀 4"/>
          <p:cNvSpPr>
            <a:spLocks noGrp="1"/>
          </p:cNvSpPr>
          <p:nvPr>
            <p:ph type="body" sz="quarter" idx="12"/>
          </p:nvPr>
        </p:nvSpPr>
        <p:spPr>
          <a:xfrm>
            <a:off x="234132" y="828303"/>
            <a:ext cx="7956884" cy="835266"/>
          </a:xfrm>
        </p:spPr>
        <p:txBody>
          <a:bodyPr vert="horz" lIns="91440" tIns="45720" rIns="91440" bIns="45720" rtlCol="0">
            <a:normAutofit/>
          </a:bodyPr>
          <a:lstStyle/>
          <a:p>
            <a:pPr defTabSz="914400">
              <a:spcBef>
                <a:spcPct val="20000"/>
              </a:spcBef>
            </a:pPr>
            <a:r>
              <a:rPr lang="en-US" altLang="ko-KR" sz="1600" dirty="0">
                <a:solidFill>
                  <a:srgbClr val="50646E"/>
                </a:solidFill>
              </a:rPr>
              <a:t>인덱스 강제가 오히려 불리 (음성 결과)</a:t>
            </a:r>
            <a:r>
              <a:rPr lang="ko-KR" altLang="en-US" sz="1600" dirty="0">
                <a:solidFill>
                  <a:srgbClr val="50646E"/>
                </a:solidFill>
              </a:rPr>
              <a:t/>
            </a:r>
            <a:r>
              <a:rPr lang="en-US" altLang="ko-KR" sz="1600" dirty="0">
                <a:solidFill>
                  <a:srgbClr val="50646E"/>
                </a:solidFill>
              </a:rPr>
              <a:t/>
            </a:r>
          </a:p>
        </p:txBody>
      </p:sp>
      <p:pic>
        <p:nvPicPr>
          <p:cNvPr id="11" name="Picture 10" descr="cost_fts_inde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6388" y="2454635"/>
            <a:ext cx="5645288" cy="3819451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153293" y="1764296"/>
            <a:ext cx="4233966" cy="52001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730"/>
                </a:solidFill>
              </a:rPr>
              <a:t>• ORDER_DT 인덱스에서 찾은 3.5만 ROWID로 테이블 접근 → 비용 누적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730"/>
                </a:solidFill>
              </a:rPr>
              <a:t>• 날짜 범위 실제 35,604건 vs 예상 35,520건(오차 0.24%) → 추정은 정확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730"/>
                </a:solidFill>
              </a:rPr>
              <a:t>• Cost는 실행시간이 아닌 옵티마이저 예상 비용 단위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730"/>
                </a:solidFill>
              </a:rPr>
              <a:t>• 결론: 인덱스가 있어도 항상 유리하지 않음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텍스트 개체 틀 3"/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pPr algn="r"/>
            <a:r>
              <a:rPr lang="en-US" altLang="ko-KR" sz="1600" dirty="0" smtClean="0"/>
              <a:t>Tuning ②</a:t>
            </a:r>
            <a:r>
              <a:rPr lang="ko-KR" altLang="en-US" sz="1600" dirty="0" smtClean="0"/>
              <a:t/>
            </a:r>
            <a:endParaRPr lang="ko-KR" altLang="en-US" sz="1600" dirty="0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ko-KR" altLang="en-US" dirty="0" smtClean="0"/>
              <a:t>복합 인덱스 — 컬럼별 NDV</a:t>
            </a:r>
            <a:r>
              <a:rPr lang="en-US" altLang="ko-KR" dirty="0" smtClean="0"/>
              <a:t/>
            </a:r>
            <a:endParaRPr lang="ko-KR" altLang="en-US" dirty="0"/>
          </a:p>
        </p:txBody>
      </p:sp>
      <p:sp>
        <p:nvSpPr>
          <p:cNvPr id="10" name="텍스트 개체 틀 4"/>
          <p:cNvSpPr>
            <a:spLocks noGrp="1"/>
          </p:cNvSpPr>
          <p:nvPr>
            <p:ph type="body" sz="quarter" idx="12"/>
          </p:nvPr>
        </p:nvSpPr>
        <p:spPr>
          <a:xfrm>
            <a:off x="234132" y="828303"/>
            <a:ext cx="7956884" cy="835266"/>
          </a:xfrm>
        </p:spPr>
        <p:txBody>
          <a:bodyPr vert="horz" lIns="91440" tIns="45720" rIns="91440" bIns="45720" rtlCol="0">
            <a:normAutofit/>
          </a:bodyPr>
          <a:lstStyle/>
          <a:p>
            <a:pPr defTabSz="914400">
              <a:spcBef>
                <a:spcPct val="20000"/>
              </a:spcBef>
            </a:pPr>
            <a:r>
              <a:rPr lang="en-US" altLang="ko-KR" sz="1600" dirty="0">
                <a:solidFill>
                  <a:srgbClr val="50646E"/>
                </a:solidFill>
              </a:rPr>
              <a:t>NDV 높다고 무조건 선행 컬럼은 아님</a:t>
            </a:r>
            <a:r>
              <a:rPr lang="ko-KR" altLang="en-US" sz="1600" dirty="0">
                <a:solidFill>
                  <a:srgbClr val="50646E"/>
                </a:solidFill>
              </a:rPr>
              <a:t/>
            </a:r>
            <a:r>
              <a:rPr lang="en-US" altLang="ko-KR" sz="1600" dirty="0">
                <a:solidFill>
                  <a:srgbClr val="50646E"/>
                </a:solidFill>
              </a:rPr>
              <a:t/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17624" y="1764296"/>
          <a:ext cx="1005840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9200"/>
                <a:gridCol w="5029200"/>
              </a:tblGrid>
              <a:tr h="384048">
                <a:tc>
                  <a:txBody>
                    <a:bodyPr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항목</a:t>
                      </a:r>
                    </a:p>
                  </a:txBody>
                  <a:tcPr anchor="ctr" marT="25400" marB="25400"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값</a:t>
                      </a:r>
                    </a:p>
                  </a:txBody>
                  <a:tcPr anchor="ctr" marT="25400" marB="25400">
                    <a:solidFill>
                      <a:srgbClr val="1B2A4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222730"/>
                          </a:solidFill>
                        </a:rPr>
                        <a:t>ORDERS 전체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>
                          <a:solidFill>
                            <a:srgbClr val="222730"/>
                          </a:solidFill>
                        </a:rPr>
                        <a:t>2,000,005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222730"/>
                          </a:solidFill>
                        </a:rPr>
                        <a:t>CUST_ID NDV</a:t>
                      </a:r>
                    </a:p>
                  </a:txBody>
                  <a:tcPr anchor="ctr" marT="12700" marB="12700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>
                          <a:solidFill>
                            <a:srgbClr val="222730"/>
                          </a:solidFill>
                        </a:rPr>
                        <a:t>78,526</a:t>
                      </a:r>
                    </a:p>
                  </a:txBody>
                  <a:tcPr anchor="ctr" marT="12700" marB="12700">
                    <a:solidFill>
                      <a:srgbClr val="F2F4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222730"/>
                          </a:solidFill>
                        </a:rPr>
                        <a:t>ORDER_DT NDV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>
                          <a:solidFill>
                            <a:srgbClr val="222730"/>
                          </a:solidFill>
                        </a:rPr>
                        <a:t>1,995,166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222730"/>
                          </a:solidFill>
                        </a:rPr>
                        <a:t>테스트 고객</a:t>
                      </a:r>
                    </a:p>
                  </a:txBody>
                  <a:tcPr anchor="ctr" marT="12700" marB="12700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>
                          <a:solidFill>
                            <a:srgbClr val="222730"/>
                          </a:solidFill>
                        </a:rPr>
                        <a:t>CUST_ID = 501</a:t>
                      </a:r>
                    </a:p>
                  </a:txBody>
                  <a:tcPr anchor="ctr" marT="12700" marB="12700"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텍스트 개체 틀 3"/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pPr algn="r"/>
            <a:r>
              <a:rPr lang="en-US" altLang="ko-KR" sz="1600" dirty="0" smtClean="0"/>
              <a:t>Tuning ②</a:t>
            </a:r>
            <a:r>
              <a:rPr lang="ko-KR" altLang="en-US" sz="1600" dirty="0" smtClean="0"/>
              <a:t/>
            </a:r>
            <a:endParaRPr lang="ko-KR" altLang="en-US" sz="1600" dirty="0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ko-KR" altLang="en-US" dirty="0" smtClean="0"/>
              <a:t>복합 인덱스 구조 비교</a:t>
            </a:r>
            <a:r>
              <a:rPr lang="en-US" altLang="ko-KR" dirty="0" smtClean="0"/>
              <a:t/>
            </a:r>
            <a:endParaRPr lang="ko-KR" altLang="en-US" dirty="0"/>
          </a:p>
        </p:txBody>
      </p:sp>
      <p:sp>
        <p:nvSpPr>
          <p:cNvPr id="10" name="텍스트 개체 틀 4"/>
          <p:cNvSpPr>
            <a:spLocks noGrp="1"/>
          </p:cNvSpPr>
          <p:nvPr>
            <p:ph type="body" sz="quarter" idx="12"/>
          </p:nvPr>
        </p:nvSpPr>
        <p:spPr>
          <a:xfrm>
            <a:off x="234132" y="828303"/>
            <a:ext cx="7956884" cy="835266"/>
          </a:xfrm>
        </p:spPr>
        <p:txBody>
          <a:bodyPr vert="horz" lIns="91440" tIns="45720" rIns="91440" bIns="45720" rtlCol="0">
            <a:normAutofit/>
          </a:bodyPr>
          <a:lstStyle/>
          <a:p>
            <a:pPr defTabSz="914400">
              <a:spcBef>
                <a:spcPct val="20000"/>
              </a:spcBef>
            </a:pPr>
            <a:r>
              <a:rPr lang="en-US" altLang="ko-KR" sz="1600" dirty="0">
                <a:solidFill>
                  <a:srgbClr val="50646E"/>
                </a:solidFill>
              </a:rPr>
              <a:t>Clustering Factor로 ROWID 분산 정도 확인</a:t>
            </a:r>
            <a:r>
              <a:rPr lang="ko-KR" altLang="en-US" sz="1600" dirty="0">
                <a:solidFill>
                  <a:srgbClr val="50646E"/>
                </a:solidFill>
              </a:rPr>
              <a:t/>
            </a:r>
            <a:r>
              <a:rPr lang="en-US" altLang="ko-KR" sz="1600" dirty="0">
                <a:solidFill>
                  <a:srgbClr val="50646E"/>
                </a:solidFill>
              </a:rPr>
              <a:t/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17624" y="1764296"/>
          <a:ext cx="10058400" cy="11521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011680"/>
                <a:gridCol w="2011680"/>
                <a:gridCol w="2011680"/>
                <a:gridCol w="2011680"/>
              </a:tblGrid>
              <a:tr h="384048"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</a:rPr>
                        <a:t>인덱스</a:t>
                      </a:r>
                    </a:p>
                  </a:txBody>
                  <a:tcPr anchor="ctr" marT="25400" marB="25400"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</a:rPr>
                        <a:t>컬럼 순서</a:t>
                      </a:r>
                    </a:p>
                  </a:txBody>
                  <a:tcPr anchor="ctr" marT="25400" marB="25400"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</a:rPr>
                        <a:t>BLEVEL</a:t>
                      </a:r>
                    </a:p>
                  </a:txBody>
                  <a:tcPr anchor="ctr" marT="25400" marB="25400"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</a:rPr>
                        <a:t>LEAF</a:t>
                      </a:r>
                    </a:p>
                  </a:txBody>
                  <a:tcPr anchor="ctr" marT="25400" marB="25400"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</a:rPr>
                        <a:t>CLUSTERING_FACTOR</a:t>
                      </a:r>
                    </a:p>
                  </a:txBody>
                  <a:tcPr anchor="ctr" marT="25400" marB="25400">
                    <a:solidFill>
                      <a:srgbClr val="1B2A4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222730"/>
                          </a:solidFill>
                        </a:rPr>
                        <a:t>ORDERS_T1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222730"/>
                          </a:solidFill>
                        </a:rPr>
                        <a:t>CUST_ID → ORDER_DT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222730"/>
                          </a:solidFill>
                        </a:rPr>
                        <a:t>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222730"/>
                          </a:solidFill>
                        </a:rPr>
                        <a:t>6,494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222730"/>
                          </a:solidFill>
                        </a:rPr>
                        <a:t>1,697,796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222730"/>
                          </a:solidFill>
                        </a:rPr>
                        <a:t>ORDERS_T2</a:t>
                      </a:r>
                    </a:p>
                  </a:txBody>
                  <a:tcPr anchor="ctr" marT="12700" marB="12700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222730"/>
                          </a:solidFill>
                        </a:rPr>
                        <a:t>ORDER_DT → CUST_ID</a:t>
                      </a:r>
                    </a:p>
                  </a:txBody>
                  <a:tcPr anchor="ctr" marT="12700" marB="12700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222730"/>
                          </a:solidFill>
                        </a:rPr>
                        <a:t>2</a:t>
                      </a:r>
                    </a:p>
                  </a:txBody>
                  <a:tcPr anchor="ctr" marT="12700" marB="12700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222730"/>
                          </a:solidFill>
                        </a:rPr>
                        <a:t>6,474</a:t>
                      </a:r>
                    </a:p>
                  </a:txBody>
                  <a:tcPr anchor="ctr" marT="12700" marB="12700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222730"/>
                          </a:solidFill>
                        </a:rPr>
                        <a:t>1,999,441</a:t>
                      </a:r>
                    </a:p>
                  </a:txBody>
                  <a:tcPr anchor="ctr" marT="12700" marB="12700"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텍스트 개체 틀 3"/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pPr algn="r"/>
            <a:r>
              <a:rPr lang="en-US" altLang="ko-KR" sz="1600" dirty="0" smtClean="0"/>
              <a:t>Case 1</a:t>
            </a:r>
            <a:r>
              <a:rPr lang="ko-KR" altLang="en-US" sz="1600" dirty="0" smtClean="0"/>
              <a:t/>
            </a:r>
            <a:endParaRPr lang="ko-KR" altLang="en-US" sz="1600" dirty="0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ko-KR" altLang="en-US" dirty="0" smtClean="0"/>
              <a:t>ORDER_DT 범위 단독</a:t>
            </a:r>
            <a:r>
              <a:rPr lang="en-US" altLang="ko-KR" dirty="0" smtClean="0"/>
              <a:t/>
            </a:r>
            <a:endParaRPr lang="ko-KR" altLang="en-US" dirty="0"/>
          </a:p>
        </p:txBody>
      </p:sp>
      <p:sp>
        <p:nvSpPr>
          <p:cNvPr id="10" name="텍스트 개체 틀 4"/>
          <p:cNvSpPr>
            <a:spLocks noGrp="1"/>
          </p:cNvSpPr>
          <p:nvPr>
            <p:ph type="body" sz="quarter" idx="12"/>
          </p:nvPr>
        </p:nvSpPr>
        <p:spPr>
          <a:xfrm>
            <a:off x="234132" y="828303"/>
            <a:ext cx="7956884" cy="835266"/>
          </a:xfrm>
        </p:spPr>
        <p:txBody>
          <a:bodyPr vert="horz" lIns="91440" tIns="45720" rIns="91440" bIns="45720" rtlCol="0">
            <a:normAutofit/>
          </a:bodyPr>
          <a:lstStyle/>
          <a:p>
            <a:pPr defTabSz="914400">
              <a:spcBef>
                <a:spcPct val="20000"/>
              </a:spcBef>
            </a:pPr>
            <a:r>
              <a:rPr lang="en-US" altLang="ko-KR" sz="1600" dirty="0">
                <a:solidFill>
                  <a:srgbClr val="50646E"/>
                </a:solidFill>
              </a:rPr>
              <a:t>FTS가 인덱스 강제보다 저렴</a:t>
            </a:r>
            <a:r>
              <a:rPr lang="ko-KR" altLang="en-US" sz="1600" dirty="0">
                <a:solidFill>
                  <a:srgbClr val="50646E"/>
                </a:solidFill>
              </a:rPr>
              <a:t/>
            </a:r>
            <a:r>
              <a:rPr lang="en-US" altLang="ko-KR" sz="1600" dirty="0">
                <a:solidFill>
                  <a:srgbClr val="50646E"/>
                </a:solidFill>
              </a:rPr>
              <a:t/>
            </a:r>
          </a:p>
        </p:txBody>
      </p:sp>
      <p:pic>
        <p:nvPicPr>
          <p:cNvPr id="11" name="Picture 10" descr="composite_cas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6388" y="2505019"/>
            <a:ext cx="5645288" cy="3718683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153293" y="1764296"/>
            <a:ext cx="4233966" cy="52001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730"/>
                </a:solidFill>
              </a:rPr>
              <a:t>• T1: 선행 CUST_ID 조건 없어 INDEX FULL SCAN(34,094)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730"/>
                </a:solidFill>
              </a:rPr>
              <a:t>• T2: ORDER_DT 선행이라 RANGE SCAN하나 ROWID 접근으로 32,592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730"/>
                </a:solidFill>
              </a:rPr>
              <a:t>• 옵티마이저 자연 선택 FTS(2,063)가 최적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텍스트 개체 틀 3"/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pPr algn="r"/>
            <a:r>
              <a:rPr lang="en-US" altLang="ko-KR" sz="1600" dirty="0" smtClean="0"/>
              <a:t>Case 2</a:t>
            </a:r>
            <a:r>
              <a:rPr lang="ko-KR" altLang="en-US" sz="1600" dirty="0" smtClean="0"/>
              <a:t/>
            </a:r>
            <a:endParaRPr lang="ko-KR" altLang="en-US" sz="1600" dirty="0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ko-KR" altLang="en-US" dirty="0" smtClean="0"/>
              <a:t>CUST_ID 등치 + ORDER_DT 범위</a:t>
            </a:r>
            <a:r>
              <a:rPr lang="en-US" altLang="ko-KR" dirty="0" smtClean="0"/>
              <a:t/>
            </a:r>
            <a:endParaRPr lang="ko-KR" altLang="en-US" dirty="0"/>
          </a:p>
        </p:txBody>
      </p:sp>
      <p:sp>
        <p:nvSpPr>
          <p:cNvPr id="10" name="텍스트 개체 틀 4"/>
          <p:cNvSpPr>
            <a:spLocks noGrp="1"/>
          </p:cNvSpPr>
          <p:nvPr>
            <p:ph type="body" sz="quarter" idx="12"/>
          </p:nvPr>
        </p:nvSpPr>
        <p:spPr>
          <a:xfrm>
            <a:off x="234132" y="828303"/>
            <a:ext cx="7956884" cy="835266"/>
          </a:xfrm>
        </p:spPr>
        <p:txBody>
          <a:bodyPr vert="horz" lIns="91440" tIns="45720" rIns="91440" bIns="45720" rtlCol="0">
            <a:normAutofit/>
          </a:bodyPr>
          <a:lstStyle/>
          <a:p>
            <a:pPr defTabSz="914400">
              <a:spcBef>
                <a:spcPct val="20000"/>
              </a:spcBef>
            </a:pPr>
            <a:r>
              <a:rPr lang="en-US" altLang="ko-KR" sz="1600" dirty="0">
                <a:solidFill>
                  <a:srgbClr val="50646E"/>
                </a:solidFill>
              </a:rPr>
              <a:t>ORDERS_T1이 압도적 (Cost 4)</a:t>
            </a:r>
            <a:r>
              <a:rPr lang="ko-KR" altLang="en-US" sz="1600" dirty="0">
                <a:solidFill>
                  <a:srgbClr val="50646E"/>
                </a:solidFill>
              </a:rPr>
              <a:t/>
            </a:r>
            <a:r>
              <a:rPr lang="en-US" altLang="ko-KR" sz="1600" dirty="0">
                <a:solidFill>
                  <a:srgbClr val="50646E"/>
                </a:solidFill>
              </a:rPr>
              <a:t/>
            </a:r>
          </a:p>
        </p:txBody>
      </p:sp>
      <p:pic>
        <p:nvPicPr>
          <p:cNvPr id="11" name="Picture 10" descr="composite_case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6388" y="2449613"/>
            <a:ext cx="5645288" cy="382949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153293" y="1764296"/>
            <a:ext cx="4233966" cy="52001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730"/>
                </a:solidFill>
              </a:rPr>
              <a:t>• T1: CUST_ID로 먼저 좁힌 뒤 ORDER_DT 범위 → 두 조건 모두 Access Predicate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730"/>
                </a:solidFill>
              </a:rPr>
              <a:t>• T2: ORDER_DT 먼저 탐색 후 CUST_ID Filter → Cost 109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730"/>
                </a:solidFill>
              </a:rPr>
              <a:t>• → 고객별 기간 조회에는 CUST_ID 선행이 적합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텍스트 개체 틀 3"/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pPr algn="r"/>
            <a:r>
              <a:rPr lang="en-US" altLang="ko-KR" sz="1600" dirty="0" smtClean="0"/>
              <a:t>Case 3</a:t>
            </a:r>
            <a:r>
              <a:rPr lang="ko-KR" altLang="en-US" sz="1600" dirty="0" smtClean="0"/>
              <a:t/>
            </a:r>
            <a:endParaRPr lang="ko-KR" altLang="en-US" sz="1600" dirty="0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ko-KR" altLang="en-US" dirty="0" smtClean="0"/>
              <a:t>CUST_ID 단독</a:t>
            </a:r>
            <a:r>
              <a:rPr lang="en-US" altLang="ko-KR" dirty="0" smtClean="0"/>
              <a:t/>
            </a:r>
            <a:endParaRPr lang="ko-KR" altLang="en-US" dirty="0"/>
          </a:p>
        </p:txBody>
      </p:sp>
      <p:sp>
        <p:nvSpPr>
          <p:cNvPr id="10" name="텍스트 개체 틀 4"/>
          <p:cNvSpPr>
            <a:spLocks noGrp="1"/>
          </p:cNvSpPr>
          <p:nvPr>
            <p:ph type="body" sz="quarter" idx="12"/>
          </p:nvPr>
        </p:nvSpPr>
        <p:spPr>
          <a:xfrm>
            <a:off x="234132" y="828303"/>
            <a:ext cx="7956884" cy="835266"/>
          </a:xfrm>
        </p:spPr>
        <p:txBody>
          <a:bodyPr vert="horz" lIns="91440" tIns="45720" rIns="91440" bIns="45720" rtlCol="0">
            <a:normAutofit/>
          </a:bodyPr>
          <a:lstStyle/>
          <a:p>
            <a:pPr defTabSz="914400">
              <a:spcBef>
                <a:spcPct val="20000"/>
              </a:spcBef>
            </a:pPr>
            <a:r>
              <a:rPr lang="en-US" altLang="ko-KR" sz="1600" dirty="0">
                <a:solidFill>
                  <a:srgbClr val="50646E"/>
                </a:solidFill>
              </a:rPr>
              <a:t>선행 컬럼이 조건과 일치해야 유리</a:t>
            </a:r>
            <a:r>
              <a:rPr lang="ko-KR" altLang="en-US" sz="1600" dirty="0">
                <a:solidFill>
                  <a:srgbClr val="50646E"/>
                </a:solidFill>
              </a:rPr>
              <a:t/>
            </a:r>
            <a:r>
              <a:rPr lang="en-US" altLang="ko-KR" sz="1600" dirty="0">
                <a:solidFill>
                  <a:srgbClr val="50646E"/>
                </a:solidFill>
              </a:rPr>
              <a:t/>
            </a:r>
          </a:p>
        </p:txBody>
      </p:sp>
      <p:sp>
        <p:nvSpPr>
          <p:cNvPr id="11" name="내용 개체 틀 10"/>
          <p:cNvSpPr>
            <a:spLocks noGrp="1"/>
          </p:cNvSpPr>
          <p:nvPr>
            <p:ph idx="13"/>
          </p:nvPr>
        </p:nvSpPr>
        <p:spPr/>
        <p:txBody>
          <a:bodyPr wrap="square"/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730"/>
                </a:solidFill>
              </a:rPr>
              <a:t>• ORDERS_T1(또는 ORDERS_F1)은 선행 CUST_ID로 효율적</a:t>
            </a:r>
            <a:endParaRPr lang="ko-KR" altLang="en-US" dirty="0"/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730"/>
                </a:solidFill>
              </a:rPr>
              <a:t>• ORDERS_T2는 선행 ORDER_DT 조건이 없어 부적합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730"/>
                </a:solidFill>
              </a:rPr>
              <a:t>• Case 1·2와 동일하게 "조회 조건 조합"이 유리 인덱스를 결정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텍스트 개체 틀 3"/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pPr algn="r"/>
            <a:r>
              <a:rPr lang="en-US" altLang="ko-KR" sz="1600" dirty="0" smtClean="0"/>
              <a:t>특정 인덱스가 항상 우수하지 않음</a:t>
            </a:r>
            <a:r>
              <a:rPr lang="ko-KR" altLang="en-US" sz="1600" dirty="0" smtClean="0"/>
              <a:t/>
            </a:r>
            <a:endParaRPr lang="ko-KR" altLang="en-US" sz="1600" dirty="0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ko-KR" altLang="en-US" dirty="0" smtClean="0"/>
              <a:t>조회 패턴별 종합</a:t>
            </a:r>
            <a:r>
              <a:rPr lang="en-US" altLang="ko-KR" dirty="0" smtClean="0"/>
              <a:t/>
            </a:r>
            <a:endParaRPr lang="ko-KR" altLang="en-US" dirty="0"/>
          </a:p>
        </p:txBody>
      </p:sp>
      <p:sp>
        <p:nvSpPr>
          <p:cNvPr id="10" name="텍스트 개체 틀 4"/>
          <p:cNvSpPr>
            <a:spLocks noGrp="1"/>
          </p:cNvSpPr>
          <p:nvPr>
            <p:ph type="body" sz="quarter" idx="12"/>
          </p:nvPr>
        </p:nvSpPr>
        <p:spPr>
          <a:xfrm>
            <a:off x="234132" y="828303"/>
            <a:ext cx="7956884" cy="835266"/>
          </a:xfrm>
        </p:spPr>
        <p:txBody>
          <a:bodyPr vert="horz" lIns="91440" tIns="45720" rIns="91440" bIns="45720" rtlCol="0">
            <a:normAutofit/>
          </a:bodyPr>
          <a:lstStyle/>
          <a:p>
            <a:pPr defTabSz="914400">
              <a:spcBef>
                <a:spcPct val="20000"/>
              </a:spcBef>
            </a:pPr>
            <a:r>
              <a:rPr lang="en-US" altLang="ko-KR" sz="1600" dirty="0">
                <a:solidFill>
                  <a:srgbClr val="50646E"/>
                </a:solidFill>
              </a:rPr>
              <a:t>Summary</a:t>
            </a:r>
            <a:r>
              <a:rPr lang="ko-KR" altLang="en-US" sz="1600" dirty="0">
                <a:solidFill>
                  <a:srgbClr val="50646E"/>
                </a:solidFill>
              </a:rPr>
              <a:t>를 입력해주세요</a:t>
            </a:r>
            <a:r>
              <a:rPr lang="en-US" altLang="ko-KR" sz="1600" dirty="0">
                <a:solidFill>
                  <a:srgbClr val="50646E"/>
                </a:solidFill>
              </a:rPr>
              <a:t>.</a:t>
            </a:r>
          </a:p>
          <a:p>
            <a:pPr defTabSz="914400">
              <a:spcBef>
                <a:spcPct val="20000"/>
              </a:spcBef>
            </a:pPr>
            <a:r>
              <a:rPr lang="ko-KR" altLang="en-US" sz="1600" dirty="0">
                <a:solidFill>
                  <a:srgbClr val="50646E"/>
                </a:solidFill>
              </a:rPr>
              <a:t>최대 </a:t>
            </a:r>
            <a:r>
              <a:rPr lang="en-US" altLang="ko-KR" sz="1600" dirty="0">
                <a:solidFill>
                  <a:srgbClr val="50646E"/>
                </a:solidFill>
              </a:rPr>
              <a:t>2</a:t>
            </a:r>
            <a:r>
              <a:rPr lang="ko-KR" altLang="en-US" sz="1600" dirty="0">
                <a:solidFill>
                  <a:srgbClr val="50646E"/>
                </a:solidFill>
              </a:rPr>
              <a:t>줄까지 작성 가능합니다</a:t>
            </a:r>
            <a:r>
              <a:rPr lang="en-US" altLang="ko-KR" sz="1600" dirty="0">
                <a:solidFill>
                  <a:srgbClr val="50646E"/>
                </a:solidFill>
              </a:rPr>
              <a:t>.</a:t>
            </a:r>
            <a:endParaRPr lang="ko-KR" altLang="en-US" sz="1600" dirty="0">
              <a:solidFill>
                <a:srgbClr val="50646E"/>
              </a:solidFill>
            </a:endParaRP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17624" y="1764296"/>
          <a:ext cx="10058400" cy="15361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011680"/>
                <a:gridCol w="2011680"/>
                <a:gridCol w="2011680"/>
                <a:gridCol w="2011680"/>
              </a:tblGrid>
              <a:tr h="384048"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</a:rPr>
                        <a:t>조회 패턴</a:t>
                      </a:r>
                    </a:p>
                  </a:txBody>
                  <a:tcPr anchor="ctr" marT="25400" marB="25400"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</a:rPr>
                        <a:t>자동 선택</a:t>
                      </a:r>
                    </a:p>
                  </a:txBody>
                  <a:tcPr anchor="ctr" marT="25400" marB="25400"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</a:rPr>
                        <a:t>T1 Cost</a:t>
                      </a:r>
                    </a:p>
                  </a:txBody>
                  <a:tcPr anchor="ctr" marT="25400" marB="25400"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</a:rPr>
                        <a:t>T2 Cost</a:t>
                      </a:r>
                    </a:p>
                  </a:txBody>
                  <a:tcPr anchor="ctr" marT="25400" marB="25400"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</a:rPr>
                        <a:t>판단</a:t>
                      </a:r>
                    </a:p>
                  </a:txBody>
                  <a:tcPr anchor="ctr" marT="25400" marB="25400">
                    <a:solidFill>
                      <a:srgbClr val="1B2A4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222730"/>
                          </a:solidFill>
                        </a:rPr>
                        <a:t>ORDER_DT 범위만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222730"/>
                          </a:solidFill>
                        </a:rPr>
                        <a:t>FTS(2,063)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222730"/>
                          </a:solidFill>
                        </a:rPr>
                        <a:t>34,094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222730"/>
                          </a:solidFill>
                        </a:rPr>
                        <a:t>32,592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222730"/>
                          </a:solidFill>
                        </a:rPr>
                        <a:t>FTS 유리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222730"/>
                          </a:solidFill>
                        </a:rPr>
                        <a:t>CUST_ID + ORDER_DT</a:t>
                      </a:r>
                    </a:p>
                  </a:txBody>
                  <a:tcPr anchor="ctr" marT="12700" marB="12700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222730"/>
                          </a:solidFill>
                        </a:rPr>
                        <a:t>T1(4)</a:t>
                      </a:r>
                    </a:p>
                  </a:txBody>
                  <a:tcPr anchor="ctr" marT="12700" marB="12700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222730"/>
                          </a:solidFill>
                        </a:rPr>
                        <a:t>4</a:t>
                      </a:r>
                    </a:p>
                  </a:txBody>
                  <a:tcPr anchor="ctr" marT="12700" marB="12700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222730"/>
                          </a:solidFill>
                        </a:rPr>
                        <a:t>109</a:t>
                      </a:r>
                    </a:p>
                  </a:txBody>
                  <a:tcPr anchor="ctr" marT="12700" marB="12700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222730"/>
                          </a:solidFill>
                        </a:rPr>
                        <a:t>T1 유리</a:t>
                      </a:r>
                    </a:p>
                  </a:txBody>
                  <a:tcPr anchor="ctr" marT="12700" marB="12700">
                    <a:solidFill>
                      <a:srgbClr val="F2F4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222730"/>
                          </a:solidFill>
                        </a:rPr>
                        <a:t>CUST_ID 단독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222730"/>
                          </a:solidFill>
                        </a:rPr>
                        <a:t>T1/F1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222730"/>
                          </a:solidFill>
                        </a:rPr>
                        <a:t>유리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222730"/>
                          </a:solidFill>
                        </a:rPr>
                        <a:t>부적합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222730"/>
                          </a:solidFill>
                        </a:rPr>
                        <a:t>T1 유리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텍스트 개체 틀 3"/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pPr algn="r"/>
            <a:r>
              <a:rPr lang="en-US" altLang="ko-KR" sz="1600" dirty="0" smtClean="0"/>
              <a:t>Conclusion</a:t>
            </a:r>
            <a:r>
              <a:rPr lang="ko-KR" altLang="en-US" sz="1600" dirty="0" smtClean="0"/>
              <a:t/>
            </a:r>
            <a:endParaRPr lang="ko-KR" altLang="en-US" sz="1600" dirty="0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ko-KR" altLang="en-US" dirty="0" smtClean="0"/>
              <a:t>종합 결론 — 워크로드별 전략</a:t>
            </a:r>
            <a:r>
              <a:rPr lang="en-US" altLang="ko-KR" dirty="0" smtClean="0"/>
              <a:t/>
            </a:r>
            <a:endParaRPr lang="ko-KR" altLang="en-US" dirty="0"/>
          </a:p>
        </p:txBody>
      </p:sp>
      <p:sp>
        <p:nvSpPr>
          <p:cNvPr id="10" name="텍스트 개체 틀 4"/>
          <p:cNvSpPr>
            <a:spLocks noGrp="1"/>
          </p:cNvSpPr>
          <p:nvPr>
            <p:ph type="body" sz="quarter" idx="12"/>
          </p:nvPr>
        </p:nvSpPr>
        <p:spPr>
          <a:xfrm>
            <a:off x="234132" y="828303"/>
            <a:ext cx="7956884" cy="835266"/>
          </a:xfrm>
        </p:spPr>
        <p:txBody>
          <a:bodyPr vert="horz" lIns="91440" tIns="45720" rIns="91440" bIns="45720" rtlCol="0">
            <a:normAutofit/>
          </a:bodyPr>
          <a:lstStyle/>
          <a:p>
            <a:pPr defTabSz="914400">
              <a:spcBef>
                <a:spcPct val="20000"/>
              </a:spcBef>
            </a:pPr>
            <a:r>
              <a:rPr lang="en-US" altLang="ko-KR" sz="1600" dirty="0">
                <a:solidFill>
                  <a:srgbClr val="50646E"/>
                </a:solidFill>
              </a:rPr>
              <a:t>인덱스 튜닝의 효용은 워크로드에 달림</a:t>
            </a:r>
            <a:r>
              <a:rPr lang="ko-KR" altLang="en-US" sz="1600" dirty="0">
                <a:solidFill>
                  <a:srgbClr val="50646E"/>
                </a:solidFill>
              </a:rPr>
              <a:t/>
            </a:r>
            <a:r>
              <a:rPr lang="en-US" altLang="ko-KR" sz="1600" dirty="0">
                <a:solidFill>
                  <a:srgbClr val="50646E"/>
                </a:solidFill>
              </a:rPr>
              <a:t/>
            </a:r>
          </a:p>
        </p:txBody>
      </p:sp>
      <p:sp>
        <p:nvSpPr>
          <p:cNvPr id="11" name="내용 개체 틀 10"/>
          <p:cNvSpPr>
            <a:spLocks noGrp="1"/>
          </p:cNvSpPr>
          <p:nvPr>
            <p:ph idx="13"/>
          </p:nvPr>
        </p:nvSpPr>
        <p:spPr/>
        <p:txBody>
          <a:bodyPr wrap="square"/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730"/>
                </a:solidFill>
              </a:rPr>
              <a:t>• 분석 쿼리(DSS)는 FTS+HASH JOIN이 정답 → 인덱스로 튜닝 대상 아님</a:t>
            </a:r>
            <a:endParaRPr lang="ko-KR" altLang="en-US" dirty="0"/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730"/>
                </a:solidFill>
              </a:rPr>
              <a:t>• 인덱스 효용은 OLTP 고객 조회(ORDERS_T1 Cost 4)에 있음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730"/>
                </a:solidFill>
              </a:rPr>
              <a:t>• 온라인 서점 = 쓰기 잦음 → 분석용 중복 인덱스 추가는 DML 비용상 부적절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730"/>
                </a:solidFill>
              </a:rPr>
              <a:t>• ORDERS_T2는 기존 ORDERS_N1과 선두 컬럼 중복 → 도입 신중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텍스트 개체 틀 3"/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pPr algn="r"/>
            <a:r>
              <a:rPr lang="en-US" altLang="ko-KR" sz="1600" dirty="0" smtClean="0"/>
              <a:t>Method</a:t>
            </a:r>
            <a:r>
              <a:rPr lang="ko-KR" altLang="en-US" sz="1600" dirty="0" smtClean="0"/>
              <a:t/>
            </a:r>
            <a:endParaRPr lang="ko-KR" altLang="en-US" sz="1600" dirty="0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ko-KR" altLang="en-US" dirty="0" smtClean="0"/>
              <a:t>방법론 — 4단계 반복</a:t>
            </a:r>
            <a:r>
              <a:rPr lang="en-US" altLang="ko-KR" dirty="0" smtClean="0"/>
              <a:t/>
            </a:r>
            <a:endParaRPr lang="ko-KR" altLang="en-US" dirty="0"/>
          </a:p>
        </p:txBody>
      </p:sp>
      <p:sp>
        <p:nvSpPr>
          <p:cNvPr id="10" name="텍스트 개체 틀 4"/>
          <p:cNvSpPr>
            <a:spLocks noGrp="1"/>
          </p:cNvSpPr>
          <p:nvPr>
            <p:ph type="body" sz="quarter" idx="12"/>
          </p:nvPr>
        </p:nvSpPr>
        <p:spPr>
          <a:xfrm>
            <a:off x="234132" y="828303"/>
            <a:ext cx="7956884" cy="835266"/>
          </a:xfrm>
        </p:spPr>
        <p:txBody>
          <a:bodyPr vert="horz" lIns="91440" tIns="45720" rIns="91440" bIns="45720" rtlCol="0">
            <a:normAutofit/>
          </a:bodyPr>
          <a:lstStyle/>
          <a:p>
            <a:pPr defTabSz="914400">
              <a:spcBef>
                <a:spcPct val="20000"/>
              </a:spcBef>
            </a:pPr>
            <a:r>
              <a:rPr lang="en-US" altLang="ko-KR" sz="1600" dirty="0">
                <a:solidFill>
                  <a:srgbClr val="50646E"/>
                </a:solidFill>
              </a:rPr>
              <a:t>모든 실험을 동일한 절차로 수행</a:t>
            </a:r>
            <a:r>
              <a:rPr lang="ko-KR" altLang="en-US" sz="1600" dirty="0">
                <a:solidFill>
                  <a:srgbClr val="50646E"/>
                </a:solidFill>
              </a:rPr>
              <a:t/>
            </a:r>
            <a:r>
              <a:rPr lang="en-US" altLang="ko-KR" sz="1600" dirty="0">
                <a:solidFill>
                  <a:srgbClr val="50646E"/>
                </a:solidFill>
              </a:rPr>
              <a:t/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17624" y="1764296"/>
          <a:ext cx="1005840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9200"/>
                <a:gridCol w="5029200"/>
              </a:tblGrid>
              <a:tr h="384048">
                <a:tc>
                  <a:txBody>
                    <a:bodyPr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단계</a:t>
                      </a:r>
                    </a:p>
                  </a:txBody>
                  <a:tcPr anchor="ctr" marT="25400" marB="25400"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내용</a:t>
                      </a:r>
                    </a:p>
                  </a:txBody>
                  <a:tcPr anchor="ctr" marT="25400" marB="25400">
                    <a:solidFill>
                      <a:srgbClr val="1B2A4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222730"/>
                          </a:solidFill>
                        </a:rPr>
                        <a:t>① 코드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>
                          <a:solidFill>
                            <a:srgbClr val="222730"/>
                          </a:solidFill>
                        </a:rPr>
                        <a:t>대상 SQL·힌트 작성 및 실행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222730"/>
                          </a:solidFill>
                        </a:rPr>
                        <a:t>② 실행계획 확인</a:t>
                      </a:r>
                    </a:p>
                  </a:txBody>
                  <a:tcPr anchor="ctr" marT="12700" marB="12700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>
                          <a:solidFill>
                            <a:srgbClr val="222730"/>
                          </a:solidFill>
                        </a:rPr>
                        <a:t>EXPLAIN/AUTOTRACE/DISPLAY_CURSOR</a:t>
                      </a:r>
                    </a:p>
                  </a:txBody>
                  <a:tcPr anchor="ctr" marT="12700" marB="12700">
                    <a:solidFill>
                      <a:srgbClr val="F2F4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222730"/>
                          </a:solidFill>
                        </a:rPr>
                        <a:t>③ 표 정리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>
                          <a:solidFill>
                            <a:srgbClr val="222730"/>
                          </a:solidFill>
                        </a:rPr>
                        <a:t>Cost·E-Rows·A-Rows·Buffers 수집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222730"/>
                          </a:solidFill>
                        </a:rPr>
                        <a:t>④ 해석</a:t>
                      </a:r>
                    </a:p>
                  </a:txBody>
                  <a:tcPr anchor="ctr" marT="12700" marB="12700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>
                          <a:solidFill>
                            <a:srgbClr val="222730"/>
                          </a:solidFill>
                        </a:rPr>
                        <a:t>접근 경로·조인 방식 근거 분석</a:t>
                      </a:r>
                    </a:p>
                  </a:txBody>
                  <a:tcPr anchor="ctr" marT="12700" marB="12700"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텍스트 개체 틀 3"/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pPr algn="r"/>
            <a:r>
              <a:rPr lang="en-US" altLang="ko-KR" sz="1600" dirty="0" smtClean="0"/>
              <a:t>Stats</a:t>
            </a:r>
            <a:r>
              <a:rPr lang="ko-KR" altLang="en-US" sz="1600" dirty="0" smtClean="0"/>
              <a:t/>
            </a:r>
            <a:endParaRPr lang="ko-KR" altLang="en-US" sz="1600" dirty="0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ko-KR" altLang="en-US" dirty="0" smtClean="0"/>
              <a:t>테이블 통계 실측</a:t>
            </a:r>
            <a:r>
              <a:rPr lang="en-US" altLang="ko-KR" dirty="0" smtClean="0"/>
              <a:t/>
            </a:r>
            <a:endParaRPr lang="ko-KR" altLang="en-US" dirty="0"/>
          </a:p>
        </p:txBody>
      </p:sp>
      <p:sp>
        <p:nvSpPr>
          <p:cNvPr id="10" name="텍스트 개체 틀 4"/>
          <p:cNvSpPr>
            <a:spLocks noGrp="1"/>
          </p:cNvSpPr>
          <p:nvPr>
            <p:ph type="body" sz="quarter" idx="12"/>
          </p:nvPr>
        </p:nvSpPr>
        <p:spPr>
          <a:xfrm>
            <a:off x="234132" y="828303"/>
            <a:ext cx="7956884" cy="835266"/>
          </a:xfrm>
        </p:spPr>
        <p:txBody>
          <a:bodyPr vert="horz" lIns="91440" tIns="45720" rIns="91440" bIns="45720" rtlCol="0">
            <a:normAutofit/>
          </a:bodyPr>
          <a:lstStyle/>
          <a:p>
            <a:pPr defTabSz="914400">
              <a:spcBef>
                <a:spcPct val="20000"/>
              </a:spcBef>
            </a:pPr>
            <a:r>
              <a:rPr lang="en-US" altLang="ko-KR" sz="1600" dirty="0">
                <a:solidFill>
                  <a:srgbClr val="50646E"/>
                </a:solidFill>
              </a:rPr>
              <a:t>대용량 테이블 접근 경로가 성능을 좌우</a:t>
            </a:r>
            <a:r>
              <a:rPr lang="ko-KR" altLang="en-US" sz="1600" dirty="0">
                <a:solidFill>
                  <a:srgbClr val="50646E"/>
                </a:solidFill>
              </a:rPr>
              <a:t/>
            </a:r>
            <a:r>
              <a:rPr lang="en-US" altLang="ko-KR" sz="1600" dirty="0">
                <a:solidFill>
                  <a:srgbClr val="50646E"/>
                </a:solidFill>
              </a:rPr>
              <a:t/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17624" y="1764296"/>
          <a:ext cx="1005840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52800"/>
                <a:gridCol w="3352800"/>
                <a:gridCol w="3352800"/>
              </a:tblGrid>
              <a:tr h="384048">
                <a:tc>
                  <a:txBody>
                    <a:bodyPr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테이블</a:t>
                      </a:r>
                    </a:p>
                  </a:txBody>
                  <a:tcPr anchor="ctr" marT="25400" marB="25400"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건수</a:t>
                      </a:r>
                    </a:p>
                  </a:txBody>
                  <a:tcPr anchor="ctr" marT="25400" marB="25400"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비고</a:t>
                      </a:r>
                    </a:p>
                  </a:txBody>
                  <a:tcPr anchor="ctr" marT="25400" marB="25400">
                    <a:solidFill>
                      <a:srgbClr val="1B2A4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222730"/>
                          </a:solidFill>
                        </a:rPr>
                        <a:t>ORDER_ITEMS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>
                          <a:solidFill>
                            <a:srgbClr val="222730"/>
                          </a:solidFill>
                        </a:rPr>
                        <a:t>5,000,000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>
                          <a:solidFill>
                            <a:srgbClr val="222730"/>
                          </a:solidFill>
                        </a:rPr>
                        <a:t>최대 — 조인 지배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222730"/>
                          </a:solidFill>
                        </a:rPr>
                        <a:t>ORDERS</a:t>
                      </a:r>
                    </a:p>
                  </a:txBody>
                  <a:tcPr anchor="ctr" marT="12700" marB="12700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>
                          <a:solidFill>
                            <a:srgbClr val="222730"/>
                          </a:solidFill>
                        </a:rPr>
                        <a:t>2,000,000</a:t>
                      </a:r>
                    </a:p>
                  </a:txBody>
                  <a:tcPr anchor="ctr" marT="12700" marB="12700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>
                          <a:solidFill>
                            <a:srgbClr val="222730"/>
                          </a:solidFill>
                        </a:rPr>
                        <a:t>통계값(실제 2,000,005)</a:t>
                      </a:r>
                    </a:p>
                  </a:txBody>
                  <a:tcPr anchor="ctr" marT="12700" marB="12700">
                    <a:solidFill>
                      <a:srgbClr val="F2F4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222730"/>
                          </a:solidFill>
                        </a:rPr>
                        <a:t>PRODUCTS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>
                          <a:solidFill>
                            <a:srgbClr val="222730"/>
                          </a:solidFill>
                        </a:rPr>
                        <a:t>900,000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222730"/>
                          </a:solidFill>
                        </a:rPr>
                        <a:t>CUSTOMERS</a:t>
                      </a:r>
                    </a:p>
                  </a:txBody>
                  <a:tcPr anchor="ctr" marT="12700" marB="12700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>
                          <a:solidFill>
                            <a:srgbClr val="222730"/>
                          </a:solidFill>
                        </a:rPr>
                        <a:t>100,000</a:t>
                      </a:r>
                    </a:p>
                  </a:txBody>
                  <a:tcPr anchor="ctr" marT="12700" marB="12700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>
                          <a:solidFill>
                            <a:srgbClr val="222730"/>
                          </a:solidFill>
                        </a:rPr>
                        <a:t>조인 대상</a:t>
                      </a:r>
                    </a:p>
                  </a:txBody>
                  <a:tcPr anchor="ctr" marT="12700" marB="12700"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텍스트 개체 틀 3"/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pPr algn="r"/>
            <a:r>
              <a:rPr lang="en-US" altLang="ko-KR" sz="1600" dirty="0" smtClean="0"/>
              <a:t>ColStats</a:t>
            </a:r>
            <a:r>
              <a:rPr lang="ko-KR" altLang="en-US" sz="1600" dirty="0" smtClean="0"/>
              <a:t/>
            </a:r>
            <a:endParaRPr lang="ko-KR" altLang="en-US" sz="1600" dirty="0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ko-KR" altLang="en-US" dirty="0" smtClean="0"/>
              <a:t>컬럼 통계 &amp; 히스토그램</a:t>
            </a:r>
            <a:r>
              <a:rPr lang="en-US" altLang="ko-KR" dirty="0" smtClean="0"/>
              <a:t/>
            </a:r>
            <a:endParaRPr lang="ko-KR" altLang="en-US" dirty="0"/>
          </a:p>
        </p:txBody>
      </p:sp>
      <p:sp>
        <p:nvSpPr>
          <p:cNvPr id="10" name="텍스트 개체 틀 4"/>
          <p:cNvSpPr>
            <a:spLocks noGrp="1"/>
          </p:cNvSpPr>
          <p:nvPr>
            <p:ph type="body" sz="quarter" idx="12"/>
          </p:nvPr>
        </p:nvSpPr>
        <p:spPr>
          <a:xfrm>
            <a:off x="234132" y="828303"/>
            <a:ext cx="7956884" cy="835266"/>
          </a:xfrm>
        </p:spPr>
        <p:txBody>
          <a:bodyPr vert="horz" lIns="91440" tIns="45720" rIns="91440" bIns="45720" rtlCol="0">
            <a:normAutofit/>
          </a:bodyPr>
          <a:lstStyle/>
          <a:p>
            <a:pPr defTabSz="914400">
              <a:spcBef>
                <a:spcPct val="20000"/>
              </a:spcBef>
            </a:pPr>
            <a:r>
              <a:rPr lang="en-US" altLang="ko-KR" sz="1600" dirty="0">
                <a:solidFill>
                  <a:srgbClr val="50646E"/>
                </a:solidFill>
              </a:rPr>
              <a:t>옵티마이저 추정의 근거</a:t>
            </a:r>
            <a:r>
              <a:rPr lang="ko-KR" altLang="en-US" sz="1600" dirty="0">
                <a:solidFill>
                  <a:srgbClr val="50646E"/>
                </a:solidFill>
              </a:rPr>
              <a:t/>
            </a:r>
            <a:r>
              <a:rPr lang="en-US" altLang="ko-KR" sz="1600" dirty="0">
                <a:solidFill>
                  <a:srgbClr val="50646E"/>
                </a:solidFill>
              </a:rPr>
              <a:t/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17624" y="1764296"/>
          <a:ext cx="10058400" cy="15361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52800"/>
                <a:gridCol w="3352800"/>
                <a:gridCol w="3352800"/>
              </a:tblGrid>
              <a:tr h="384048">
                <a:tc>
                  <a:txBody>
                    <a:bodyPr/>
                    <a:lstStyle/>
                    <a:p>
                      <a:pPr algn="ctr"/>
                      <a:r>
                        <a:rPr b="1" sz="1150">
                          <a:solidFill>
                            <a:srgbClr val="FFFFFF"/>
                          </a:solidFill>
                        </a:rPr>
                        <a:t>컬럼</a:t>
                      </a:r>
                    </a:p>
                  </a:txBody>
                  <a:tcPr anchor="ctr" marT="25400" marB="25400"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150">
                          <a:solidFill>
                            <a:srgbClr val="FFFFFF"/>
                          </a:solidFill>
                        </a:rPr>
                        <a:t>NUM_DISTINCT</a:t>
                      </a:r>
                    </a:p>
                  </a:txBody>
                  <a:tcPr anchor="ctr" marT="25400" marB="25400"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150">
                          <a:solidFill>
                            <a:srgbClr val="FFFFFF"/>
                          </a:solidFill>
                        </a:rPr>
                        <a:t>히스토그램</a:t>
                      </a:r>
                    </a:p>
                  </a:txBody>
                  <a:tcPr anchor="ctr" marT="25400" marB="25400">
                    <a:solidFill>
                      <a:srgbClr val="1B2A4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222730"/>
                          </a:solidFill>
                        </a:rPr>
                        <a:t>ORDER_DT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22730"/>
                          </a:solidFill>
                        </a:rPr>
                        <a:t>1,971,840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22730"/>
                          </a:solidFill>
                        </a:rPr>
                        <a:t>범위 선택도 높음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222730"/>
                          </a:solidFill>
                        </a:rPr>
                        <a:t>ORDER_STATUS</a:t>
                      </a:r>
                    </a:p>
                  </a:txBody>
                  <a:tcPr anchor="ctr" marT="12700" marB="12700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22730"/>
                          </a:solidFill>
                        </a:rPr>
                        <a:t>6개 값</a:t>
                      </a:r>
                    </a:p>
                  </a:txBody>
                  <a:tcPr anchor="ctr" marT="12700" marB="12700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22730"/>
                          </a:solidFill>
                        </a:rPr>
                        <a:t>NONE (4가 95.58% 편향)</a:t>
                      </a:r>
                    </a:p>
                  </a:txBody>
                  <a:tcPr anchor="ctr" marT="12700" marB="12700">
                    <a:solidFill>
                      <a:srgbClr val="F2F4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222730"/>
                          </a:solidFill>
                        </a:rPr>
                        <a:t>ORDER_CHANNEL_TYPE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22730"/>
                          </a:solidFill>
                        </a:rPr>
                        <a:t>3개 값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22730"/>
                          </a:solidFill>
                        </a:rPr>
                        <a:t>단독 선택도 낮음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텍스트 개체 틀 3"/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pPr algn="r"/>
            <a:r>
              <a:rPr lang="en-US" altLang="ko-KR" sz="1600" dirty="0" smtClean="0"/>
              <a:t>Index</a:t>
            </a:r>
            <a:r>
              <a:rPr lang="ko-KR" altLang="en-US" sz="1600" dirty="0" smtClean="0"/>
              <a:t/>
            </a:r>
            <a:endParaRPr lang="ko-KR" altLang="en-US" sz="1600" dirty="0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ko-KR" altLang="en-US" dirty="0" smtClean="0"/>
              <a:t>ORDERS 기존 인덱스</a:t>
            </a:r>
            <a:r>
              <a:rPr lang="en-US" altLang="ko-KR" dirty="0" smtClean="0"/>
              <a:t/>
            </a:r>
            <a:endParaRPr lang="ko-KR" altLang="en-US" dirty="0"/>
          </a:p>
        </p:txBody>
      </p:sp>
      <p:sp>
        <p:nvSpPr>
          <p:cNvPr id="10" name="텍스트 개체 틀 4"/>
          <p:cNvSpPr>
            <a:spLocks noGrp="1"/>
          </p:cNvSpPr>
          <p:nvPr>
            <p:ph type="body" sz="quarter" idx="12"/>
          </p:nvPr>
        </p:nvSpPr>
        <p:spPr>
          <a:xfrm>
            <a:off x="234132" y="828303"/>
            <a:ext cx="7956884" cy="835266"/>
          </a:xfrm>
        </p:spPr>
        <p:txBody>
          <a:bodyPr vert="horz" lIns="91440" tIns="45720" rIns="91440" bIns="45720" rtlCol="0">
            <a:normAutofit/>
          </a:bodyPr>
          <a:lstStyle/>
          <a:p>
            <a:pPr defTabSz="914400">
              <a:spcBef>
                <a:spcPct val="20000"/>
              </a:spcBef>
            </a:pPr>
            <a:r>
              <a:rPr lang="en-US" altLang="ko-KR" sz="1600" dirty="0">
                <a:solidFill>
                  <a:srgbClr val="50646E"/>
                </a:solidFill>
              </a:rPr>
              <a:t>단일·복합 인덱스 구성 확인</a:t>
            </a:r>
            <a:r>
              <a:rPr lang="ko-KR" altLang="en-US" sz="1600" dirty="0">
                <a:solidFill>
                  <a:srgbClr val="50646E"/>
                </a:solidFill>
              </a:rPr>
              <a:t/>
            </a:r>
            <a:r>
              <a:rPr lang="en-US" altLang="ko-KR" sz="1600" dirty="0">
                <a:solidFill>
                  <a:srgbClr val="50646E"/>
                </a:solidFill>
              </a:rPr>
              <a:t/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17624" y="1764296"/>
          <a:ext cx="10058400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52800"/>
                <a:gridCol w="3352800"/>
                <a:gridCol w="3352800"/>
              </a:tblGrid>
              <a:tr h="384048">
                <a:tc>
                  <a:txBody>
                    <a:bodyPr/>
                    <a:lstStyle/>
                    <a:p>
                      <a:pPr algn="ctr"/>
                      <a:r>
                        <a:rPr b="1" sz="1150">
                          <a:solidFill>
                            <a:srgbClr val="FFFFFF"/>
                          </a:solidFill>
                        </a:rPr>
                        <a:t>인덱스</a:t>
                      </a:r>
                    </a:p>
                  </a:txBody>
                  <a:tcPr anchor="ctr" marT="25400" marB="25400"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150">
                          <a:solidFill>
                            <a:srgbClr val="FFFFFF"/>
                          </a:solidFill>
                        </a:rPr>
                        <a:t>컬럼</a:t>
                      </a:r>
                    </a:p>
                  </a:txBody>
                  <a:tcPr anchor="ctr" marT="25400" marB="25400"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150">
                          <a:solidFill>
                            <a:srgbClr val="FFFFFF"/>
                          </a:solidFill>
                        </a:rPr>
                        <a:t>성격</a:t>
                      </a:r>
                    </a:p>
                  </a:txBody>
                  <a:tcPr anchor="ctr" marT="25400" marB="25400">
                    <a:solidFill>
                      <a:srgbClr val="1B2A4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222730"/>
                          </a:solidFill>
                        </a:rPr>
                        <a:t>ORDERS_N1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22730"/>
                          </a:solidFill>
                        </a:rPr>
                        <a:t>ORDER_DT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22730"/>
                          </a:solidFill>
                        </a:rPr>
                        <a:t>날짜 단일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222730"/>
                          </a:solidFill>
                        </a:rPr>
                        <a:t>ORDERS_N2</a:t>
                      </a:r>
                    </a:p>
                  </a:txBody>
                  <a:tcPr anchor="ctr" marT="12700" marB="12700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22730"/>
                          </a:solidFill>
                        </a:rPr>
                        <a:t>ORDER_STATUS</a:t>
                      </a:r>
                    </a:p>
                  </a:txBody>
                  <a:tcPr anchor="ctr" marT="12700" marB="12700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22730"/>
                          </a:solidFill>
                        </a:rPr>
                        <a:t>상태 단일</a:t>
                      </a:r>
                    </a:p>
                  </a:txBody>
                  <a:tcPr anchor="ctr" marT="12700" marB="12700">
                    <a:solidFill>
                      <a:srgbClr val="F2F4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222730"/>
                          </a:solidFill>
                        </a:rPr>
                        <a:t>ORDERS_F1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22730"/>
                          </a:solidFill>
                        </a:rPr>
                        <a:t>CUST_ID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22730"/>
                          </a:solidFill>
                        </a:rPr>
                        <a:t>FK 단일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222730"/>
                          </a:solidFill>
                        </a:rPr>
                        <a:t>ORDERS_T1</a:t>
                      </a:r>
                    </a:p>
                  </a:txBody>
                  <a:tcPr anchor="ctr" marT="12700" marB="12700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22730"/>
                          </a:solidFill>
                        </a:rPr>
                        <a:t>CUST_ID, ORDER_DT</a:t>
                      </a:r>
                    </a:p>
                  </a:txBody>
                  <a:tcPr anchor="ctr" marT="12700" marB="12700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22730"/>
                          </a:solidFill>
                        </a:rPr>
                        <a:t>복합</a:t>
                      </a:r>
                    </a:p>
                  </a:txBody>
                  <a:tcPr anchor="ctr" marT="12700" marB="12700">
                    <a:solidFill>
                      <a:srgbClr val="F2F4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222730"/>
                          </a:solidFill>
                        </a:rPr>
                        <a:t>ORDER_ITEMS PK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22730"/>
                          </a:solidFill>
                        </a:rPr>
                        <a:t>ORDER_ID 선행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22730"/>
                          </a:solidFill>
                        </a:rPr>
                        <a:t>조인 활용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텍스트 개체 틀 3"/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pPr algn="r"/>
            <a:r>
              <a:rPr lang="en-US" altLang="ko-KR" sz="1600" dirty="0" smtClean="0"/>
              <a:t>CTE</a:t>
            </a:r>
            <a:r>
              <a:rPr lang="ko-KR" altLang="en-US" sz="1600" dirty="0" smtClean="0"/>
              <a:t/>
            </a:r>
            <a:endParaRPr lang="ko-KR" altLang="en-US" sz="1600" dirty="0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ko-KR" altLang="en-US" dirty="0" smtClean="0"/>
              <a:t>쿼리 설계 — CTE 구조</a:t>
            </a:r>
            <a:r>
              <a:rPr lang="en-US" altLang="ko-KR" dirty="0" smtClean="0"/>
              <a:t/>
            </a:r>
            <a:endParaRPr lang="ko-KR" altLang="en-US" dirty="0"/>
          </a:p>
        </p:txBody>
      </p:sp>
      <p:sp>
        <p:nvSpPr>
          <p:cNvPr id="10" name="텍스트 개체 틀 4"/>
          <p:cNvSpPr>
            <a:spLocks noGrp="1"/>
          </p:cNvSpPr>
          <p:nvPr>
            <p:ph type="body" sz="quarter" idx="12"/>
          </p:nvPr>
        </p:nvSpPr>
        <p:spPr>
          <a:xfrm>
            <a:off x="234132" y="828303"/>
            <a:ext cx="7956884" cy="835266"/>
          </a:xfrm>
        </p:spPr>
        <p:txBody>
          <a:bodyPr vert="horz" lIns="91440" tIns="45720" rIns="91440" bIns="45720" rtlCol="0">
            <a:normAutofit/>
          </a:bodyPr>
          <a:lstStyle/>
          <a:p>
            <a:pPr defTabSz="914400">
              <a:spcBef>
                <a:spcPct val="20000"/>
              </a:spcBef>
            </a:pPr>
            <a:r>
              <a:rPr lang="en-US" altLang="ko-KR" sz="1600" dirty="0">
                <a:solidFill>
                  <a:srgbClr val="50646E"/>
                </a:solidFill>
              </a:rPr>
              <a:t>원천 1회 스캔 후 3개 집계가 재사용</a:t>
            </a:r>
            <a:r>
              <a:rPr lang="ko-KR" altLang="en-US" sz="1600" dirty="0">
                <a:solidFill>
                  <a:srgbClr val="50646E"/>
                </a:solidFill>
              </a:rPr>
              <a:t/>
            </a:r>
            <a:r>
              <a:rPr lang="en-US" altLang="ko-KR" sz="1600" dirty="0">
                <a:solidFill>
                  <a:srgbClr val="50646E"/>
                </a:solidFill>
              </a:rPr>
              <a:t/>
            </a:r>
          </a:p>
        </p:txBody>
      </p:sp>
      <p:sp>
        <p:nvSpPr>
          <p:cNvPr id="11" name="내용 개체 틀 10"/>
          <p:cNvSpPr>
            <a:spLocks noGrp="1"/>
          </p:cNvSpPr>
          <p:nvPr>
            <p:ph idx="13"/>
          </p:nvPr>
        </p:nvSpPr>
        <p:spPr/>
        <p:txBody>
          <a:bodyPr wrap="square"/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730"/>
                </a:solidFill>
              </a:rPr>
              <a:t>• Q2_SALES: 2014 Q2 정상주문(상태 1~4)만 1회 스캔한 기반 CTE</a:t>
            </a:r>
            <a:endParaRPr lang="ko-KR" altLang="en-US" dirty="0"/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730"/>
                </a:solidFill>
              </a:rPr>
              <a:t>• 고객별 총구매금액 = Σ(ORDER_PRICE × ORDER_QUANTITY)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730"/>
                </a:solidFill>
              </a:rPr>
              <a:t>• 기간은 &gt;= DATE '2014-04-01' AND &lt; DATE '2014-07-01' (경계값 안전)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730"/>
                </a:solidFill>
              </a:rPr>
              <a:t>• 취소·반품(8·9) 제외 → 우수회원 금액 과대집계 방지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텍스트 개체 틀 3"/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pPr algn="r"/>
            <a:r>
              <a:rPr lang="en-US" altLang="ko-KR" sz="1600" dirty="0" smtClean="0"/>
              <a:t>Result</a:t>
            </a:r>
            <a:r>
              <a:rPr lang="ko-KR" altLang="en-US" sz="1600" dirty="0" smtClean="0"/>
              <a:t/>
            </a:r>
            <a:endParaRPr lang="ko-KR" altLang="en-US" sz="1600" dirty="0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ko-KR" altLang="en-US" dirty="0" smtClean="0"/>
              <a:t>쿼리 실행 결과 (실측)</a:t>
            </a:r>
            <a:r>
              <a:rPr lang="en-US" altLang="ko-KR" dirty="0" smtClean="0"/>
              <a:t/>
            </a:r>
            <a:endParaRPr lang="ko-KR" altLang="en-US" dirty="0"/>
          </a:p>
        </p:txBody>
      </p:sp>
      <p:sp>
        <p:nvSpPr>
          <p:cNvPr id="10" name="텍스트 개체 틀 4"/>
          <p:cNvSpPr>
            <a:spLocks noGrp="1"/>
          </p:cNvSpPr>
          <p:nvPr>
            <p:ph type="body" sz="quarter" idx="12"/>
          </p:nvPr>
        </p:nvSpPr>
        <p:spPr>
          <a:xfrm>
            <a:off x="234132" y="828303"/>
            <a:ext cx="7956884" cy="835266"/>
          </a:xfrm>
        </p:spPr>
        <p:txBody>
          <a:bodyPr vert="horz" lIns="91440" tIns="45720" rIns="91440" bIns="45720" rtlCol="0">
            <a:normAutofit/>
          </a:bodyPr>
          <a:lstStyle/>
          <a:p>
            <a:pPr defTabSz="914400">
              <a:spcBef>
                <a:spcPct val="20000"/>
              </a:spcBef>
            </a:pPr>
            <a:r>
              <a:rPr lang="en-US" altLang="ko-KR" sz="1600" dirty="0">
                <a:solidFill>
                  <a:srgbClr val="50646E"/>
                </a:solidFill>
              </a:rPr>
              <a:t>상위 10명 = 구매금액 기준</a:t>
            </a:r>
            <a:r>
              <a:rPr lang="ko-KR" altLang="en-US" sz="1600" dirty="0">
                <a:solidFill>
                  <a:srgbClr val="50646E"/>
                </a:solidFill>
              </a:rPr>
              <a:t/>
            </a:r>
            <a:r>
              <a:rPr lang="en-US" altLang="ko-KR" sz="1600" dirty="0">
                <a:solidFill>
                  <a:srgbClr val="50646E"/>
                </a:solidFill>
              </a:rPr>
              <a:t/>
            </a:r>
          </a:p>
        </p:txBody>
      </p:sp>
      <p:sp>
        <p:nvSpPr>
          <p:cNvPr id="11" name="내용 개체 틀 10"/>
          <p:cNvSpPr>
            <a:spLocks noGrp="1"/>
          </p:cNvSpPr>
          <p:nvPr>
            <p:ph idx="13"/>
          </p:nvPr>
        </p:nvSpPr>
        <p:spPr/>
        <p:txBody>
          <a:bodyPr wrap="square"/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730"/>
                </a:solidFill>
              </a:rPr>
              <a:t>• 1위 CUST_ID=2057 한영일 — 5건 주문·12건 상세, 총 10,645,700원</a:t>
            </a:r>
            <a:endParaRPr lang="ko-KR" altLang="en-US" dirty="0"/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730"/>
                </a:solidFill>
              </a:rPr>
              <a:t>• 주문건수(2~7건)와 총액이 비례하지 않음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730"/>
                </a:solidFill>
              </a:rPr>
              <a:t>• 7위: 주문 2건이지만 평균 3,954,200원으로 상위권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730"/>
                </a:solidFill>
              </a:rPr>
              <a:t>• 상위 10명 CUST_GRADE 모두 0 → 등급이 금액과 직접 연계 안 됨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텍스트 개체 틀 3"/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pPr algn="r"/>
            <a:r>
              <a:rPr lang="en-US" altLang="ko-KR" sz="1600" dirty="0" smtClean="0"/>
              <a:t>Exec</a:t>
            </a:r>
            <a:r>
              <a:rPr lang="ko-KR" altLang="en-US" sz="1600" dirty="0" smtClean="0"/>
              <a:t/>
            </a:r>
            <a:endParaRPr lang="ko-KR" altLang="en-US" sz="1600" dirty="0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ko-KR" altLang="en-US" dirty="0" smtClean="0"/>
              <a:t>실행 트리 수행 순서</a:t>
            </a:r>
            <a:r>
              <a:rPr lang="en-US" altLang="ko-KR" dirty="0" smtClean="0"/>
              <a:t/>
            </a:r>
            <a:endParaRPr lang="ko-KR" altLang="en-US" dirty="0"/>
          </a:p>
        </p:txBody>
      </p:sp>
      <p:sp>
        <p:nvSpPr>
          <p:cNvPr id="10" name="텍스트 개체 틀 4"/>
          <p:cNvSpPr>
            <a:spLocks noGrp="1"/>
          </p:cNvSpPr>
          <p:nvPr>
            <p:ph type="body" sz="quarter" idx="12"/>
          </p:nvPr>
        </p:nvSpPr>
        <p:spPr>
          <a:xfrm>
            <a:off x="234132" y="828303"/>
            <a:ext cx="7956884" cy="835266"/>
          </a:xfrm>
        </p:spPr>
        <p:txBody>
          <a:bodyPr vert="horz" lIns="91440" tIns="45720" rIns="91440" bIns="45720" rtlCol="0">
            <a:normAutofit/>
          </a:bodyPr>
          <a:lstStyle/>
          <a:p>
            <a:pPr defTabSz="914400">
              <a:spcBef>
                <a:spcPct val="20000"/>
              </a:spcBef>
            </a:pPr>
            <a:r>
              <a:rPr lang="en-US" altLang="ko-KR" sz="1600" dirty="0">
                <a:solidFill>
                  <a:srgbClr val="50646E"/>
                </a:solidFill>
              </a:rPr>
              <a:t>Full Scan → HASH JOIN → GROUP BY → Top-N</a:t>
            </a:r>
            <a:r>
              <a:rPr lang="ko-KR" altLang="en-US" sz="1600" dirty="0">
                <a:solidFill>
                  <a:srgbClr val="50646E"/>
                </a:solidFill>
              </a:rPr>
              <a:t/>
            </a:r>
            <a:r>
              <a:rPr lang="en-US" altLang="ko-KR" sz="1600" dirty="0">
                <a:solidFill>
                  <a:srgbClr val="50646E"/>
                </a:solidFill>
              </a:rPr>
              <a:t/>
            </a:r>
          </a:p>
        </p:txBody>
      </p:sp>
      <p:sp>
        <p:nvSpPr>
          <p:cNvPr id="11" name="내용 개체 틀 10"/>
          <p:cNvSpPr>
            <a:spLocks noGrp="1"/>
          </p:cNvSpPr>
          <p:nvPr>
            <p:ph idx="13"/>
          </p:nvPr>
        </p:nvSpPr>
        <p:spPr/>
        <p:txBody>
          <a:bodyPr wrap="square"/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730"/>
                </a:solidFill>
              </a:rPr>
              <a:t>• [10 ORDERS FTS + 11 ORDER_ITEMS FTS] → 9 HASH JOIN</a:t>
            </a:r>
            <a:endParaRPr lang="ko-KR" altLang="en-US" dirty="0"/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730"/>
                </a:solidFill>
              </a:rPr>
              <a:t>• [9 결과 + 8 CUSTOMERS FTS] → 7 HASH JOIN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730"/>
                </a:solidFill>
              </a:rPr>
              <a:t>• 6 HASH GROUP BY → 3 WINDOW SORT PUSHED RANK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730"/>
                </a:solidFill>
              </a:rPr>
              <a:t>• 2 VIEW → 1 SORT → 0 SELECT (상위 10명)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텍스트 개체 틀 3"/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pPr algn="r"/>
            <a:r>
              <a:rPr lang="en-US" altLang="ko-KR" sz="1600" dirty="0" smtClean="0"/>
              <a:t>Access</a:t>
            </a:r>
            <a:r>
              <a:rPr lang="ko-KR" altLang="en-US" sz="1600" dirty="0" smtClean="0"/>
              <a:t/>
            </a:r>
            <a:endParaRPr lang="ko-KR" altLang="en-US" sz="1600" dirty="0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ko-KR" altLang="en-US" dirty="0" smtClean="0"/>
              <a:t>접근 방식 해석</a:t>
            </a:r>
            <a:r>
              <a:rPr lang="en-US" altLang="ko-KR" dirty="0" smtClean="0"/>
              <a:t/>
            </a:r>
            <a:endParaRPr lang="ko-KR" altLang="en-US" dirty="0"/>
          </a:p>
        </p:txBody>
      </p:sp>
      <p:sp>
        <p:nvSpPr>
          <p:cNvPr id="10" name="텍스트 개체 틀 4"/>
          <p:cNvSpPr>
            <a:spLocks noGrp="1"/>
          </p:cNvSpPr>
          <p:nvPr>
            <p:ph type="body" sz="quarter" idx="12"/>
          </p:nvPr>
        </p:nvSpPr>
        <p:spPr>
          <a:xfrm>
            <a:off x="234132" y="828303"/>
            <a:ext cx="7956884" cy="835266"/>
          </a:xfrm>
        </p:spPr>
        <p:txBody>
          <a:bodyPr vert="horz" lIns="91440" tIns="45720" rIns="91440" bIns="45720" rtlCol="0">
            <a:normAutofit/>
          </a:bodyPr>
          <a:lstStyle/>
          <a:p>
            <a:pPr defTabSz="914400">
              <a:spcBef>
                <a:spcPct val="20000"/>
              </a:spcBef>
            </a:pPr>
            <a:r>
              <a:rPr lang="en-US" altLang="ko-KR" sz="1600" dirty="0">
                <a:solidFill>
                  <a:srgbClr val="50646E"/>
                </a:solidFill>
              </a:rPr>
              <a:t>인덱스가 있어도 FTS를 택한 이유</a:t>
            </a:r>
            <a:r>
              <a:rPr lang="ko-KR" altLang="en-US" sz="1600" dirty="0">
                <a:solidFill>
                  <a:srgbClr val="50646E"/>
                </a:solidFill>
              </a:rPr>
              <a:t/>
            </a:r>
            <a:r>
              <a:rPr lang="en-US" altLang="ko-KR" sz="1600" dirty="0">
                <a:solidFill>
                  <a:srgbClr val="50646E"/>
                </a:solidFill>
              </a:rPr>
              <a:t/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17624" y="1764296"/>
          <a:ext cx="10058400" cy="15361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52800"/>
                <a:gridCol w="3352800"/>
                <a:gridCol w="3352800"/>
              </a:tblGrid>
              <a:tr h="384048">
                <a:tc>
                  <a:txBody>
                    <a:bodyPr/>
                    <a:lstStyle/>
                    <a:p>
                      <a:pPr algn="ctr"/>
                      <a:r>
                        <a:rPr b="1" sz="1050">
                          <a:solidFill>
                            <a:srgbClr val="FFFFFF"/>
                          </a:solidFill>
                        </a:rPr>
                        <a:t>테이블</a:t>
                      </a:r>
                    </a:p>
                  </a:txBody>
                  <a:tcPr anchor="ctr" marT="25400" marB="25400"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50">
                          <a:solidFill>
                            <a:srgbClr val="FFFFFF"/>
                          </a:solidFill>
                        </a:rPr>
                        <a:t>선택</a:t>
                      </a:r>
                    </a:p>
                  </a:txBody>
                  <a:tcPr anchor="ctr" marT="25400" marB="25400"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050">
                          <a:solidFill>
                            <a:srgbClr val="FFFFFF"/>
                          </a:solidFill>
                        </a:rPr>
                        <a:t>이유</a:t>
                      </a:r>
                    </a:p>
                  </a:txBody>
                  <a:tcPr anchor="ctr" marT="25400" marB="25400">
                    <a:solidFill>
                      <a:srgbClr val="1B2A4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222730"/>
                          </a:solidFill>
                        </a:rPr>
                        <a:t>ORDERS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22730"/>
                          </a:solidFill>
                        </a:rPr>
                        <a:t>FULL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22730"/>
                          </a:solidFill>
                        </a:rPr>
                        <a:t>기간 1.78%지만 대량 조인·집계 비용 고려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222730"/>
                          </a:solidFill>
                        </a:rPr>
                        <a:t>ORDER_ITEMS</a:t>
                      </a:r>
                    </a:p>
                  </a:txBody>
                  <a:tcPr anchor="ctr" marT="12700" marB="12700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22730"/>
                          </a:solidFill>
                        </a:rPr>
                        <a:t>FULL</a:t>
                      </a:r>
                    </a:p>
                  </a:txBody>
                  <a:tcPr anchor="ctr" marT="12700" marB="12700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22730"/>
                          </a:solidFill>
                        </a:rPr>
                        <a:t>5백만 건, WHERE 직접필터 없음</a:t>
                      </a:r>
                    </a:p>
                  </a:txBody>
                  <a:tcPr anchor="ctr" marT="12700" marB="12700">
                    <a:solidFill>
                      <a:srgbClr val="F2F4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222730"/>
                          </a:solidFill>
                        </a:rPr>
                        <a:t>CUSTOMERS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22730"/>
                          </a:solidFill>
                        </a:rPr>
                        <a:t>FULL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222730"/>
                          </a:solidFill>
                        </a:rPr>
                        <a:t>10만 건 소형 → 반복조회보다 HASH JOIN 유리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텍스트 개체 틀 3"/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pPr algn="r"/>
            <a:r>
              <a:rPr lang="en-US" altLang="ko-KR" sz="1600" dirty="0" smtClean="0"/>
              <a:t>Apply</a:t>
            </a:r>
            <a:r>
              <a:rPr lang="ko-KR" altLang="en-US" sz="1600" dirty="0" smtClean="0"/>
              <a:t/>
            </a:r>
            <a:endParaRPr lang="ko-KR" altLang="en-US" sz="1600" dirty="0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ko-KR" altLang="en-US" dirty="0" smtClean="0"/>
              <a:t>운영 적용 방안</a:t>
            </a:r>
            <a:r>
              <a:rPr lang="en-US" altLang="ko-KR" dirty="0" smtClean="0"/>
              <a:t/>
            </a:r>
            <a:endParaRPr lang="ko-KR" altLang="en-US" dirty="0"/>
          </a:p>
        </p:txBody>
      </p:sp>
      <p:sp>
        <p:nvSpPr>
          <p:cNvPr id="10" name="텍스트 개체 틀 4"/>
          <p:cNvSpPr>
            <a:spLocks noGrp="1"/>
          </p:cNvSpPr>
          <p:nvPr>
            <p:ph type="body" sz="quarter" idx="12"/>
          </p:nvPr>
        </p:nvSpPr>
        <p:spPr>
          <a:xfrm>
            <a:off x="234132" y="828303"/>
            <a:ext cx="7956884" cy="835266"/>
          </a:xfrm>
        </p:spPr>
        <p:txBody>
          <a:bodyPr vert="horz" lIns="91440" tIns="45720" rIns="91440" bIns="45720" rtlCol="0">
            <a:normAutofit/>
          </a:bodyPr>
          <a:lstStyle/>
          <a:p>
            <a:pPr defTabSz="914400">
              <a:spcBef>
                <a:spcPct val="20000"/>
              </a:spcBef>
            </a:pPr>
            <a:r>
              <a:rPr lang="en-US" altLang="ko-KR" sz="1600" dirty="0">
                <a:solidFill>
                  <a:srgbClr val="50646E"/>
                </a:solidFill>
              </a:rPr>
              <a:t>워크로드에 맞춘 인덱스 정책</a:t>
            </a:r>
            <a:r>
              <a:rPr lang="ko-KR" altLang="en-US" sz="1600" dirty="0">
                <a:solidFill>
                  <a:srgbClr val="50646E"/>
                </a:solidFill>
              </a:rPr>
              <a:t/>
            </a:r>
            <a:r>
              <a:rPr lang="en-US" altLang="ko-KR" sz="1600" dirty="0">
                <a:solidFill>
                  <a:srgbClr val="50646E"/>
                </a:solidFill>
              </a:rPr>
              <a:t/>
            </a:r>
          </a:p>
        </p:txBody>
      </p:sp>
      <p:sp>
        <p:nvSpPr>
          <p:cNvPr id="11" name="내용 개체 틀 10"/>
          <p:cNvSpPr>
            <a:spLocks noGrp="1"/>
          </p:cNvSpPr>
          <p:nvPr>
            <p:ph idx="13"/>
          </p:nvPr>
        </p:nvSpPr>
        <p:spPr/>
        <p:txBody>
          <a:bodyPr wrap="square"/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730"/>
                </a:solidFill>
              </a:rPr>
              <a:t>• 분석(DSS) 쿼리: FTS+HASH JOIN이 최적 → 인덱스 강제 지양</a:t>
            </a:r>
            <a:endParaRPr lang="ko-KR" altLang="en-US" dirty="0"/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730"/>
                </a:solidFill>
              </a:rPr>
              <a:t>• OLTP 고객 조회: ORDERS_T1(CUST_ID,ORDER_DT)로 Cost 4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730"/>
                </a:solidFill>
              </a:rPr>
              <a:t>• ORDERS_T2는 ORDERS_N1과 선두 컬럼 중복 → 도입 신중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730"/>
                </a:solidFill>
              </a:rPr>
              <a:t>• 쓰기 잦은 서점 특성상 중복 인덱스는 DML 비용 증가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텍스트 개체 틀 3"/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pPr algn="r"/>
            <a:r>
              <a:rPr lang="en-US" altLang="ko-KR" sz="1600" dirty="0" smtClean="0"/>
              <a:t>Cost</a:t>
            </a:r>
            <a:r>
              <a:rPr lang="ko-KR" altLang="en-US" sz="1600" dirty="0" smtClean="0"/>
              <a:t/>
            </a:r>
            <a:endParaRPr lang="ko-KR" altLang="en-US" sz="1600" dirty="0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ko-KR" altLang="en-US" dirty="0" smtClean="0"/>
              <a:t>Cost 개념 바로 알기</a:t>
            </a:r>
            <a:r>
              <a:rPr lang="en-US" altLang="ko-KR" dirty="0" smtClean="0"/>
              <a:t/>
            </a:r>
            <a:endParaRPr lang="ko-KR" altLang="en-US" dirty="0"/>
          </a:p>
        </p:txBody>
      </p:sp>
      <p:sp>
        <p:nvSpPr>
          <p:cNvPr id="10" name="텍스트 개체 틀 4"/>
          <p:cNvSpPr>
            <a:spLocks noGrp="1"/>
          </p:cNvSpPr>
          <p:nvPr>
            <p:ph type="body" sz="quarter" idx="12"/>
          </p:nvPr>
        </p:nvSpPr>
        <p:spPr>
          <a:xfrm>
            <a:off x="234132" y="828303"/>
            <a:ext cx="7956884" cy="835266"/>
          </a:xfrm>
        </p:spPr>
        <p:txBody>
          <a:bodyPr vert="horz" lIns="91440" tIns="45720" rIns="91440" bIns="45720" rtlCol="0">
            <a:normAutofit/>
          </a:bodyPr>
          <a:lstStyle/>
          <a:p>
            <a:pPr defTabSz="914400">
              <a:spcBef>
                <a:spcPct val="20000"/>
              </a:spcBef>
            </a:pPr>
            <a:r>
              <a:rPr lang="en-US" altLang="ko-KR" sz="1600" dirty="0">
                <a:solidFill>
                  <a:srgbClr val="50646E"/>
                </a:solidFill>
              </a:rPr>
              <a:t>실행시간이 아닌 옵티마이저 예상 비용</a:t>
            </a:r>
            <a:r>
              <a:rPr lang="ko-KR" altLang="en-US" sz="1600" dirty="0">
                <a:solidFill>
                  <a:srgbClr val="50646E"/>
                </a:solidFill>
              </a:rPr>
              <a:t/>
            </a:r>
            <a:r>
              <a:rPr lang="en-US" altLang="ko-KR" sz="1600" dirty="0">
                <a:solidFill>
                  <a:srgbClr val="50646E"/>
                </a:solidFill>
              </a:rPr>
              <a:t/>
            </a:r>
          </a:p>
        </p:txBody>
      </p:sp>
      <p:sp>
        <p:nvSpPr>
          <p:cNvPr id="11" name="내용 개체 틀 10"/>
          <p:cNvSpPr>
            <a:spLocks noGrp="1"/>
          </p:cNvSpPr>
          <p:nvPr>
            <p:ph idx="13"/>
          </p:nvPr>
        </p:nvSpPr>
        <p:spPr/>
        <p:txBody>
          <a:bodyPr wrap="square"/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730"/>
                </a:solidFill>
              </a:rPr>
              <a:t>• Cost = 옵티마이저가 계획을 고를 때 쓰는 상대적 예상 비용 단위</a:t>
            </a:r>
            <a:endParaRPr lang="ko-KR" altLang="en-US" dirty="0"/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730"/>
                </a:solidFill>
              </a:rPr>
              <a:t>• I/O·CPU·조인 비용을 정규화한 추정치 (밀리초 아님)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730"/>
                </a:solidFill>
              </a:rPr>
              <a:t>• 계획 간 우열 비교에는 유효하나 절대 시간과 동일시 금지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730"/>
                </a:solidFill>
              </a:rPr>
              <a:t>• 실측은 A-Rows·Buffers·경과시간으로 별도 확인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텍스트 개체 틀 3"/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pPr algn="r"/>
            <a:r>
              <a:rPr lang="en-US" altLang="ko-KR" sz="1600" dirty="0" smtClean="0"/>
              <a:t>CF</a:t>
            </a:r>
            <a:r>
              <a:rPr lang="ko-KR" altLang="en-US" sz="1600" dirty="0" smtClean="0"/>
              <a:t/>
            </a:r>
            <a:endParaRPr lang="ko-KR" altLang="en-US" sz="1600" dirty="0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ko-KR" altLang="en-US" dirty="0" smtClean="0"/>
              <a:t>Clustering Factor</a:t>
            </a:r>
            <a:r>
              <a:rPr lang="en-US" altLang="ko-KR" dirty="0" smtClean="0"/>
              <a:t/>
            </a:r>
            <a:endParaRPr lang="ko-KR" altLang="en-US" dirty="0"/>
          </a:p>
        </p:txBody>
      </p:sp>
      <p:sp>
        <p:nvSpPr>
          <p:cNvPr id="10" name="텍스트 개체 틀 4"/>
          <p:cNvSpPr>
            <a:spLocks noGrp="1"/>
          </p:cNvSpPr>
          <p:nvPr>
            <p:ph type="body" sz="quarter" idx="12"/>
          </p:nvPr>
        </p:nvSpPr>
        <p:spPr>
          <a:xfrm>
            <a:off x="234132" y="828303"/>
            <a:ext cx="7956884" cy="835266"/>
          </a:xfrm>
        </p:spPr>
        <p:txBody>
          <a:bodyPr vert="horz" lIns="91440" tIns="45720" rIns="91440" bIns="45720" rtlCol="0">
            <a:normAutofit/>
          </a:bodyPr>
          <a:lstStyle/>
          <a:p>
            <a:pPr defTabSz="914400">
              <a:spcBef>
                <a:spcPct val="20000"/>
              </a:spcBef>
            </a:pPr>
            <a:r>
              <a:rPr lang="en-US" altLang="ko-KR" sz="1600" dirty="0">
                <a:solidFill>
                  <a:srgbClr val="50646E"/>
                </a:solidFill>
              </a:rPr>
              <a:t>인덱스 순서와 테이블 물리 순서의 정렬도</a:t>
            </a:r>
            <a:r>
              <a:rPr lang="ko-KR" altLang="en-US" sz="1600" dirty="0">
                <a:solidFill>
                  <a:srgbClr val="50646E"/>
                </a:solidFill>
              </a:rPr>
              <a:t/>
            </a:r>
            <a:r>
              <a:rPr lang="en-US" altLang="ko-KR" sz="1600" dirty="0">
                <a:solidFill>
                  <a:srgbClr val="50646E"/>
                </a:solidFill>
              </a:rPr>
              <a:t/>
            </a:r>
          </a:p>
        </p:txBody>
      </p:sp>
      <p:sp>
        <p:nvSpPr>
          <p:cNvPr id="11" name="내용 개체 틀 10"/>
          <p:cNvSpPr>
            <a:spLocks noGrp="1"/>
          </p:cNvSpPr>
          <p:nvPr>
            <p:ph idx="13"/>
          </p:nvPr>
        </p:nvSpPr>
        <p:spPr/>
        <p:txBody>
          <a:bodyPr wrap="square"/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730"/>
                </a:solidFill>
              </a:rPr>
              <a:t>• CF가 낮을수록 인덱스 순서 ≈ 테이블 저장 순서 → 블록 재방문 적음</a:t>
            </a:r>
            <a:endParaRPr lang="ko-KR" altLang="en-US" dirty="0"/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730"/>
                </a:solidFill>
              </a:rPr>
              <a:t>• CF가 높으면 ROWID 접근이 흩어져 랜덤 I/O 증가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730"/>
                </a:solidFill>
              </a:rPr>
              <a:t>• ORDERS_T1 CF 1,697,796 vs ORDERS_T2 1,999,441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730"/>
                </a:solidFill>
              </a:rPr>
              <a:t>• → 같은 2열 복합이라도 선행 컬럼에 따라 접근 효율 상이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텍스트 개체 틀 3"/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pPr algn="r"/>
            <a:r>
              <a:rPr lang="en-US" altLang="ko-KR" sz="1600" dirty="0" smtClean="0"/>
              <a:t>Index</a:t>
            </a:r>
            <a:r>
              <a:rPr lang="ko-KR" altLang="en-US" sz="1600" dirty="0" smtClean="0"/>
              <a:t/>
            </a:r>
            <a:endParaRPr lang="ko-KR" altLang="en-US" sz="1600" dirty="0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ko-KR" altLang="en-US" dirty="0" smtClean="0"/>
              <a:t>BLEVEL·LEAF_BLOCKS</a:t>
            </a:r>
            <a:r>
              <a:rPr lang="en-US" altLang="ko-KR" dirty="0" smtClean="0"/>
              <a:t/>
            </a:r>
            <a:endParaRPr lang="ko-KR" altLang="en-US" dirty="0"/>
          </a:p>
        </p:txBody>
      </p:sp>
      <p:sp>
        <p:nvSpPr>
          <p:cNvPr id="10" name="텍스트 개체 틀 4"/>
          <p:cNvSpPr>
            <a:spLocks noGrp="1"/>
          </p:cNvSpPr>
          <p:nvPr>
            <p:ph type="body" sz="quarter" idx="12"/>
          </p:nvPr>
        </p:nvSpPr>
        <p:spPr>
          <a:xfrm>
            <a:off x="234132" y="828303"/>
            <a:ext cx="7956884" cy="835266"/>
          </a:xfrm>
        </p:spPr>
        <p:txBody>
          <a:bodyPr vert="horz" lIns="91440" tIns="45720" rIns="91440" bIns="45720" rtlCol="0">
            <a:normAutofit/>
          </a:bodyPr>
          <a:lstStyle/>
          <a:p>
            <a:pPr defTabSz="914400">
              <a:spcBef>
                <a:spcPct val="20000"/>
              </a:spcBef>
            </a:pPr>
            <a:r>
              <a:rPr lang="en-US" altLang="ko-KR" sz="1600" dirty="0">
                <a:solidFill>
                  <a:srgbClr val="50646E"/>
                </a:solidFill>
              </a:rPr>
              <a:t>B-Tree 인덱스의 구조 지표</a:t>
            </a:r>
            <a:r>
              <a:rPr lang="ko-KR" altLang="en-US" sz="1600" dirty="0">
                <a:solidFill>
                  <a:srgbClr val="50646E"/>
                </a:solidFill>
              </a:rPr>
              <a:t/>
            </a:r>
            <a:r>
              <a:rPr lang="en-US" altLang="ko-KR" sz="1600" dirty="0">
                <a:solidFill>
                  <a:srgbClr val="50646E"/>
                </a:solidFill>
              </a:rPr>
              <a:t/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17624" y="1764296"/>
          <a:ext cx="1005840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9200"/>
                <a:gridCol w="5029200"/>
              </a:tblGrid>
              <a:tr h="384048">
                <a:tc>
                  <a:txBody>
                    <a:bodyPr/>
                    <a:lstStyle/>
                    <a:p>
                      <a:pPr algn="ctr"/>
                      <a:r>
                        <a:rPr b="1" sz="1150">
                          <a:solidFill>
                            <a:srgbClr val="FFFFFF"/>
                          </a:solidFill>
                        </a:rPr>
                        <a:t>지표</a:t>
                      </a:r>
                    </a:p>
                  </a:txBody>
                  <a:tcPr anchor="ctr" marT="25400" marB="25400"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150">
                          <a:solidFill>
                            <a:srgbClr val="FFFFFF"/>
                          </a:solidFill>
                        </a:rPr>
                        <a:t>의미</a:t>
                      </a:r>
                    </a:p>
                  </a:txBody>
                  <a:tcPr anchor="ctr" marT="25400" marB="25400">
                    <a:solidFill>
                      <a:srgbClr val="1B2A4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222730"/>
                          </a:solidFill>
                        </a:rPr>
                        <a:t>BLEVEL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22730"/>
                          </a:solidFill>
                        </a:rPr>
                        <a:t>루트→리프 높이(2 = 3레벨 트리)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222730"/>
                          </a:solidFill>
                        </a:rPr>
                        <a:t>LEAF_BLOCKS</a:t>
                      </a:r>
                    </a:p>
                  </a:txBody>
                  <a:tcPr anchor="ctr" marT="12700" marB="12700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22730"/>
                          </a:solidFill>
                        </a:rPr>
                        <a:t>리프 블록 수(스캔 범위 가늠)</a:t>
                      </a:r>
                    </a:p>
                  </a:txBody>
                  <a:tcPr anchor="ctr" marT="12700" marB="12700">
                    <a:solidFill>
                      <a:srgbClr val="F2F4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222730"/>
                          </a:solidFill>
                        </a:rPr>
                        <a:t>NUM_DISTINCT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22730"/>
                          </a:solidFill>
                        </a:rPr>
                        <a:t>서로 다른 값의 수(선택도)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222730"/>
                          </a:solidFill>
                        </a:rPr>
                        <a:t>히스토그램</a:t>
                      </a:r>
                    </a:p>
                  </a:txBody>
                  <a:tcPr anchor="ctr" marT="12700" marB="12700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22730"/>
                          </a:solidFill>
                        </a:rPr>
                        <a:t>편향 분포 반영 여부(NONE=균등 가정)</a:t>
                      </a:r>
                    </a:p>
                  </a:txBody>
                  <a:tcPr anchor="ctr" marT="12700" marB="12700"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텍스트 개체 틀 3"/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pPr algn="r"/>
            <a:r>
              <a:rPr lang="en-US" altLang="ko-KR" sz="1600" dirty="0" smtClean="0"/>
              <a:t>Tools</a:t>
            </a:r>
            <a:r>
              <a:rPr lang="ko-KR" altLang="en-US" sz="1600" dirty="0" smtClean="0"/>
              <a:t/>
            </a:r>
            <a:endParaRPr lang="ko-KR" altLang="en-US" sz="1600" dirty="0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ko-KR" altLang="en-US" dirty="0" smtClean="0"/>
              <a:t>예측 vs 실측 도구</a:t>
            </a:r>
            <a:r>
              <a:rPr lang="en-US" altLang="ko-KR" dirty="0" smtClean="0"/>
              <a:t/>
            </a:r>
            <a:endParaRPr lang="ko-KR" altLang="en-US" dirty="0"/>
          </a:p>
        </p:txBody>
      </p:sp>
      <p:sp>
        <p:nvSpPr>
          <p:cNvPr id="10" name="텍스트 개체 틀 4"/>
          <p:cNvSpPr>
            <a:spLocks noGrp="1"/>
          </p:cNvSpPr>
          <p:nvPr>
            <p:ph type="body" sz="quarter" idx="12"/>
          </p:nvPr>
        </p:nvSpPr>
        <p:spPr>
          <a:xfrm>
            <a:off x="234132" y="828303"/>
            <a:ext cx="7956884" cy="835266"/>
          </a:xfrm>
        </p:spPr>
        <p:txBody>
          <a:bodyPr vert="horz" lIns="91440" tIns="45720" rIns="91440" bIns="45720" rtlCol="0">
            <a:normAutofit/>
          </a:bodyPr>
          <a:lstStyle/>
          <a:p>
            <a:pPr defTabSz="914400">
              <a:spcBef>
                <a:spcPct val="20000"/>
              </a:spcBef>
            </a:pPr>
            <a:r>
              <a:rPr lang="en-US" altLang="ko-KR" sz="1600" dirty="0">
                <a:solidFill>
                  <a:srgbClr val="50646E"/>
                </a:solidFill>
              </a:rPr>
              <a:t>언제 무엇을 신뢰하나</a:t>
            </a:r>
            <a:r>
              <a:rPr lang="ko-KR" altLang="en-US" sz="1600" dirty="0">
                <a:solidFill>
                  <a:srgbClr val="50646E"/>
                </a:solidFill>
              </a:rPr>
              <a:t/>
            </a:r>
            <a:r>
              <a:rPr lang="en-US" altLang="ko-KR" sz="1600" dirty="0">
                <a:solidFill>
                  <a:srgbClr val="50646E"/>
                </a:solidFill>
              </a:rPr>
              <a:t/>
            </a:r>
          </a:p>
        </p:txBody>
      </p:sp>
      <p:sp>
        <p:nvSpPr>
          <p:cNvPr id="11" name="내용 개체 틀 10"/>
          <p:cNvSpPr>
            <a:spLocks noGrp="1"/>
          </p:cNvSpPr>
          <p:nvPr>
            <p:ph idx="13"/>
          </p:nvPr>
        </p:nvSpPr>
        <p:spPr/>
        <p:txBody>
          <a:bodyPr wrap="square"/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730"/>
                </a:solidFill>
              </a:rPr>
              <a:t>• EXPLAIN PLAN: 미실행 예측(E-Rows·Cost) → 사전 후보 비교</a:t>
            </a:r>
            <a:endParaRPr lang="ko-KR" altLang="en-US" dirty="0"/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730"/>
                </a:solidFill>
              </a:rPr>
              <a:t>• AUTOTRACE: 실행 후 세션 통계 → 논리적 읽기 등 확인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730"/>
                </a:solidFill>
              </a:rPr>
              <a:t>• DISPLAY_CURSOR: 실제 커서의 E-Rows vs A-Rows·Buffers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730"/>
                </a:solidFill>
              </a:rPr>
              <a:t>• 최종 판단 근거는 실측(A-Rows/Buffers)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텍스트 개체 틀 3"/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pPr algn="r"/>
            <a:r>
              <a:rPr lang="en-US" altLang="ko-KR" sz="1600" dirty="0" smtClean="0"/>
              <a:t>Select</a:t>
            </a:r>
            <a:r>
              <a:rPr lang="ko-KR" altLang="en-US" sz="1600" dirty="0" smtClean="0"/>
              <a:t/>
            </a:r>
            <a:endParaRPr lang="ko-KR" altLang="en-US" sz="1600" dirty="0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ko-KR" altLang="en-US" dirty="0" smtClean="0"/>
              <a:t>선택도(Selectivity)</a:t>
            </a:r>
            <a:r>
              <a:rPr lang="en-US" altLang="ko-KR" dirty="0" smtClean="0"/>
              <a:t/>
            </a:r>
            <a:endParaRPr lang="ko-KR" altLang="en-US" dirty="0"/>
          </a:p>
        </p:txBody>
      </p:sp>
      <p:sp>
        <p:nvSpPr>
          <p:cNvPr id="10" name="텍스트 개체 틀 4"/>
          <p:cNvSpPr>
            <a:spLocks noGrp="1"/>
          </p:cNvSpPr>
          <p:nvPr>
            <p:ph type="body" sz="quarter" idx="12"/>
          </p:nvPr>
        </p:nvSpPr>
        <p:spPr>
          <a:xfrm>
            <a:off x="234132" y="828303"/>
            <a:ext cx="7956884" cy="835266"/>
          </a:xfrm>
        </p:spPr>
        <p:txBody>
          <a:bodyPr vert="horz" lIns="91440" tIns="45720" rIns="91440" bIns="45720" rtlCol="0">
            <a:normAutofit/>
          </a:bodyPr>
          <a:lstStyle/>
          <a:p>
            <a:pPr defTabSz="914400">
              <a:spcBef>
                <a:spcPct val="20000"/>
              </a:spcBef>
            </a:pPr>
            <a:r>
              <a:rPr lang="en-US" altLang="ko-KR" sz="1600" dirty="0">
                <a:solidFill>
                  <a:srgbClr val="50646E"/>
                </a:solidFill>
              </a:rPr>
              <a:t>조건이 데이터를 얼마나 줄이나</a:t>
            </a:r>
            <a:r>
              <a:rPr lang="ko-KR" altLang="en-US" sz="1600" dirty="0">
                <a:solidFill>
                  <a:srgbClr val="50646E"/>
                </a:solidFill>
              </a:rPr>
              <a:t/>
            </a:r>
            <a:r>
              <a:rPr lang="en-US" altLang="ko-KR" sz="1600" dirty="0">
                <a:solidFill>
                  <a:srgbClr val="50646E"/>
                </a:solidFill>
              </a:rPr>
              <a:t/>
            </a:r>
          </a:p>
        </p:txBody>
      </p:sp>
      <p:sp>
        <p:nvSpPr>
          <p:cNvPr id="11" name="내용 개체 틀 10"/>
          <p:cNvSpPr>
            <a:spLocks noGrp="1"/>
          </p:cNvSpPr>
          <p:nvPr>
            <p:ph idx="13"/>
          </p:nvPr>
        </p:nvSpPr>
        <p:spPr/>
        <p:txBody>
          <a:bodyPr wrap="square"/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730"/>
                </a:solidFill>
              </a:rPr>
              <a:t>• 선택도 = 조건 통과 행수 / 전체 행수 (낮을수록 인덱스 유리)</a:t>
            </a:r>
            <a:endParaRPr lang="ko-KR" altLang="en-US" dirty="0"/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730"/>
                </a:solidFill>
              </a:rPr>
              <a:t>• ORDER_DT 범위(2014 Q2)는 1.78%로 선택도 높음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730"/>
                </a:solidFill>
              </a:rPr>
              <a:t>• ORDER_STATUS는 4가 95.58% → 정상상태 조건은 거의 안 줄임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730"/>
                </a:solidFill>
              </a:rPr>
              <a:t>• 높은 선택도라도 후속 대량 조인이 지배하면 FTS가 유리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제목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백업 및 복구 전략 (Backup &amp; Recovery)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ko-KR" altLang="en-US" dirty="0"/>
              <a:t/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10"/>
          </p:nvPr>
        </p:nvSpPr>
        <p:spPr/>
        <p:txBody>
          <a:bodyPr anchor="ctr"/>
          <a:lstStyle/>
          <a:p>
            <a:pPr>
              <a:lnSpc>
                <a:spcPct val="150000"/>
              </a:lnSpc>
            </a:pPr>
            <a:r>
              <a:rPr lang="en-US" altLang="ko-KR" dirty="0">
                <a:latin typeface="다키 L" pitchFamily="2" charset="-127"/>
                <a:ea typeface="다키 L" pitchFamily="2" charset="-127"/>
              </a:rPr>
              <a:t>1) 물리 장애 3단계   2) 논리 장애 Flashback   3) 테이블스페이스 격리 설계</a:t>
            </a:r>
            <a:r>
              <a:rPr lang="ko-KR" altLang="en-US" dirty="0">
                <a:latin typeface="다키 L" pitchFamily="2" charset="-127"/>
                <a:ea typeface="다키 L" pitchFamily="2" charset="-127"/>
              </a:rPr>
              <a:t/>
            </a:r>
            <a:r>
              <a:rPr lang="en-US" altLang="ko-KR" dirty="0">
                <a:latin typeface="다키 L" pitchFamily="2" charset="-127"/>
                <a:ea typeface="다키 L" pitchFamily="2" charset="-127"/>
              </a:rPr>
              <a:t/>
            </a:r>
          </a:p>
        </p:txBody>
      </p:sp>
      <p:sp>
        <p:nvSpPr>
          <p:cNvPr id="6" name="텍스트 개체 틀 5"/>
          <p:cNvSpPr>
            <a:spLocks noGrp="1"/>
          </p:cNvSpPr>
          <p:nvPr>
            <p:ph type="body" sz="quarter" idx="11"/>
          </p:nvPr>
        </p:nvSpPr>
        <p:spPr/>
        <p:txBody>
          <a:bodyPr>
            <a:noAutofit/>
          </a:bodyPr>
          <a:lstStyle/>
          <a:p>
            <a:r>
              <a:rPr lang="en-US" altLang="ko-KR" sz="6000" dirty="0" smtClean="0">
                <a:solidFill>
                  <a:srgbClr val="2484C6"/>
                </a:solidFill>
                <a:latin typeface="다키 M Title" pitchFamily="2" charset="-127"/>
                <a:ea typeface="다키 M Title" pitchFamily="2" charset="-127"/>
              </a:rPr>
              <a:t>03</a:t>
            </a:r>
            <a:endParaRPr lang="ko-KR" altLang="en-US" sz="6000" dirty="0">
              <a:solidFill>
                <a:srgbClr val="2484C6"/>
              </a:solidFill>
              <a:latin typeface="다키 M Title" pitchFamily="2" charset="-127"/>
              <a:ea typeface="다키 M Title" pitchFamily="2" charset="-127"/>
            </a:endParaRP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텍스트 개체 틀 3"/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pPr algn="r"/>
            <a:r>
              <a:rPr lang="en-US" altLang="ko-KR" sz="1600" dirty="0" smtClean="0"/>
              <a:t>Overview</a:t>
            </a:r>
            <a:r>
              <a:rPr lang="ko-KR" altLang="en-US" sz="1600" dirty="0" smtClean="0"/>
              <a:t/>
            </a:r>
            <a:endParaRPr lang="ko-KR" altLang="en-US" sz="1600" dirty="0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ko-KR" altLang="en-US" dirty="0" smtClean="0"/>
              <a:t>개요</a:t>
            </a:r>
            <a:r>
              <a:rPr lang="en-US" altLang="ko-KR" dirty="0" smtClean="0"/>
              <a:t/>
            </a:r>
            <a:endParaRPr lang="ko-KR" altLang="en-US" dirty="0"/>
          </a:p>
        </p:txBody>
      </p:sp>
      <p:sp>
        <p:nvSpPr>
          <p:cNvPr id="10" name="텍스트 개체 틀 4"/>
          <p:cNvSpPr>
            <a:spLocks noGrp="1"/>
          </p:cNvSpPr>
          <p:nvPr>
            <p:ph type="body" sz="quarter" idx="12"/>
          </p:nvPr>
        </p:nvSpPr>
        <p:spPr>
          <a:xfrm>
            <a:off x="234132" y="828303"/>
            <a:ext cx="7956884" cy="835266"/>
          </a:xfrm>
        </p:spPr>
        <p:txBody>
          <a:bodyPr vert="horz" lIns="91440" tIns="45720" rIns="91440" bIns="45720" rtlCol="0">
            <a:normAutofit/>
          </a:bodyPr>
          <a:lstStyle/>
          <a:p>
            <a:pPr defTabSz="914400">
              <a:spcBef>
                <a:spcPct val="20000"/>
              </a:spcBef>
            </a:pPr>
            <a:r>
              <a:rPr lang="en-US" altLang="ko-KR" sz="1600" dirty="0">
                <a:solidFill>
                  <a:srgbClr val="50646E"/>
                </a:solidFill>
              </a:rPr>
              <a:t>물리·논리 장애를 재현하고 RMAN·Flashback으로 복구</a:t>
            </a:r>
            <a:r>
              <a:rPr lang="ko-KR" altLang="en-US" sz="1600" dirty="0">
                <a:solidFill>
                  <a:srgbClr val="50646E"/>
                </a:solidFill>
              </a:rPr>
              <a:t/>
            </a:r>
            <a:r>
              <a:rPr lang="en-US" altLang="ko-KR" sz="1600" dirty="0">
                <a:solidFill>
                  <a:srgbClr val="50646E"/>
                </a:solidFill>
              </a:rPr>
              <a:t/>
            </a:r>
          </a:p>
        </p:txBody>
      </p:sp>
      <p:sp>
        <p:nvSpPr>
          <p:cNvPr id="11" name="내용 개체 틀 10"/>
          <p:cNvSpPr>
            <a:spLocks noGrp="1"/>
          </p:cNvSpPr>
          <p:nvPr>
            <p:ph idx="13"/>
          </p:nvPr>
        </p:nvSpPr>
        <p:spPr/>
        <p:txBody>
          <a:bodyPr wrap="square"/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730"/>
                </a:solidFill>
              </a:rPr>
              <a:t>• 물리 장애: 데이터파일(Case1)·전체(Case2)·블록(Case3) 3단계</a:t>
            </a:r>
            <a:endParaRPr lang="ko-KR" altLang="en-US" dirty="0"/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730"/>
                </a:solidFill>
              </a:rPr>
              <a:t>• 논리 장애(Case4): 백업 복원 없이 Flashback으로 초 단위 복구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730"/>
                </a:solidFill>
              </a:rPr>
              <a:t>• 핵심 선행조건: 테이블스페이스 단위 격리 설계가 사전에 되어 있어야 함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텍스트 개체 틀 3"/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pPr algn="r"/>
            <a:r>
              <a:rPr lang="en-US" altLang="ko-KR" sz="1600" dirty="0" smtClean="0"/>
              <a:t>General</a:t>
            </a:r>
            <a:r>
              <a:rPr lang="ko-KR" altLang="en-US" sz="1600" dirty="0" smtClean="0"/>
              <a:t/>
            </a:r>
            <a:endParaRPr lang="ko-KR" altLang="en-US" sz="1600" dirty="0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ko-KR" altLang="en-US" dirty="0" smtClean="0"/>
              <a:t>복구 전략 일반론</a:t>
            </a:r>
            <a:r>
              <a:rPr lang="en-US" altLang="ko-KR" dirty="0" smtClean="0"/>
              <a:t/>
            </a:r>
            <a:endParaRPr lang="ko-KR" altLang="en-US" dirty="0"/>
          </a:p>
        </p:txBody>
      </p:sp>
      <p:sp>
        <p:nvSpPr>
          <p:cNvPr id="10" name="텍스트 개체 틀 4"/>
          <p:cNvSpPr>
            <a:spLocks noGrp="1"/>
          </p:cNvSpPr>
          <p:nvPr>
            <p:ph type="body" sz="quarter" idx="12"/>
          </p:nvPr>
        </p:nvSpPr>
        <p:spPr>
          <a:xfrm>
            <a:off x="234132" y="828303"/>
            <a:ext cx="7956884" cy="835266"/>
          </a:xfrm>
        </p:spPr>
        <p:txBody>
          <a:bodyPr vert="horz" lIns="91440" tIns="45720" rIns="91440" bIns="45720" rtlCol="0">
            <a:normAutofit/>
          </a:bodyPr>
          <a:lstStyle/>
          <a:p>
            <a:pPr defTabSz="914400">
              <a:spcBef>
                <a:spcPct val="20000"/>
              </a:spcBef>
            </a:pPr>
            <a:r>
              <a:rPr lang="en-US" altLang="ko-KR" sz="1600" dirty="0">
                <a:solidFill>
                  <a:srgbClr val="50646E"/>
                </a:solidFill>
              </a:rPr>
              <a:t>장애 유형 분류 → 상황 연출 → 원인 분석 → 복구 → 결론</a:t>
            </a:r>
            <a:r>
              <a:rPr lang="ko-KR" altLang="en-US" sz="1600" dirty="0">
                <a:solidFill>
                  <a:srgbClr val="50646E"/>
                </a:solidFill>
              </a:rPr>
              <a:t/>
            </a:r>
            <a:r>
              <a:rPr lang="en-US" altLang="ko-KR" sz="1600" dirty="0">
                <a:solidFill>
                  <a:srgbClr val="50646E"/>
                </a:solidFill>
              </a:rPr>
              <a:t/>
            </a:r>
          </a:p>
        </p:txBody>
      </p:sp>
      <p:sp>
        <p:nvSpPr>
          <p:cNvPr id="11" name="내용 개체 틀 10"/>
          <p:cNvSpPr>
            <a:spLocks noGrp="1"/>
          </p:cNvSpPr>
          <p:nvPr>
            <p:ph idx="13"/>
          </p:nvPr>
        </p:nvSpPr>
        <p:spPr/>
        <p:txBody>
          <a:bodyPr wrap="square"/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730"/>
                </a:solidFill>
              </a:rPr>
              <a:t>• Media Failure(파일/블록 손상) vs User Error(실수) 구분</a:t>
            </a:r>
            <a:endParaRPr lang="ko-KR" altLang="en-US" dirty="0"/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730"/>
                </a:solidFill>
              </a:rPr>
              <a:t>• ARCHIVELOG 모드 + RMAN 정기 Full Backup이 복구의 전제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730"/>
                </a:solidFill>
              </a:rPr>
              <a:t>• 손상 범위가 좁을수록 무중단 복구 가능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텍스트 개체 틀 3"/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pPr algn="r"/>
            <a:r>
              <a:rPr lang="en-US" altLang="ko-KR" sz="1600" dirty="0" smtClean="0"/>
              <a:t>Fixes</a:t>
            </a:r>
            <a:r>
              <a:rPr lang="ko-KR" altLang="en-US" sz="1600" dirty="0" smtClean="0"/>
              <a:t/>
            </a:r>
            <a:endParaRPr lang="ko-KR" altLang="en-US" sz="1600" dirty="0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ko-KR" altLang="en-US" dirty="0" smtClean="0"/>
              <a:t>원본 가이드 수정 사항</a:t>
            </a:r>
            <a:r>
              <a:rPr lang="en-US" altLang="ko-KR" dirty="0" smtClean="0"/>
              <a:t/>
            </a:r>
            <a:endParaRPr lang="ko-KR" altLang="en-US" dirty="0"/>
          </a:p>
        </p:txBody>
      </p:sp>
      <p:sp>
        <p:nvSpPr>
          <p:cNvPr id="10" name="텍스트 개체 틀 4"/>
          <p:cNvSpPr>
            <a:spLocks noGrp="1"/>
          </p:cNvSpPr>
          <p:nvPr>
            <p:ph type="body" sz="quarter" idx="12"/>
          </p:nvPr>
        </p:nvSpPr>
        <p:spPr>
          <a:xfrm>
            <a:off x="234132" y="828303"/>
            <a:ext cx="7956884" cy="835266"/>
          </a:xfrm>
        </p:spPr>
        <p:txBody>
          <a:bodyPr vert="horz" lIns="91440" tIns="45720" rIns="91440" bIns="45720" rtlCol="0">
            <a:normAutofit/>
          </a:bodyPr>
          <a:lstStyle/>
          <a:p>
            <a:pPr defTabSz="914400">
              <a:spcBef>
                <a:spcPct val="20000"/>
              </a:spcBef>
            </a:pPr>
            <a:r>
              <a:rPr lang="en-US" altLang="ko-KR" sz="1600" dirty="0">
                <a:solidFill>
                  <a:srgbClr val="50646E"/>
                </a:solidFill>
              </a:rPr>
              <a:t>우리 BO 스키마 기준 3곳 보정</a:t>
            </a:r>
            <a:r>
              <a:rPr lang="ko-KR" altLang="en-US" sz="1600" dirty="0">
                <a:solidFill>
                  <a:srgbClr val="50646E"/>
                </a:solidFill>
              </a:rPr>
              <a:t/>
            </a:r>
            <a:r>
              <a:rPr lang="en-US" altLang="ko-KR" sz="1600" dirty="0">
                <a:solidFill>
                  <a:srgbClr val="50646E"/>
                </a:solidFill>
              </a:rPr>
              <a:t/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17624" y="1764296"/>
          <a:ext cx="10058400" cy="15361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52800"/>
                <a:gridCol w="3352800"/>
                <a:gridCol w="3352800"/>
              </a:tblGrid>
              <a:tr h="384048"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</a:rPr>
                        <a:t>#</a:t>
                      </a:r>
                    </a:p>
                  </a:txBody>
                  <a:tcPr anchor="ctr" marT="25400" marB="25400"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</a:rPr>
                        <a:t>문제</a:t>
                      </a:r>
                    </a:p>
                  </a:txBody>
                  <a:tcPr anchor="ctr" marT="25400" marB="25400"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</a:rPr>
                        <a:t>수정</a:t>
                      </a:r>
                    </a:p>
                  </a:txBody>
                  <a:tcPr anchor="ctr" marT="25400" marB="25400">
                    <a:solidFill>
                      <a:srgbClr val="1B2A4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222730"/>
                          </a:solidFill>
                        </a:rPr>
                        <a:t>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222730"/>
                          </a:solidFill>
                        </a:rPr>
                        <a:t>모든 테이블이 기본 TS → 격리 시나리오 성립 안 함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222730"/>
                          </a:solidFill>
                        </a:rPr>
                        <a:t>ORDERS/INQUIRIES 전용 TS 분리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222730"/>
                          </a:solidFill>
                        </a:rPr>
                        <a:t>2</a:t>
                      </a:r>
                    </a:p>
                  </a:txBody>
                  <a:tcPr anchor="ctr" marT="12700" marB="12700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222730"/>
                          </a:solidFill>
                        </a:rPr>
                        <a:t>블록 손상 연출 방법 없음</a:t>
                      </a:r>
                    </a:p>
                  </a:txBody>
                  <a:tcPr anchor="ctr" marT="12700" marB="12700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222730"/>
                          </a:solidFill>
                        </a:rPr>
                        <a:t>ROWID로 파일·블록 특정 후 dd로 덮어쓰기</a:t>
                      </a:r>
                    </a:p>
                  </a:txBody>
                  <a:tcPr anchor="ctr" marT="12700" marB="12700">
                    <a:solidFill>
                      <a:srgbClr val="F2F4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222730"/>
                          </a:solidFill>
                        </a:rPr>
                        <a:t>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222730"/>
                          </a:solidFill>
                        </a:rPr>
                        <a:t>EMPLOYEES 전체 삭제는 FK로 즉시 실패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222730"/>
                          </a:solidFill>
                        </a:rPr>
                        <a:t>리프 테이블 CUST_CONTACTS로 교체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텍스트 개체 틀 3"/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pPr algn="r"/>
            <a:r>
              <a:rPr lang="en-US" altLang="ko-KR" sz="1600" dirty="0" smtClean="0"/>
              <a:t>Setup</a:t>
            </a:r>
            <a:r>
              <a:rPr lang="ko-KR" altLang="en-US" sz="1600" dirty="0" smtClean="0"/>
              <a:t/>
            </a:r>
            <a:endParaRPr lang="ko-KR" altLang="en-US" sz="1600" dirty="0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ko-KR" altLang="en-US" dirty="0" smtClean="0"/>
              <a:t>사전 준비 — 테이블스페이스 격리</a:t>
            </a:r>
            <a:r>
              <a:rPr lang="en-US" altLang="ko-KR" dirty="0" smtClean="0"/>
              <a:t/>
            </a:r>
            <a:endParaRPr lang="ko-KR" altLang="en-US" dirty="0"/>
          </a:p>
        </p:txBody>
      </p:sp>
      <p:sp>
        <p:nvSpPr>
          <p:cNvPr id="10" name="텍스트 개체 틀 4"/>
          <p:cNvSpPr>
            <a:spLocks noGrp="1"/>
          </p:cNvSpPr>
          <p:nvPr>
            <p:ph type="body" sz="quarter" idx="12"/>
          </p:nvPr>
        </p:nvSpPr>
        <p:spPr>
          <a:xfrm>
            <a:off x="234132" y="828303"/>
            <a:ext cx="7956884" cy="835266"/>
          </a:xfrm>
        </p:spPr>
        <p:txBody>
          <a:bodyPr vert="horz" lIns="91440" tIns="45720" rIns="91440" bIns="45720" rtlCol="0">
            <a:normAutofit/>
          </a:bodyPr>
          <a:lstStyle/>
          <a:p>
            <a:pPr defTabSz="914400">
              <a:spcBef>
                <a:spcPct val="20000"/>
              </a:spcBef>
            </a:pPr>
            <a:r>
              <a:rPr lang="en-US" altLang="ko-KR" sz="1600" dirty="0">
                <a:solidFill>
                  <a:srgbClr val="50646E"/>
                </a:solidFill>
              </a:rPr>
              <a:t>ORDERS 파일만 내려도 다른 테이블 정상 서비스</a:t>
            </a:r>
            <a:r>
              <a:rPr lang="ko-KR" altLang="en-US" sz="1600" dirty="0">
                <a:solidFill>
                  <a:srgbClr val="50646E"/>
                </a:solidFill>
              </a:rPr>
              <a:t/>
            </a:r>
            <a:r>
              <a:rPr lang="en-US" altLang="ko-KR" sz="1600" dirty="0">
                <a:solidFill>
                  <a:srgbClr val="50646E"/>
                </a:solidFill>
              </a:rPr>
              <a:t/>
            </a:r>
          </a:p>
        </p:txBody>
      </p:sp>
      <p:pic>
        <p:nvPicPr>
          <p:cNvPr id="11" name="Picture 10" descr="tablespa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6388" y="3195148"/>
            <a:ext cx="5645288" cy="233842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153293" y="1764296"/>
            <a:ext cx="4233966" cy="52001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730"/>
                </a:solidFill>
              </a:rPr>
              <a:t>• TS_ORDERS·TS_INQUIRIES 생성 후 MOVE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730"/>
                </a:solidFill>
              </a:rPr>
              <a:t>• 인덱스 UNUSABLE → REBUILD, 통계 재수집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730"/>
                </a:solidFill>
              </a:rPr>
              <a:t>• 구조 변경 후 새 RMAN 베이스라인 필수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텍스트 개체 틀 3"/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pPr algn="r"/>
            <a:r>
              <a:rPr lang="en-US" altLang="ko-KR" sz="1600" dirty="0" smtClean="0"/>
              <a:t>Case 1</a:t>
            </a:r>
            <a:r>
              <a:rPr lang="ko-KR" altLang="en-US" sz="1600" dirty="0" smtClean="0"/>
              <a:t/>
            </a:r>
            <a:endParaRPr lang="ko-KR" altLang="en-US" sz="1600" dirty="0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ko-KR" altLang="en-US" dirty="0" smtClean="0"/>
              <a:t>ORDERS 데이터파일 유실</a:t>
            </a:r>
            <a:r>
              <a:rPr lang="en-US" altLang="ko-KR" dirty="0" smtClean="0"/>
              <a:t/>
            </a:r>
            <a:endParaRPr lang="ko-KR" altLang="en-US" dirty="0"/>
          </a:p>
        </p:txBody>
      </p:sp>
      <p:sp>
        <p:nvSpPr>
          <p:cNvPr id="10" name="텍스트 개체 틀 4"/>
          <p:cNvSpPr>
            <a:spLocks noGrp="1"/>
          </p:cNvSpPr>
          <p:nvPr>
            <p:ph type="body" sz="quarter" idx="12"/>
          </p:nvPr>
        </p:nvSpPr>
        <p:spPr>
          <a:xfrm>
            <a:off x="234132" y="828303"/>
            <a:ext cx="7956884" cy="835266"/>
          </a:xfrm>
        </p:spPr>
        <p:txBody>
          <a:bodyPr vert="horz" lIns="91440" tIns="45720" rIns="91440" bIns="45720" rtlCol="0">
            <a:normAutofit/>
          </a:bodyPr>
          <a:lstStyle/>
          <a:p>
            <a:pPr defTabSz="914400">
              <a:spcBef>
                <a:spcPct val="20000"/>
              </a:spcBef>
            </a:pPr>
            <a:r>
              <a:rPr lang="en-US" altLang="ko-KR" sz="1600" dirty="0">
                <a:solidFill>
                  <a:srgbClr val="50646E"/>
                </a:solidFill>
              </a:rPr>
              <a:t>RMAN 온라인 무중단 복구</a:t>
            </a:r>
            <a:r>
              <a:rPr lang="ko-KR" altLang="en-US" sz="1600" dirty="0">
                <a:solidFill>
                  <a:srgbClr val="50646E"/>
                </a:solidFill>
              </a:rPr>
              <a:t/>
            </a:r>
            <a:r>
              <a:rPr lang="en-US" altLang="ko-KR" sz="1600" dirty="0">
                <a:solidFill>
                  <a:srgbClr val="50646E"/>
                </a:solidFill>
              </a:rPr>
              <a:t/>
            </a:r>
          </a:p>
        </p:txBody>
      </p:sp>
      <p:sp>
        <p:nvSpPr>
          <p:cNvPr id="11" name="내용 개체 틀 10"/>
          <p:cNvSpPr>
            <a:spLocks noGrp="1"/>
          </p:cNvSpPr>
          <p:nvPr>
            <p:ph idx="13"/>
          </p:nvPr>
        </p:nvSpPr>
        <p:spPr/>
        <p:txBody>
          <a:bodyPr wrap="square"/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730"/>
                </a:solidFill>
              </a:rPr>
              <a:t>• rm으로 파일 삭제 → SELECT 시 ORA-01116</a:t>
            </a:r>
            <a:endParaRPr lang="ko-KR" altLang="en-US" dirty="0"/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730"/>
                </a:solidFill>
              </a:rPr>
              <a:t>• 격리 검증: CUSTOMERS·PRODUCTS는 정상 조회(다른 TS)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730"/>
                </a:solidFill>
              </a:rPr>
              <a:t>• DATAFILE OFFLINE → RESTORE → RECOVER → ONLINE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730"/>
                </a:solidFill>
              </a:rPr>
              <a:t>• 복구 후 정상 조회 확인 (무중단)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텍스트 개체 틀 3"/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pPr algn="r"/>
            <a:r>
              <a:rPr lang="en-US" altLang="ko-KR" sz="1600" dirty="0" smtClean="0"/>
              <a:t>Case 2·3</a:t>
            </a:r>
            <a:r>
              <a:rPr lang="ko-KR" altLang="en-US" sz="1600" dirty="0" smtClean="0"/>
              <a:t/>
            </a:r>
            <a:endParaRPr lang="ko-KR" altLang="en-US" sz="1600" dirty="0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ko-KR" altLang="en-US" dirty="0" smtClean="0"/>
              <a:t>SYSTEM 파일 · 블록 손상</a:t>
            </a:r>
            <a:r>
              <a:rPr lang="en-US" altLang="ko-KR" dirty="0" smtClean="0"/>
              <a:t/>
            </a:r>
            <a:endParaRPr lang="ko-KR" altLang="en-US" dirty="0"/>
          </a:p>
        </p:txBody>
      </p:sp>
      <p:sp>
        <p:nvSpPr>
          <p:cNvPr id="10" name="텍스트 개체 틀 4"/>
          <p:cNvSpPr>
            <a:spLocks noGrp="1"/>
          </p:cNvSpPr>
          <p:nvPr>
            <p:ph type="body" sz="quarter" idx="12"/>
          </p:nvPr>
        </p:nvSpPr>
        <p:spPr>
          <a:xfrm>
            <a:off x="234132" y="828303"/>
            <a:ext cx="7956884" cy="835266"/>
          </a:xfrm>
        </p:spPr>
        <p:txBody>
          <a:bodyPr vert="horz" lIns="91440" tIns="45720" rIns="91440" bIns="45720" rtlCol="0">
            <a:normAutofit/>
          </a:bodyPr>
          <a:lstStyle/>
          <a:p>
            <a:pPr defTabSz="914400">
              <a:spcBef>
                <a:spcPct val="20000"/>
              </a:spcBef>
            </a:pPr>
            <a:r>
              <a:rPr lang="en-US" altLang="ko-KR" sz="1600" dirty="0">
                <a:solidFill>
                  <a:srgbClr val="50646E"/>
                </a:solidFill>
              </a:rPr>
              <a:t>범위에 따라 중단/무중단 갈림</a:t>
            </a:r>
            <a:r>
              <a:rPr lang="ko-KR" altLang="en-US" sz="1600" dirty="0">
                <a:solidFill>
                  <a:srgbClr val="50646E"/>
                </a:solidFill>
              </a:rPr>
              <a:t/>
            </a:r>
            <a:r>
              <a:rPr lang="en-US" altLang="ko-KR" sz="1600" dirty="0">
                <a:solidFill>
                  <a:srgbClr val="50646E"/>
                </a:solidFill>
              </a:rPr>
              <a:t/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17624" y="1764296"/>
          <a:ext cx="10058400" cy="11521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52800"/>
                <a:gridCol w="3352800"/>
                <a:gridCol w="3352800"/>
              </a:tblGrid>
              <a:tr h="384048"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</a:rPr>
                        <a:t>Case</a:t>
                      </a:r>
                    </a:p>
                  </a:txBody>
                  <a:tcPr anchor="ctr" marT="25400" marB="25400"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</a:rPr>
                        <a:t>장애</a:t>
                      </a:r>
                    </a:p>
                  </a:txBody>
                  <a:tcPr anchor="ctr" marT="25400" marB="25400"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100">
                          <a:solidFill>
                            <a:srgbClr val="FFFFFF"/>
                          </a:solidFill>
                        </a:rPr>
                        <a:t>복구</a:t>
                      </a:r>
                    </a:p>
                  </a:txBody>
                  <a:tcPr anchor="ctr" marT="25400" marB="25400">
                    <a:solidFill>
                      <a:srgbClr val="1B2A4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222730"/>
                          </a:solidFill>
                        </a:rPr>
                        <a:t>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222730"/>
                          </a:solidFill>
                        </a:rPr>
                        <a:t>SYSTEM 데이터파일 유실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222730"/>
                          </a:solidFill>
                        </a:rPr>
                        <a:t>STARTUP MOUNT→RESTORE/RECOVER DATAFILE 1→OPEN (중단)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222730"/>
                          </a:solidFill>
                        </a:rPr>
                        <a:t>3</a:t>
                      </a:r>
                    </a:p>
                  </a:txBody>
                  <a:tcPr anchor="ctr" marT="12700" marB="12700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222730"/>
                          </a:solidFill>
                        </a:rPr>
                        <a:t>INQUIRIES 블록 손상</a:t>
                      </a:r>
                    </a:p>
                  </a:txBody>
                  <a:tcPr anchor="ctr" marT="12700" marB="12700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222730"/>
                          </a:solidFill>
                        </a:rPr>
                        <a:t>ROWID로 특정 → BLOCKRECOVER (무중단, Open 유지)</a:t>
                      </a:r>
                    </a:p>
                  </a:txBody>
                  <a:tcPr anchor="ctr" marT="12700" marB="12700"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텍스트 개체 틀 3"/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pPr algn="r"/>
            <a:r>
              <a:rPr lang="en-US" altLang="ko-KR" sz="1600" dirty="0" smtClean="0"/>
              <a:t>Case 4</a:t>
            </a:r>
            <a:r>
              <a:rPr lang="ko-KR" altLang="en-US" sz="1600" dirty="0" smtClean="0"/>
              <a:t/>
            </a:r>
            <a:endParaRPr lang="ko-KR" altLang="en-US" sz="1600" dirty="0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ko-KR" altLang="en-US" dirty="0" smtClean="0"/>
              <a:t>관리자 실수 — Flashback</a:t>
            </a:r>
            <a:r>
              <a:rPr lang="en-US" altLang="ko-KR" dirty="0" smtClean="0"/>
              <a:t/>
            </a:r>
            <a:endParaRPr lang="ko-KR" altLang="en-US" dirty="0"/>
          </a:p>
        </p:txBody>
      </p:sp>
      <p:sp>
        <p:nvSpPr>
          <p:cNvPr id="10" name="텍스트 개체 틀 4"/>
          <p:cNvSpPr>
            <a:spLocks noGrp="1"/>
          </p:cNvSpPr>
          <p:nvPr>
            <p:ph type="body" sz="quarter" idx="12"/>
          </p:nvPr>
        </p:nvSpPr>
        <p:spPr>
          <a:xfrm>
            <a:off x="234132" y="828303"/>
            <a:ext cx="7956884" cy="835266"/>
          </a:xfrm>
        </p:spPr>
        <p:txBody>
          <a:bodyPr vert="horz" lIns="91440" tIns="45720" rIns="91440" bIns="45720" rtlCol="0">
            <a:normAutofit/>
          </a:bodyPr>
          <a:lstStyle/>
          <a:p>
            <a:pPr defTabSz="914400">
              <a:spcBef>
                <a:spcPct val="20000"/>
              </a:spcBef>
            </a:pPr>
            <a:r>
              <a:rPr lang="en-US" altLang="ko-KR" sz="1600" dirty="0">
                <a:solidFill>
                  <a:srgbClr val="50646E"/>
                </a:solidFill>
              </a:rPr>
              <a:t>초 단위 복구, UNDO 보존시간 제약</a:t>
            </a:r>
            <a:r>
              <a:rPr lang="ko-KR" altLang="en-US" sz="1600" dirty="0">
                <a:solidFill>
                  <a:srgbClr val="50646E"/>
                </a:solidFill>
              </a:rPr>
              <a:t/>
            </a:r>
            <a:r>
              <a:rPr lang="en-US" altLang="ko-KR" sz="1600" dirty="0">
                <a:solidFill>
                  <a:srgbClr val="50646E"/>
                </a:solidFill>
              </a:rPr>
              <a:t/>
            </a:r>
          </a:p>
        </p:txBody>
      </p:sp>
      <p:sp>
        <p:nvSpPr>
          <p:cNvPr id="11" name="내용 개체 틀 10"/>
          <p:cNvSpPr>
            <a:spLocks noGrp="1"/>
          </p:cNvSpPr>
          <p:nvPr>
            <p:ph idx="13"/>
          </p:nvPr>
        </p:nvSpPr>
        <p:spPr/>
        <p:txBody>
          <a:bodyPr wrap="square"/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730"/>
                </a:solidFill>
              </a:rPr>
              <a:t>• 4A: CUST_CONTACTS 전체 DELETE → FLASHBACK TABLE ... TO TIMESTAMP</a:t>
            </a:r>
            <a:endParaRPr lang="ko-KR" altLang="en-US" dirty="0"/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730"/>
                </a:solidFill>
              </a:rPr>
              <a:t>• 4B: CATEGORIES DROP → FLASHBACK TABLE ... TO BEFORE DROP (RECYCLEBIN)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730"/>
                </a:solidFill>
              </a:rPr>
              <a:t>• 공식 가이드도 User Error를 다운타임의 가장 흔한 원인으로 지목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730"/>
                </a:solidFill>
              </a:rPr>
              <a:t>• UNDO_RETENTION 안에서 수행해야 복구 가능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텍스트 개체 틀 3"/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pPr algn="r"/>
            <a:r>
              <a:rPr lang="en-US" altLang="ko-KR" sz="1600" dirty="0" smtClean="0"/>
              <a:t>Scope</a:t>
            </a:r>
            <a:r>
              <a:rPr lang="ko-KR" altLang="en-US" sz="1600" dirty="0" smtClean="0"/>
              <a:t/>
            </a:r>
            <a:endParaRPr lang="ko-KR" altLang="en-US" sz="1600" dirty="0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ko-KR" altLang="en-US" dirty="0" smtClean="0"/>
              <a:t>장애 범위별 복구 요약</a:t>
            </a:r>
            <a:r>
              <a:rPr lang="en-US" altLang="ko-KR" dirty="0" smtClean="0"/>
              <a:t/>
            </a:r>
            <a:endParaRPr lang="ko-KR" altLang="en-US" dirty="0"/>
          </a:p>
        </p:txBody>
      </p:sp>
      <p:sp>
        <p:nvSpPr>
          <p:cNvPr id="10" name="텍스트 개체 틀 4"/>
          <p:cNvSpPr>
            <a:spLocks noGrp="1"/>
          </p:cNvSpPr>
          <p:nvPr>
            <p:ph type="body" sz="quarter" idx="12"/>
          </p:nvPr>
        </p:nvSpPr>
        <p:spPr>
          <a:xfrm>
            <a:off x="234132" y="828303"/>
            <a:ext cx="7956884" cy="835266"/>
          </a:xfrm>
        </p:spPr>
        <p:txBody>
          <a:bodyPr vert="horz" lIns="91440" tIns="45720" rIns="91440" bIns="45720" rtlCol="0">
            <a:normAutofit/>
          </a:bodyPr>
          <a:lstStyle/>
          <a:p>
            <a:pPr defTabSz="914400">
              <a:spcBef>
                <a:spcPct val="20000"/>
              </a:spcBef>
            </a:pPr>
            <a:r>
              <a:rPr lang="en-US" altLang="ko-KR" sz="1600" dirty="0">
                <a:solidFill>
                  <a:srgbClr val="50646E"/>
                </a:solidFill>
              </a:rPr>
              <a:t>범위 좁을수록 무중단</a:t>
            </a:r>
            <a:r>
              <a:rPr lang="ko-KR" altLang="en-US" sz="1600" dirty="0">
                <a:solidFill>
                  <a:srgbClr val="50646E"/>
                </a:solidFill>
              </a:rPr>
              <a:t/>
            </a:r>
            <a:r>
              <a:rPr lang="en-US" altLang="ko-KR" sz="1600" dirty="0">
                <a:solidFill>
                  <a:srgbClr val="50646E"/>
                </a:solidFill>
              </a:rPr>
              <a:t/>
            </a:r>
          </a:p>
        </p:txBody>
      </p:sp>
      <p:pic>
        <p:nvPicPr>
          <p:cNvPr id="11" name="Picture 10" descr="recovery_scop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6388" y="2158009"/>
            <a:ext cx="10080872" cy="4412702"/>
          </a:xfrm>
          <a:prstGeom prst="rect">
            <a:avLst/>
          </a:prstGeom>
        </p:spPr>
      </p:pic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텍스트 개체 틀 3"/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pPr algn="r"/>
            <a:r>
              <a:rPr lang="en-US" altLang="ko-KR" sz="1600" dirty="0" smtClean="0"/>
              <a:t>Conclusion</a:t>
            </a:r>
            <a:r>
              <a:rPr lang="ko-KR" altLang="en-US" sz="1600" dirty="0" smtClean="0"/>
              <a:t/>
            </a:r>
            <a:endParaRPr lang="ko-KR" altLang="en-US" sz="1600" dirty="0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ko-KR" altLang="en-US" dirty="0" smtClean="0"/>
              <a:t>결론</a:t>
            </a:r>
            <a:r>
              <a:rPr lang="en-US" altLang="ko-KR" dirty="0" smtClean="0"/>
              <a:t/>
            </a:r>
            <a:endParaRPr lang="ko-KR" altLang="en-US" dirty="0"/>
          </a:p>
        </p:txBody>
      </p:sp>
      <p:sp>
        <p:nvSpPr>
          <p:cNvPr id="10" name="텍스트 개체 틀 4"/>
          <p:cNvSpPr>
            <a:spLocks noGrp="1"/>
          </p:cNvSpPr>
          <p:nvPr>
            <p:ph type="body" sz="quarter" idx="12"/>
          </p:nvPr>
        </p:nvSpPr>
        <p:spPr>
          <a:xfrm>
            <a:off x="234132" y="828303"/>
            <a:ext cx="7956884" cy="835266"/>
          </a:xfrm>
        </p:spPr>
        <p:txBody>
          <a:bodyPr vert="horz" lIns="91440" tIns="45720" rIns="91440" bIns="45720" rtlCol="0">
            <a:normAutofit/>
          </a:bodyPr>
          <a:lstStyle/>
          <a:p>
            <a:pPr defTabSz="914400">
              <a:spcBef>
                <a:spcPct val="20000"/>
              </a:spcBef>
            </a:pPr>
            <a:r>
              <a:rPr lang="en-US" altLang="ko-KR" sz="1600" dirty="0">
                <a:solidFill>
                  <a:srgbClr val="50646E"/>
                </a:solidFill>
              </a:rPr>
              <a:t>격리 설계가 무중단 복구의 전제</a:t>
            </a:r>
            <a:r>
              <a:rPr lang="ko-KR" altLang="en-US" sz="1600" dirty="0">
                <a:solidFill>
                  <a:srgbClr val="50646E"/>
                </a:solidFill>
              </a:rPr>
              <a:t/>
            </a:r>
            <a:r>
              <a:rPr lang="en-US" altLang="ko-KR" sz="1600" dirty="0">
                <a:solidFill>
                  <a:srgbClr val="50646E"/>
                </a:solidFill>
              </a:rPr>
              <a:t/>
            </a:r>
          </a:p>
        </p:txBody>
      </p:sp>
      <p:sp>
        <p:nvSpPr>
          <p:cNvPr id="11" name="내용 개체 틀 10"/>
          <p:cNvSpPr>
            <a:spLocks noGrp="1"/>
          </p:cNvSpPr>
          <p:nvPr>
            <p:ph idx="13"/>
          </p:nvPr>
        </p:nvSpPr>
        <p:spPr/>
        <p:txBody>
          <a:bodyPr wrap="square"/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730"/>
                </a:solidFill>
              </a:rPr>
              <a:t>• 블록 &lt; 파일 &lt; 전체 순으로 다운타임 증가</a:t>
            </a:r>
            <a:endParaRPr lang="ko-KR" altLang="en-US" dirty="0"/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730"/>
                </a:solidFill>
              </a:rPr>
              <a:t>• 논리 장애는 Flashback으로 초 단위이나 UNDO 시간 제약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730"/>
                </a:solidFill>
              </a:rPr>
              <a:t>• 사고 전 테이블스페이스 격리 설계가 이번 Part의 핵심 교훈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텍스트 개체 틀 3"/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pPr algn="r"/>
            <a:r>
              <a:rPr lang="en-US" altLang="ko-KR" sz="1600" dirty="0" smtClean="0"/>
              <a:t>Setup</a:t>
            </a:r>
            <a:r>
              <a:rPr lang="ko-KR" altLang="en-US" sz="1600" dirty="0" smtClean="0"/>
              <a:t/>
            </a:r>
            <a:endParaRPr lang="ko-KR" altLang="en-US" sz="1600" dirty="0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ko-KR" altLang="en-US" dirty="0" smtClean="0"/>
              <a:t>사전 준비 스크립트 단계</a:t>
            </a:r>
            <a:r>
              <a:rPr lang="en-US" altLang="ko-KR" dirty="0" smtClean="0"/>
              <a:t/>
            </a:r>
            <a:endParaRPr lang="ko-KR" altLang="en-US" dirty="0"/>
          </a:p>
        </p:txBody>
      </p:sp>
      <p:sp>
        <p:nvSpPr>
          <p:cNvPr id="10" name="텍스트 개체 틀 4"/>
          <p:cNvSpPr>
            <a:spLocks noGrp="1"/>
          </p:cNvSpPr>
          <p:nvPr>
            <p:ph type="body" sz="quarter" idx="12"/>
          </p:nvPr>
        </p:nvSpPr>
        <p:spPr>
          <a:xfrm>
            <a:off x="234132" y="828303"/>
            <a:ext cx="7956884" cy="835266"/>
          </a:xfrm>
        </p:spPr>
        <p:txBody>
          <a:bodyPr vert="horz" lIns="91440" tIns="45720" rIns="91440" bIns="45720" rtlCol="0">
            <a:normAutofit/>
          </a:bodyPr>
          <a:lstStyle/>
          <a:p>
            <a:pPr defTabSz="914400">
              <a:spcBef>
                <a:spcPct val="20000"/>
              </a:spcBef>
            </a:pPr>
            <a:r>
              <a:rPr lang="en-US" altLang="ko-KR" sz="1600" dirty="0">
                <a:solidFill>
                  <a:srgbClr val="50646E"/>
                </a:solidFill>
              </a:rPr>
              <a:t>16_part3_setup_tablespaces.sql</a:t>
            </a:r>
            <a:r>
              <a:rPr lang="ko-KR" altLang="en-US" sz="1600" dirty="0">
                <a:solidFill>
                  <a:srgbClr val="50646E"/>
                </a:solidFill>
              </a:rPr>
              <a:t/>
            </a:r>
            <a:r>
              <a:rPr lang="en-US" altLang="ko-KR" sz="1600" dirty="0">
                <a:solidFill>
                  <a:srgbClr val="50646E"/>
                </a:solidFill>
              </a:rPr>
              <a:t/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17624" y="1764296"/>
          <a:ext cx="10058400" cy="26883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9200"/>
                <a:gridCol w="5029200"/>
              </a:tblGrid>
              <a:tr h="384048">
                <a:tc>
                  <a:txBody>
                    <a:bodyPr/>
                    <a:lstStyle/>
                    <a:p>
                      <a:pPr algn="ctr"/>
                      <a:r>
                        <a:rPr b="1" sz="1150">
                          <a:solidFill>
                            <a:srgbClr val="FFFFFF"/>
                          </a:solidFill>
                        </a:rPr>
                        <a:t>단계</a:t>
                      </a:r>
                    </a:p>
                  </a:txBody>
                  <a:tcPr anchor="ctr" marT="25400" marB="25400"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150">
                          <a:solidFill>
                            <a:srgbClr val="FFFFFF"/>
                          </a:solidFill>
                        </a:rPr>
                        <a:t>작업</a:t>
                      </a:r>
                    </a:p>
                  </a:txBody>
                  <a:tcPr anchor="ctr" marT="25400" marB="25400">
                    <a:solidFill>
                      <a:srgbClr val="1B2A4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222730"/>
                          </a:solidFill>
                        </a:rPr>
                        <a:t>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22730"/>
                          </a:solidFill>
                        </a:rPr>
                        <a:t>ARCHIVELOG 모드 확인(미적용 시 전환)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222730"/>
                          </a:solidFill>
                        </a:rPr>
                        <a:t>1</a:t>
                      </a:r>
                    </a:p>
                  </a:txBody>
                  <a:tcPr anchor="ctr" marT="12700" marB="12700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22730"/>
                          </a:solidFill>
                        </a:rPr>
                        <a:t>기존 데이터파일 경로 패턴 확인</a:t>
                      </a:r>
                    </a:p>
                  </a:txBody>
                  <a:tcPr anchor="ctr" marT="12700" marB="12700">
                    <a:solidFill>
                      <a:srgbClr val="F2F4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222730"/>
                          </a:solidFill>
                        </a:rPr>
                        <a:t>2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22730"/>
                          </a:solidFill>
                        </a:rPr>
                        <a:t>시나리오별 전용 TS 생성(TS_ORDERS·TS_INQUIRIES)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222730"/>
                          </a:solidFill>
                        </a:rPr>
                        <a:t>3</a:t>
                      </a:r>
                    </a:p>
                  </a:txBody>
                  <a:tcPr anchor="ctr" marT="12700" marB="12700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22730"/>
                          </a:solidFill>
                        </a:rPr>
                        <a:t>ALTER TABLE ... MOVE 로 테이블 이동</a:t>
                      </a:r>
                    </a:p>
                  </a:txBody>
                  <a:tcPr anchor="ctr" marT="12700" marB="12700">
                    <a:solidFill>
                      <a:srgbClr val="F2F4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222730"/>
                          </a:solidFill>
                        </a:rPr>
                        <a:t>4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22730"/>
                          </a:solidFill>
                        </a:rPr>
                        <a:t>인덱스 REBUILD(UNUSABLE 해소)·통계 재수집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222730"/>
                          </a:solidFill>
                        </a:rPr>
                        <a:t>5</a:t>
                      </a:r>
                    </a:p>
                  </a:txBody>
                  <a:tcPr anchor="ctr" marT="12700" marB="12700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22730"/>
                          </a:solidFill>
                        </a:rPr>
                        <a:t>배치 후 새 RMAN 베이스라인 확보</a:t>
                      </a:r>
                    </a:p>
                  </a:txBody>
                  <a:tcPr anchor="ctr" marT="12700" marB="12700"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텍스트 개체 틀 3"/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pPr algn="r"/>
            <a:r>
              <a:rPr lang="en-US" altLang="ko-KR" sz="1600" dirty="0" smtClean="0"/>
              <a:t>Case 1</a:t>
            </a:r>
            <a:r>
              <a:rPr lang="ko-KR" altLang="en-US" sz="1600" dirty="0" smtClean="0"/>
              <a:t/>
            </a:r>
            <a:endParaRPr lang="ko-KR" altLang="en-US" sz="1600" dirty="0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ko-KR" altLang="en-US" dirty="0" smtClean="0"/>
              <a:t>Case1 상세 — 데이터파일 유실</a:t>
            </a:r>
            <a:r>
              <a:rPr lang="en-US" altLang="ko-KR" dirty="0" smtClean="0"/>
              <a:t/>
            </a:r>
            <a:endParaRPr lang="ko-KR" altLang="en-US" dirty="0"/>
          </a:p>
        </p:txBody>
      </p:sp>
      <p:sp>
        <p:nvSpPr>
          <p:cNvPr id="10" name="텍스트 개체 틀 4"/>
          <p:cNvSpPr>
            <a:spLocks noGrp="1"/>
          </p:cNvSpPr>
          <p:nvPr>
            <p:ph type="body" sz="quarter" idx="12"/>
          </p:nvPr>
        </p:nvSpPr>
        <p:spPr>
          <a:xfrm>
            <a:off x="234132" y="828303"/>
            <a:ext cx="7956884" cy="835266"/>
          </a:xfrm>
        </p:spPr>
        <p:txBody>
          <a:bodyPr vert="horz" lIns="91440" tIns="45720" rIns="91440" bIns="45720" rtlCol="0">
            <a:normAutofit/>
          </a:bodyPr>
          <a:lstStyle/>
          <a:p>
            <a:pPr defTabSz="914400">
              <a:spcBef>
                <a:spcPct val="20000"/>
              </a:spcBef>
            </a:pPr>
            <a:r>
              <a:rPr lang="en-US" altLang="ko-KR" sz="1600" dirty="0">
                <a:solidFill>
                  <a:srgbClr val="50646E"/>
                </a:solidFill>
              </a:rPr>
              <a:t>RMAN 온라인 무중단 복구 절차</a:t>
            </a:r>
            <a:r>
              <a:rPr lang="ko-KR" altLang="en-US" sz="1600" dirty="0">
                <a:solidFill>
                  <a:srgbClr val="50646E"/>
                </a:solidFill>
              </a:rPr>
              <a:t/>
            </a:r>
            <a:r>
              <a:rPr lang="en-US" altLang="ko-KR" sz="1600" dirty="0">
                <a:solidFill>
                  <a:srgbClr val="50646E"/>
                </a:solidFill>
              </a:rPr>
              <a:t/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17624" y="1764296"/>
          <a:ext cx="10058400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9200"/>
                <a:gridCol w="5029200"/>
              </a:tblGrid>
              <a:tr h="384048">
                <a:tc>
                  <a:txBody>
                    <a:bodyPr/>
                    <a:lstStyle/>
                    <a:p>
                      <a:pPr algn="ctr"/>
                      <a:r>
                        <a:rPr b="1" sz="1150">
                          <a:solidFill>
                            <a:srgbClr val="FFFFFF"/>
                          </a:solidFill>
                        </a:rPr>
                        <a:t>단계</a:t>
                      </a:r>
                    </a:p>
                  </a:txBody>
                  <a:tcPr anchor="ctr" marT="25400" marB="25400"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150">
                          <a:solidFill>
                            <a:srgbClr val="FFFFFF"/>
                          </a:solidFill>
                        </a:rPr>
                        <a:t>명령/현상</a:t>
                      </a:r>
                    </a:p>
                  </a:txBody>
                  <a:tcPr anchor="ctr" marT="25400" marB="25400">
                    <a:solidFill>
                      <a:srgbClr val="1B2A4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222730"/>
                          </a:solidFill>
                        </a:rPr>
                        <a:t>장애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22730"/>
                          </a:solidFill>
                        </a:rPr>
                        <a:t>rm 으로 ORDERS 데이터파일 삭제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222730"/>
                          </a:solidFill>
                        </a:rPr>
                        <a:t>증상</a:t>
                      </a:r>
                    </a:p>
                  </a:txBody>
                  <a:tcPr anchor="ctr" marT="12700" marB="12700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22730"/>
                          </a:solidFill>
                        </a:rPr>
                        <a:t>SELECT 시 ORA-01116</a:t>
                      </a:r>
                    </a:p>
                  </a:txBody>
                  <a:tcPr anchor="ctr" marT="12700" marB="12700">
                    <a:solidFill>
                      <a:srgbClr val="F2F4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222730"/>
                          </a:solidFill>
                        </a:rPr>
                        <a:t>격리확인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22730"/>
                          </a:solidFill>
                        </a:rPr>
                        <a:t>CUSTOMERS·PRODUCTS 정상(다른 TS)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222730"/>
                          </a:solidFill>
                        </a:rPr>
                        <a:t>복구</a:t>
                      </a:r>
                    </a:p>
                  </a:txBody>
                  <a:tcPr anchor="ctr" marT="12700" marB="12700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22730"/>
                          </a:solidFill>
                        </a:rPr>
                        <a:t>DATAFILE OFFLINE → RESTORE → RECOVER → ONLINE</a:t>
                      </a:r>
                    </a:p>
                  </a:txBody>
                  <a:tcPr anchor="ctr" marT="12700" marB="12700">
                    <a:solidFill>
                      <a:srgbClr val="F2F4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222730"/>
                          </a:solidFill>
                        </a:rPr>
                        <a:t>결과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22730"/>
                          </a:solidFill>
                        </a:rPr>
                        <a:t>무중단(Open 유지)으로 정상 조회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텍스트 개체 틀 3"/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pPr algn="r"/>
            <a:r>
              <a:rPr lang="en-US" altLang="ko-KR" sz="1600" dirty="0" smtClean="0"/>
              <a:t>Case 2</a:t>
            </a:r>
            <a:r>
              <a:rPr lang="ko-KR" altLang="en-US" sz="1600" dirty="0" smtClean="0"/>
              <a:t/>
            </a:r>
            <a:endParaRPr lang="ko-KR" altLang="en-US" sz="1600" dirty="0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ko-KR" altLang="en-US" dirty="0" smtClean="0"/>
              <a:t>Case2 상세 — SYSTEM 유실</a:t>
            </a:r>
            <a:r>
              <a:rPr lang="en-US" altLang="ko-KR" dirty="0" smtClean="0"/>
              <a:t/>
            </a:r>
            <a:endParaRPr lang="ko-KR" altLang="en-US" dirty="0"/>
          </a:p>
        </p:txBody>
      </p:sp>
      <p:sp>
        <p:nvSpPr>
          <p:cNvPr id="10" name="텍스트 개체 틀 4"/>
          <p:cNvSpPr>
            <a:spLocks noGrp="1"/>
          </p:cNvSpPr>
          <p:nvPr>
            <p:ph type="body" sz="quarter" idx="12"/>
          </p:nvPr>
        </p:nvSpPr>
        <p:spPr>
          <a:xfrm>
            <a:off x="234132" y="828303"/>
            <a:ext cx="7956884" cy="835266"/>
          </a:xfrm>
        </p:spPr>
        <p:txBody>
          <a:bodyPr vert="horz" lIns="91440" tIns="45720" rIns="91440" bIns="45720" rtlCol="0">
            <a:normAutofit/>
          </a:bodyPr>
          <a:lstStyle/>
          <a:p>
            <a:pPr defTabSz="914400">
              <a:spcBef>
                <a:spcPct val="20000"/>
              </a:spcBef>
            </a:pPr>
            <a:r>
              <a:rPr lang="en-US" altLang="ko-KR" sz="1600" dirty="0">
                <a:solidFill>
                  <a:srgbClr val="50646E"/>
                </a:solidFill>
              </a:rPr>
              <a:t>Closed Recovery (인스턴스 중단)</a:t>
            </a:r>
            <a:r>
              <a:rPr lang="ko-KR" altLang="en-US" sz="1600" dirty="0">
                <a:solidFill>
                  <a:srgbClr val="50646E"/>
                </a:solidFill>
              </a:rPr>
              <a:t/>
            </a:r>
            <a:r>
              <a:rPr lang="en-US" altLang="ko-KR" sz="1600" dirty="0">
                <a:solidFill>
                  <a:srgbClr val="50646E"/>
                </a:solidFill>
              </a:rPr>
              <a:t/>
            </a:r>
          </a:p>
        </p:txBody>
      </p:sp>
      <p:sp>
        <p:nvSpPr>
          <p:cNvPr id="11" name="내용 개체 틀 10"/>
          <p:cNvSpPr>
            <a:spLocks noGrp="1"/>
          </p:cNvSpPr>
          <p:nvPr>
            <p:ph idx="13"/>
          </p:nvPr>
        </p:nvSpPr>
        <p:spPr/>
        <p:txBody>
          <a:bodyPr wrap="square"/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730"/>
                </a:solidFill>
              </a:rPr>
              <a:t>• SYSTEM = 데이터 딕셔너리 → 없으면 MOUNT 이상 진행 불가</a:t>
            </a:r>
            <a:endParaRPr lang="ko-KR" altLang="en-US" dirty="0"/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730"/>
                </a:solidFill>
              </a:rPr>
              <a:t>• 무중단 불가 → 인스턴스 완전 종료 후 복구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730"/>
                </a:solidFill>
              </a:rPr>
              <a:t>• 절차: STARTUP MOUNT → RESTORE/RECOVER DATAFILE 1 → OPEN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730"/>
                </a:solidFill>
              </a:rPr>
              <a:t>• 다른 실습과 분리해 마지막에 진행 권장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텍스트 개체 틀 3"/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pPr algn="r"/>
            <a:r>
              <a:rPr lang="en-US" altLang="ko-KR" sz="1600" dirty="0" smtClean="0"/>
              <a:t>Case 3</a:t>
            </a:r>
            <a:r>
              <a:rPr lang="ko-KR" altLang="en-US" sz="1600" dirty="0" smtClean="0"/>
              <a:t/>
            </a:r>
            <a:endParaRPr lang="ko-KR" altLang="en-US" sz="1600" dirty="0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ko-KR" altLang="en-US" dirty="0" smtClean="0"/>
              <a:t>Case3 상세 — 블록 손상</a:t>
            </a:r>
            <a:r>
              <a:rPr lang="en-US" altLang="ko-KR" dirty="0" smtClean="0"/>
              <a:t/>
            </a:r>
            <a:endParaRPr lang="ko-KR" altLang="en-US" dirty="0"/>
          </a:p>
        </p:txBody>
      </p:sp>
      <p:sp>
        <p:nvSpPr>
          <p:cNvPr id="10" name="텍스트 개체 틀 4"/>
          <p:cNvSpPr>
            <a:spLocks noGrp="1"/>
          </p:cNvSpPr>
          <p:nvPr>
            <p:ph type="body" sz="quarter" idx="12"/>
          </p:nvPr>
        </p:nvSpPr>
        <p:spPr>
          <a:xfrm>
            <a:off x="234132" y="828303"/>
            <a:ext cx="7956884" cy="835266"/>
          </a:xfrm>
        </p:spPr>
        <p:txBody>
          <a:bodyPr vert="horz" lIns="91440" tIns="45720" rIns="91440" bIns="45720" rtlCol="0">
            <a:normAutofit/>
          </a:bodyPr>
          <a:lstStyle/>
          <a:p>
            <a:pPr defTabSz="914400">
              <a:spcBef>
                <a:spcPct val="20000"/>
              </a:spcBef>
            </a:pPr>
            <a:r>
              <a:rPr lang="en-US" altLang="ko-KR" sz="1600" dirty="0">
                <a:solidFill>
                  <a:srgbClr val="50646E"/>
                </a:solidFill>
              </a:rPr>
              <a:t>Block Media Recovery (무중단)</a:t>
            </a:r>
            <a:r>
              <a:rPr lang="ko-KR" altLang="en-US" sz="1600" dirty="0">
                <a:solidFill>
                  <a:srgbClr val="50646E"/>
                </a:solidFill>
              </a:rPr>
              <a:t/>
            </a:r>
            <a:r>
              <a:rPr lang="en-US" altLang="ko-KR" sz="1600" dirty="0">
                <a:solidFill>
                  <a:srgbClr val="50646E"/>
                </a:solidFill>
              </a:rPr>
              <a:t/>
            </a:r>
          </a:p>
        </p:txBody>
      </p:sp>
      <p:sp>
        <p:nvSpPr>
          <p:cNvPr id="11" name="내용 개체 틀 10"/>
          <p:cNvSpPr>
            <a:spLocks noGrp="1"/>
          </p:cNvSpPr>
          <p:nvPr>
            <p:ph idx="13"/>
          </p:nvPr>
        </p:nvSpPr>
        <p:spPr/>
        <p:txBody>
          <a:bodyPr wrap="square"/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730"/>
                </a:solidFill>
              </a:rPr>
              <a:t>• 원본 가이드에 없던 "손상 블록 찾는 법" 추가</a:t>
            </a:r>
            <a:endParaRPr lang="ko-KR" altLang="en-US" dirty="0"/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730"/>
                </a:solidFill>
              </a:rPr>
              <a:t>• DBMS_ROWID로 대상 행의 파일번호·블록번호 특정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730"/>
                </a:solidFill>
              </a:rPr>
              <a:t>• dd로 해당 블록만 덮어써 손상 연출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730"/>
                </a:solidFill>
              </a:rPr>
              <a:t>• RMAN BLOCKRECOVER → Open 유지한 채 블록만 복구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텍스트 개체 틀 3"/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pPr algn="r"/>
            <a:r>
              <a:rPr lang="en-US" altLang="ko-KR" sz="1600" dirty="0" smtClean="0"/>
              <a:t>Case 4</a:t>
            </a:r>
            <a:r>
              <a:rPr lang="ko-KR" altLang="en-US" sz="1600" dirty="0" smtClean="0"/>
              <a:t/>
            </a:r>
            <a:endParaRPr lang="ko-KR" altLang="en-US" sz="1600" dirty="0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ko-KR" altLang="en-US" dirty="0" smtClean="0"/>
              <a:t>Case4 상세 — Flashback</a:t>
            </a:r>
            <a:r>
              <a:rPr lang="en-US" altLang="ko-KR" dirty="0" smtClean="0"/>
              <a:t/>
            </a:r>
            <a:endParaRPr lang="ko-KR" altLang="en-US" dirty="0"/>
          </a:p>
        </p:txBody>
      </p:sp>
      <p:sp>
        <p:nvSpPr>
          <p:cNvPr id="10" name="텍스트 개체 틀 4"/>
          <p:cNvSpPr>
            <a:spLocks noGrp="1"/>
          </p:cNvSpPr>
          <p:nvPr>
            <p:ph type="body" sz="quarter" idx="12"/>
          </p:nvPr>
        </p:nvSpPr>
        <p:spPr>
          <a:xfrm>
            <a:off x="234132" y="828303"/>
            <a:ext cx="7956884" cy="835266"/>
          </a:xfrm>
        </p:spPr>
        <p:txBody>
          <a:bodyPr vert="horz" lIns="91440" tIns="45720" rIns="91440" bIns="45720" rtlCol="0">
            <a:normAutofit/>
          </a:bodyPr>
          <a:lstStyle/>
          <a:p>
            <a:pPr defTabSz="914400">
              <a:spcBef>
                <a:spcPct val="20000"/>
              </a:spcBef>
            </a:pPr>
            <a:r>
              <a:rPr lang="en-US" altLang="ko-KR" sz="1600" dirty="0">
                <a:solidFill>
                  <a:srgbClr val="50646E"/>
                </a:solidFill>
              </a:rPr>
              <a:t>논리 장애, 백업 복원 없이 초 단위</a:t>
            </a:r>
            <a:r>
              <a:rPr lang="ko-KR" altLang="en-US" sz="1600" dirty="0">
                <a:solidFill>
                  <a:srgbClr val="50646E"/>
                </a:solidFill>
              </a:rPr>
              <a:t/>
            </a:r>
            <a:r>
              <a:rPr lang="en-US" altLang="ko-KR" sz="1600" dirty="0">
                <a:solidFill>
                  <a:srgbClr val="50646E"/>
                </a:solidFill>
              </a:rPr>
              <a:t/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17624" y="1764296"/>
          <a:ext cx="10058400" cy="11521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52800"/>
                <a:gridCol w="3352800"/>
                <a:gridCol w="3352800"/>
              </a:tblGrid>
              <a:tr h="384048">
                <a:tc>
                  <a:txBody>
                    <a:bodyPr/>
                    <a:lstStyle/>
                    <a:p>
                      <a:pPr algn="ctr"/>
                      <a:r>
                        <a:rPr b="1" sz="1150">
                          <a:solidFill>
                            <a:srgbClr val="FFFFFF"/>
                          </a:solidFill>
                        </a:rPr>
                        <a:t>구분</a:t>
                      </a:r>
                    </a:p>
                  </a:txBody>
                  <a:tcPr anchor="ctr" marT="25400" marB="25400"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150">
                          <a:solidFill>
                            <a:srgbClr val="FFFFFF"/>
                          </a:solidFill>
                        </a:rPr>
                        <a:t>장애</a:t>
                      </a:r>
                    </a:p>
                  </a:txBody>
                  <a:tcPr anchor="ctr" marT="25400" marB="25400"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150">
                          <a:solidFill>
                            <a:srgbClr val="FFFFFF"/>
                          </a:solidFill>
                        </a:rPr>
                        <a:t>복구</a:t>
                      </a:r>
                    </a:p>
                  </a:txBody>
                  <a:tcPr anchor="ctr" marT="25400" marB="25400">
                    <a:solidFill>
                      <a:srgbClr val="1B2A4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222730"/>
                          </a:solidFill>
                        </a:rPr>
                        <a:t>4A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22730"/>
                          </a:solidFill>
                        </a:rPr>
                        <a:t>CUST_CONTACTS 전체 DELETE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22730"/>
                          </a:solidFill>
                        </a:rPr>
                        <a:t>FLASHBACK TABLE ... TO TIMESTAMP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222730"/>
                          </a:solidFill>
                        </a:rPr>
                        <a:t>4B</a:t>
                      </a:r>
                    </a:p>
                  </a:txBody>
                  <a:tcPr anchor="ctr" marT="12700" marB="12700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22730"/>
                          </a:solidFill>
                        </a:rPr>
                        <a:t>CATEGORIES DROP</a:t>
                      </a:r>
                    </a:p>
                  </a:txBody>
                  <a:tcPr anchor="ctr" marT="12700" marB="12700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22730"/>
                          </a:solidFill>
                        </a:rPr>
                        <a:t>FLASHBACK TABLE ... TO BEFORE DROP</a:t>
                      </a:r>
                    </a:p>
                  </a:txBody>
                  <a:tcPr anchor="ctr" marT="12700" marB="12700"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텍스트 개체 틀 3"/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pPr algn="r"/>
            <a:r>
              <a:rPr lang="en-US" altLang="ko-KR" sz="1600" dirty="0" smtClean="0"/>
              <a:t>RMAN</a:t>
            </a:r>
            <a:r>
              <a:rPr lang="ko-KR" altLang="en-US" sz="1600" dirty="0" smtClean="0"/>
              <a:t/>
            </a:r>
            <a:endParaRPr lang="ko-KR" altLang="en-US" sz="1600" dirty="0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ko-KR" altLang="en-US" dirty="0" smtClean="0"/>
              <a:t>RMAN·복구 개념 정리</a:t>
            </a:r>
            <a:r>
              <a:rPr lang="en-US" altLang="ko-KR" dirty="0" smtClean="0"/>
              <a:t/>
            </a:r>
            <a:endParaRPr lang="ko-KR" altLang="en-US" dirty="0"/>
          </a:p>
        </p:txBody>
      </p:sp>
      <p:sp>
        <p:nvSpPr>
          <p:cNvPr id="10" name="텍스트 개체 틀 4"/>
          <p:cNvSpPr>
            <a:spLocks noGrp="1"/>
          </p:cNvSpPr>
          <p:nvPr>
            <p:ph type="body" sz="quarter" idx="12"/>
          </p:nvPr>
        </p:nvSpPr>
        <p:spPr>
          <a:xfrm>
            <a:off x="234132" y="828303"/>
            <a:ext cx="7956884" cy="835266"/>
          </a:xfrm>
        </p:spPr>
        <p:txBody>
          <a:bodyPr vert="horz" lIns="91440" tIns="45720" rIns="91440" bIns="45720" rtlCol="0">
            <a:normAutofit/>
          </a:bodyPr>
          <a:lstStyle/>
          <a:p>
            <a:pPr defTabSz="914400">
              <a:spcBef>
                <a:spcPct val="20000"/>
              </a:spcBef>
            </a:pPr>
            <a:r>
              <a:rPr lang="en-US" altLang="ko-KR" sz="1600" dirty="0">
                <a:solidFill>
                  <a:srgbClr val="50646E"/>
                </a:solidFill>
              </a:rPr>
              <a:t>물리 복구의 전제 조건</a:t>
            </a:r>
            <a:r>
              <a:rPr lang="ko-KR" altLang="en-US" sz="1600" dirty="0">
                <a:solidFill>
                  <a:srgbClr val="50646E"/>
                </a:solidFill>
              </a:rPr>
              <a:t/>
            </a:r>
            <a:r>
              <a:rPr lang="en-US" altLang="ko-KR" sz="1600" dirty="0">
                <a:solidFill>
                  <a:srgbClr val="50646E"/>
                </a:solidFill>
              </a:rPr>
              <a:t/>
            </a:r>
          </a:p>
        </p:txBody>
      </p:sp>
      <p:sp>
        <p:nvSpPr>
          <p:cNvPr id="11" name="내용 개체 틀 10"/>
          <p:cNvSpPr>
            <a:spLocks noGrp="1"/>
          </p:cNvSpPr>
          <p:nvPr>
            <p:ph idx="13"/>
          </p:nvPr>
        </p:nvSpPr>
        <p:spPr/>
        <p:txBody>
          <a:bodyPr wrap="square"/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730"/>
                </a:solidFill>
              </a:rPr>
              <a:t>• ARCHIVELOG 모드 + 정기 Full Backup이 미디어 복구의 전제</a:t>
            </a:r>
            <a:endParaRPr lang="ko-KR" altLang="en-US" dirty="0"/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730"/>
                </a:solidFill>
              </a:rPr>
              <a:t>• RESTORE(백업→데이터파일) + RECOVER(리두 적용)의 2단계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730"/>
                </a:solidFill>
              </a:rPr>
              <a:t>• Flashback은 UNDO/RECYCLEBIN 기반 → 보존시간 제약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730"/>
                </a:solidFill>
              </a:rPr>
              <a:t>• BLOCKRECOVER는 손상 블록만 복구해 다운타임 최소화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텍스트 개체 틀 3"/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pPr algn="r"/>
            <a:r>
              <a:rPr lang="en-US" altLang="ko-KR" sz="1600" dirty="0" smtClean="0"/>
              <a:t>Fault</a:t>
            </a:r>
            <a:r>
              <a:rPr lang="ko-KR" altLang="en-US" sz="1600" dirty="0" smtClean="0"/>
              <a:t/>
            </a:r>
            <a:endParaRPr lang="ko-KR" altLang="en-US" sz="1600" dirty="0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ko-KR" altLang="en-US" dirty="0" smtClean="0"/>
              <a:t>장애 유형 분류</a:t>
            </a:r>
            <a:r>
              <a:rPr lang="en-US" altLang="ko-KR" dirty="0" smtClean="0"/>
              <a:t/>
            </a:r>
            <a:endParaRPr lang="ko-KR" altLang="en-US" dirty="0"/>
          </a:p>
        </p:txBody>
      </p:sp>
      <p:sp>
        <p:nvSpPr>
          <p:cNvPr id="10" name="텍스트 개체 틀 4"/>
          <p:cNvSpPr>
            <a:spLocks noGrp="1"/>
          </p:cNvSpPr>
          <p:nvPr>
            <p:ph type="body" sz="quarter" idx="12"/>
          </p:nvPr>
        </p:nvSpPr>
        <p:spPr>
          <a:xfrm>
            <a:off x="234132" y="828303"/>
            <a:ext cx="7956884" cy="835266"/>
          </a:xfrm>
        </p:spPr>
        <p:txBody>
          <a:bodyPr vert="horz" lIns="91440" tIns="45720" rIns="91440" bIns="45720" rtlCol="0">
            <a:normAutofit/>
          </a:bodyPr>
          <a:lstStyle/>
          <a:p>
            <a:pPr defTabSz="914400">
              <a:spcBef>
                <a:spcPct val="20000"/>
              </a:spcBef>
            </a:pPr>
            <a:r>
              <a:rPr lang="en-US" altLang="ko-KR" sz="1600" dirty="0">
                <a:solidFill>
                  <a:srgbClr val="50646E"/>
                </a:solidFill>
              </a:rPr>
              <a:t>물리(Media) vs 논리(User Error)</a:t>
            </a:r>
            <a:r>
              <a:rPr lang="ko-KR" altLang="en-US" sz="1600" dirty="0">
                <a:solidFill>
                  <a:srgbClr val="50646E"/>
                </a:solidFill>
              </a:rPr>
              <a:t/>
            </a:r>
            <a:r>
              <a:rPr lang="en-US" altLang="ko-KR" sz="1600" dirty="0">
                <a:solidFill>
                  <a:srgbClr val="50646E"/>
                </a:solidFill>
              </a:rPr>
              <a:t/>
            </a:r>
          </a:p>
        </p:txBody>
      </p:sp>
      <p:pic>
        <p:nvPicPr>
          <p:cNvPr id="11" name="Picture 10" descr="fault_tre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6766" y="1764296"/>
            <a:ext cx="10060116" cy="5200129"/>
          </a:xfrm>
          <a:prstGeom prst="rect">
            <a:avLst/>
          </a:prstGeom>
        </p:spPr>
      </p:pic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텍스트 개체 틀 3"/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pPr algn="r"/>
            <a:r>
              <a:rPr lang="en-US" altLang="ko-KR" sz="1600" dirty="0" smtClean="0"/>
              <a:t>Downtime</a:t>
            </a:r>
            <a:r>
              <a:rPr lang="ko-KR" altLang="en-US" sz="1600" dirty="0" smtClean="0"/>
              <a:t/>
            </a:r>
            <a:endParaRPr lang="ko-KR" altLang="en-US" sz="1600" dirty="0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ko-KR" altLang="en-US" dirty="0" smtClean="0"/>
              <a:t>다운타임 비교</a:t>
            </a:r>
            <a:r>
              <a:rPr lang="en-US" altLang="ko-KR" dirty="0" smtClean="0"/>
              <a:t/>
            </a:r>
            <a:endParaRPr lang="ko-KR" altLang="en-US" dirty="0"/>
          </a:p>
        </p:txBody>
      </p:sp>
      <p:sp>
        <p:nvSpPr>
          <p:cNvPr id="10" name="텍스트 개체 틀 4"/>
          <p:cNvSpPr>
            <a:spLocks noGrp="1"/>
          </p:cNvSpPr>
          <p:nvPr>
            <p:ph type="body" sz="quarter" idx="12"/>
          </p:nvPr>
        </p:nvSpPr>
        <p:spPr>
          <a:xfrm>
            <a:off x="234132" y="828303"/>
            <a:ext cx="7956884" cy="835266"/>
          </a:xfrm>
        </p:spPr>
        <p:txBody>
          <a:bodyPr vert="horz" lIns="91440" tIns="45720" rIns="91440" bIns="45720" rtlCol="0">
            <a:normAutofit/>
          </a:bodyPr>
          <a:lstStyle/>
          <a:p>
            <a:pPr defTabSz="914400">
              <a:spcBef>
                <a:spcPct val="20000"/>
              </a:spcBef>
            </a:pPr>
            <a:r>
              <a:rPr lang="en-US" altLang="ko-KR" sz="1600" dirty="0">
                <a:solidFill>
                  <a:srgbClr val="50646E"/>
                </a:solidFill>
              </a:rPr>
              <a:t>손상 범위가 좁을수록 무중단</a:t>
            </a:r>
            <a:r>
              <a:rPr lang="ko-KR" altLang="en-US" sz="1600" dirty="0">
                <a:solidFill>
                  <a:srgbClr val="50646E"/>
                </a:solidFill>
              </a:rPr>
              <a:t/>
            </a:r>
            <a:r>
              <a:rPr lang="en-US" altLang="ko-KR" sz="1600" dirty="0">
                <a:solidFill>
                  <a:srgbClr val="50646E"/>
                </a:solidFill>
              </a:rPr>
              <a:t/>
            </a:r>
          </a:p>
        </p:txBody>
      </p:sp>
      <p:pic>
        <p:nvPicPr>
          <p:cNvPr id="11" name="Picture 10" descr="downtime_b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6388" y="3097887"/>
            <a:ext cx="5645288" cy="2532947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153293" y="1764296"/>
            <a:ext cx="4233966" cy="52001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730"/>
                </a:solidFill>
              </a:rPr>
              <a:t>• 블록 손상·Flashback: Open 유지(무중단)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730"/>
                </a:solidFill>
              </a:rPr>
              <a:t>• 파일 유실: 해당 TS만 부분 중단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730"/>
                </a:solidFill>
              </a:rPr>
              <a:t>• SYSTEM 유실: 인스턴스 전체 중단(Closed Recovery)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730"/>
                </a:solidFill>
              </a:rPr>
              <a:t>• → 사전 격리로 "부분 중단" 범위를 좁히는 것이 목표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텍스트 개체 틀 3"/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pPr algn="r"/>
            <a:r>
              <a:rPr lang="en-US" altLang="ko-KR" sz="1600" dirty="0" smtClean="0"/>
              <a:t>Isolation</a:t>
            </a:r>
            <a:r>
              <a:rPr lang="ko-KR" altLang="en-US" sz="1600" dirty="0" smtClean="0"/>
              <a:t/>
            </a:r>
            <a:endParaRPr lang="ko-KR" altLang="en-US" sz="1600" dirty="0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ko-KR" altLang="en-US" dirty="0" smtClean="0"/>
              <a:t>격리 설계의 원리</a:t>
            </a:r>
            <a:r>
              <a:rPr lang="en-US" altLang="ko-KR" dirty="0" smtClean="0"/>
              <a:t/>
            </a:r>
            <a:endParaRPr lang="ko-KR" altLang="en-US" dirty="0"/>
          </a:p>
        </p:txBody>
      </p:sp>
      <p:sp>
        <p:nvSpPr>
          <p:cNvPr id="10" name="텍스트 개체 틀 4"/>
          <p:cNvSpPr>
            <a:spLocks noGrp="1"/>
          </p:cNvSpPr>
          <p:nvPr>
            <p:ph type="body" sz="quarter" idx="12"/>
          </p:nvPr>
        </p:nvSpPr>
        <p:spPr>
          <a:xfrm>
            <a:off x="234132" y="828303"/>
            <a:ext cx="7956884" cy="835266"/>
          </a:xfrm>
        </p:spPr>
        <p:txBody>
          <a:bodyPr vert="horz" lIns="91440" tIns="45720" rIns="91440" bIns="45720" rtlCol="0">
            <a:normAutofit/>
          </a:bodyPr>
          <a:lstStyle/>
          <a:p>
            <a:pPr defTabSz="914400">
              <a:spcBef>
                <a:spcPct val="20000"/>
              </a:spcBef>
            </a:pPr>
            <a:r>
              <a:rPr lang="en-US" altLang="ko-KR" sz="1600" dirty="0">
                <a:solidFill>
                  <a:srgbClr val="50646E"/>
                </a:solidFill>
              </a:rPr>
              <a:t>TS를 나누면 장애 전파를 막는다</a:t>
            </a:r>
            <a:r>
              <a:rPr lang="ko-KR" altLang="en-US" sz="1600" dirty="0">
                <a:solidFill>
                  <a:srgbClr val="50646E"/>
                </a:solidFill>
              </a:rPr>
              <a:t/>
            </a:r>
            <a:r>
              <a:rPr lang="en-US" altLang="ko-KR" sz="1600" dirty="0">
                <a:solidFill>
                  <a:srgbClr val="50646E"/>
                </a:solidFill>
              </a:rPr>
              <a:t/>
            </a:r>
          </a:p>
        </p:txBody>
      </p:sp>
      <p:sp>
        <p:nvSpPr>
          <p:cNvPr id="11" name="내용 개체 틀 10"/>
          <p:cNvSpPr>
            <a:spLocks noGrp="1"/>
          </p:cNvSpPr>
          <p:nvPr>
            <p:ph idx="13"/>
          </p:nvPr>
        </p:nvSpPr>
        <p:spPr/>
        <p:txBody>
          <a:bodyPr wrap="square"/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730"/>
                </a:solidFill>
              </a:rPr>
              <a:t>• 모든 테이블이 한 TS면 파일 하나 손상에 전체 영향</a:t>
            </a:r>
            <a:endParaRPr lang="ko-KR" altLang="en-US" dirty="0"/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730"/>
                </a:solidFill>
              </a:rPr>
              <a:t>• ORDERS·INQUIRIES를 전용 TS로 분리 → 손상 범위 국소화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730"/>
                </a:solidFill>
              </a:rPr>
              <a:t>• ORDERS 파일만 내려도 CUSTOMERS·PRODUCTS는 정상 서비스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730"/>
                </a:solidFill>
              </a:rPr>
              <a:t>• 격리는 "성능"이 아니라 "복구 가능성·가용성" 설계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텍스트 개체 틀 3"/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pPr algn="r"/>
            <a:r>
              <a:rPr lang="en-US" altLang="ko-KR" sz="1600" dirty="0" smtClean="0"/>
              <a:t>Backup</a:t>
            </a:r>
            <a:r>
              <a:rPr lang="ko-KR" altLang="en-US" sz="1600" dirty="0" smtClean="0"/>
              <a:t/>
            </a:r>
            <a:endParaRPr lang="ko-KR" altLang="en-US" sz="1600" dirty="0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ko-KR" altLang="en-US" dirty="0" smtClean="0"/>
              <a:t>백업 전략 일반</a:t>
            </a:r>
            <a:r>
              <a:rPr lang="en-US" altLang="ko-KR" dirty="0" smtClean="0"/>
              <a:t/>
            </a:r>
            <a:endParaRPr lang="ko-KR" altLang="en-US" dirty="0"/>
          </a:p>
        </p:txBody>
      </p:sp>
      <p:sp>
        <p:nvSpPr>
          <p:cNvPr id="10" name="텍스트 개체 틀 4"/>
          <p:cNvSpPr>
            <a:spLocks noGrp="1"/>
          </p:cNvSpPr>
          <p:nvPr>
            <p:ph type="body" sz="quarter" idx="12"/>
          </p:nvPr>
        </p:nvSpPr>
        <p:spPr>
          <a:xfrm>
            <a:off x="234132" y="828303"/>
            <a:ext cx="7956884" cy="835266"/>
          </a:xfrm>
        </p:spPr>
        <p:txBody>
          <a:bodyPr vert="horz" lIns="91440" tIns="45720" rIns="91440" bIns="45720" rtlCol="0">
            <a:normAutofit/>
          </a:bodyPr>
          <a:lstStyle/>
          <a:p>
            <a:pPr defTabSz="914400">
              <a:spcBef>
                <a:spcPct val="20000"/>
              </a:spcBef>
            </a:pPr>
            <a:r>
              <a:rPr lang="en-US" altLang="ko-KR" sz="1600" dirty="0">
                <a:solidFill>
                  <a:srgbClr val="50646E"/>
                </a:solidFill>
              </a:rPr>
              <a:t>복구의 전제는 사전 준비</a:t>
            </a:r>
            <a:r>
              <a:rPr lang="ko-KR" altLang="en-US" sz="1600" dirty="0">
                <a:solidFill>
                  <a:srgbClr val="50646E"/>
                </a:solidFill>
              </a:rPr>
              <a:t/>
            </a:r>
            <a:r>
              <a:rPr lang="en-US" altLang="ko-KR" sz="1600" dirty="0">
                <a:solidFill>
                  <a:srgbClr val="50646E"/>
                </a:solidFill>
              </a:rPr>
              <a:t/>
            </a:r>
          </a:p>
        </p:txBody>
      </p:sp>
      <p:sp>
        <p:nvSpPr>
          <p:cNvPr id="11" name="내용 개체 틀 10"/>
          <p:cNvSpPr>
            <a:spLocks noGrp="1"/>
          </p:cNvSpPr>
          <p:nvPr>
            <p:ph idx="13"/>
          </p:nvPr>
        </p:nvSpPr>
        <p:spPr/>
        <p:txBody>
          <a:bodyPr wrap="square"/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730"/>
                </a:solidFill>
              </a:rPr>
              <a:t>• ARCHIVELOG 모드 = 미디어 복구의 필수 전제</a:t>
            </a:r>
            <a:endParaRPr lang="ko-KR" altLang="en-US" dirty="0"/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730"/>
                </a:solidFill>
              </a:rPr>
              <a:t>• RMAN 정기 Full + Archive로 시점 복구(PITR) 가능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730"/>
                </a:solidFill>
              </a:rPr>
              <a:t>• 구조 변경(TS 이동) 후에는 새 베이스라인 재확보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730"/>
                </a:solidFill>
              </a:rPr>
              <a:t>• 백업 없는 복구 없음 — 논리 장애만 Flashback으로 예외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제목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PL/SQL 대량 데이터 배치 처리 (구현)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ko-KR" altLang="en-US" dirty="0"/>
              <a:t/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10"/>
          </p:nvPr>
        </p:nvSpPr>
        <p:spPr/>
        <p:txBody>
          <a:bodyPr anchor="ctr"/>
          <a:lstStyle/>
          <a:p>
            <a:pPr>
              <a:lnSpc>
                <a:spcPct val="150000"/>
              </a:lnSpc>
            </a:pPr>
            <a:r>
              <a:rPr lang="en-US" altLang="ko-KR" dirty="0">
                <a:latin typeface="다키 L" pitchFamily="2" charset="-127"/>
                <a:ea typeface="다키 L" pitchFamily="2" charset="-127"/>
              </a:rPr>
              <a:t>1) 10만 건 주문 생성   2) 정합성 설계   3) 커밋 설계 근거</a:t>
            </a:r>
            <a:r>
              <a:rPr lang="ko-KR" altLang="en-US" dirty="0">
                <a:latin typeface="다키 L" pitchFamily="2" charset="-127"/>
                <a:ea typeface="다키 L" pitchFamily="2" charset="-127"/>
              </a:rPr>
              <a:t/>
            </a:r>
            <a:r>
              <a:rPr lang="en-US" altLang="ko-KR" dirty="0">
                <a:latin typeface="다키 L" pitchFamily="2" charset="-127"/>
                <a:ea typeface="다키 L" pitchFamily="2" charset="-127"/>
              </a:rPr>
              <a:t/>
            </a:r>
          </a:p>
        </p:txBody>
      </p:sp>
      <p:sp>
        <p:nvSpPr>
          <p:cNvPr id="6" name="텍스트 개체 틀 5"/>
          <p:cNvSpPr>
            <a:spLocks noGrp="1"/>
          </p:cNvSpPr>
          <p:nvPr>
            <p:ph type="body" sz="quarter" idx="11"/>
          </p:nvPr>
        </p:nvSpPr>
        <p:spPr/>
        <p:txBody>
          <a:bodyPr>
            <a:noAutofit/>
          </a:bodyPr>
          <a:lstStyle/>
          <a:p>
            <a:r>
              <a:rPr lang="en-US" altLang="ko-KR" sz="6000" dirty="0" smtClean="0">
                <a:solidFill>
                  <a:srgbClr val="2484C6"/>
                </a:solidFill>
                <a:latin typeface="다키 M Title" pitchFamily="2" charset="-127"/>
                <a:ea typeface="다키 M Title" pitchFamily="2" charset="-127"/>
              </a:rPr>
              <a:t>04</a:t>
            </a:r>
            <a:endParaRPr lang="ko-KR" altLang="en-US" sz="6000" dirty="0">
              <a:solidFill>
                <a:srgbClr val="2484C6"/>
              </a:solidFill>
              <a:latin typeface="다키 M Title" pitchFamily="2" charset="-127"/>
              <a:ea typeface="다키 M Title" pitchFamily="2" charset="-127"/>
            </a:endParaRP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텍스트 개체 틀 3"/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pPr algn="r"/>
            <a:r>
              <a:rPr lang="en-US" altLang="ko-KR" sz="1600" dirty="0" smtClean="0"/>
              <a:t>Overview</a:t>
            </a:r>
            <a:r>
              <a:rPr lang="ko-KR" altLang="en-US" sz="1600" dirty="0" smtClean="0"/>
              <a:t/>
            </a:r>
            <a:endParaRPr lang="ko-KR" altLang="en-US" sz="1600" dirty="0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ko-KR" altLang="en-US" dirty="0" smtClean="0"/>
              <a:t>개요 &amp; 방법론</a:t>
            </a:r>
            <a:r>
              <a:rPr lang="en-US" altLang="ko-KR" dirty="0" smtClean="0"/>
              <a:t/>
            </a:r>
            <a:endParaRPr lang="ko-KR" altLang="en-US" dirty="0"/>
          </a:p>
        </p:txBody>
      </p:sp>
      <p:sp>
        <p:nvSpPr>
          <p:cNvPr id="10" name="텍스트 개체 틀 4"/>
          <p:cNvSpPr>
            <a:spLocks noGrp="1"/>
          </p:cNvSpPr>
          <p:nvPr>
            <p:ph type="body" sz="quarter" idx="12"/>
          </p:nvPr>
        </p:nvSpPr>
        <p:spPr>
          <a:xfrm>
            <a:off x="234132" y="828303"/>
            <a:ext cx="7956884" cy="835266"/>
          </a:xfrm>
        </p:spPr>
        <p:txBody>
          <a:bodyPr vert="horz" lIns="91440" tIns="45720" rIns="91440" bIns="45720" rtlCol="0">
            <a:normAutofit/>
          </a:bodyPr>
          <a:lstStyle/>
          <a:p>
            <a:pPr defTabSz="914400">
              <a:spcBef>
                <a:spcPct val="20000"/>
              </a:spcBef>
            </a:pPr>
            <a:r>
              <a:rPr lang="en-US" altLang="ko-KR" sz="1600" dirty="0">
                <a:solidFill>
                  <a:srgbClr val="50646E"/>
                </a:solidFill>
              </a:rPr>
              <a:t>naive vs optimized 두 버전으로 배치 프로그램 설계</a:t>
            </a:r>
            <a:r>
              <a:rPr lang="ko-KR" altLang="en-US" sz="1600" dirty="0">
                <a:solidFill>
                  <a:srgbClr val="50646E"/>
                </a:solidFill>
              </a:rPr>
              <a:t/>
            </a:r>
            <a:r>
              <a:rPr lang="en-US" altLang="ko-KR" sz="1600" dirty="0">
                <a:solidFill>
                  <a:srgbClr val="50646E"/>
                </a:solidFill>
              </a:rPr>
              <a:t/>
            </a:r>
          </a:p>
        </p:txBody>
      </p:sp>
      <p:sp>
        <p:nvSpPr>
          <p:cNvPr id="11" name="내용 개체 틀 10"/>
          <p:cNvSpPr>
            <a:spLocks noGrp="1"/>
          </p:cNvSpPr>
          <p:nvPr>
            <p:ph idx="13"/>
          </p:nvPr>
        </p:nvSpPr>
        <p:spPr/>
        <p:txBody>
          <a:bodyPr wrap="square"/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730"/>
                </a:solidFill>
              </a:rPr>
              <a:t>• 현재 시점 기준 10만 건 주문을 ORDERS·ORDER_ITEMS·SHIPMENTS에 생성</a:t>
            </a:r>
            <a:endParaRPr lang="ko-KR" altLang="en-US" dirty="0"/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730"/>
                </a:solidFill>
              </a:rPr>
              <a:t>• 주문 1건 완료 시 Commit 요구사항은 양 버전 모두 유지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730"/>
                </a:solidFill>
              </a:rPr>
              <a:t>• naive는 병목 재현용, optimized는 제거 가능한 비효율만 제거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730"/>
                </a:solidFill>
              </a:rPr>
              <a:t>• 구현(Part4) → 성능 측정·개선(Part5) 2단계로 진행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텍스트 개체 틀 3"/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pPr algn="r"/>
            <a:r>
              <a:rPr lang="en-US" altLang="ko-KR" sz="1600" dirty="0" smtClean="0"/>
              <a:t>Design</a:t>
            </a:r>
            <a:r>
              <a:rPr lang="ko-KR" altLang="en-US" sz="1600" dirty="0" smtClean="0"/>
              <a:t/>
            </a:r>
            <a:endParaRPr lang="ko-KR" altLang="en-US" sz="1600" dirty="0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ko-KR" altLang="en-US" dirty="0" smtClean="0"/>
              <a:t>naive vs optimized 프로그램</a:t>
            </a:r>
            <a:r>
              <a:rPr lang="en-US" altLang="ko-KR" dirty="0" smtClean="0"/>
              <a:t/>
            </a:r>
            <a:endParaRPr lang="ko-KR" altLang="en-US" dirty="0"/>
          </a:p>
        </p:txBody>
      </p:sp>
      <p:sp>
        <p:nvSpPr>
          <p:cNvPr id="10" name="텍스트 개체 틀 4"/>
          <p:cNvSpPr>
            <a:spLocks noGrp="1"/>
          </p:cNvSpPr>
          <p:nvPr>
            <p:ph type="body" sz="quarter" idx="12"/>
          </p:nvPr>
        </p:nvSpPr>
        <p:spPr>
          <a:xfrm>
            <a:off x="234132" y="828303"/>
            <a:ext cx="7956884" cy="835266"/>
          </a:xfrm>
        </p:spPr>
        <p:txBody>
          <a:bodyPr vert="horz" lIns="91440" tIns="45720" rIns="91440" bIns="45720" rtlCol="0">
            <a:normAutofit/>
          </a:bodyPr>
          <a:lstStyle/>
          <a:p>
            <a:pPr defTabSz="914400">
              <a:spcBef>
                <a:spcPct val="20000"/>
              </a:spcBef>
            </a:pPr>
            <a:r>
              <a:rPr lang="en-US" altLang="ko-KR" sz="1600" dirty="0">
                <a:solidFill>
                  <a:srgbClr val="50646E"/>
                </a:solidFill>
              </a:rPr>
              <a:t>커밋 요구는 그대로, 조회 반복 비용만 제거</a:t>
            </a:r>
            <a:r>
              <a:rPr lang="ko-KR" altLang="en-US" sz="1600" dirty="0">
                <a:solidFill>
                  <a:srgbClr val="50646E"/>
                </a:solidFill>
              </a:rPr>
              <a:t/>
            </a:r>
            <a:r>
              <a:rPr lang="en-US" altLang="ko-KR" sz="1600" dirty="0">
                <a:solidFill>
                  <a:srgbClr val="50646E"/>
                </a:solidFill>
              </a:rPr>
              <a:t/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17624" y="1764296"/>
          <a:ext cx="10058400" cy="15361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52800"/>
                <a:gridCol w="3352800"/>
                <a:gridCol w="3352800"/>
              </a:tblGrid>
              <a:tr h="384048">
                <a:tc>
                  <a:txBody>
                    <a:bodyPr/>
                    <a:lstStyle/>
                    <a:p>
                      <a:pPr algn="ctr"/>
                      <a:r>
                        <a:rPr b="1" sz="1150">
                          <a:solidFill>
                            <a:srgbClr val="FFFFFF"/>
                          </a:solidFill>
                        </a:rPr>
                        <a:t>항목</a:t>
                      </a:r>
                    </a:p>
                  </a:txBody>
                  <a:tcPr anchor="ctr" marT="25400" marB="25400"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150">
                          <a:solidFill>
                            <a:srgbClr val="FFFFFF"/>
                          </a:solidFill>
                        </a:rPr>
                        <a:t>naive</a:t>
                      </a:r>
                    </a:p>
                  </a:txBody>
                  <a:tcPr anchor="ctr" marT="25400" marB="25400"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150">
                          <a:solidFill>
                            <a:srgbClr val="FFFFFF"/>
                          </a:solidFill>
                        </a:rPr>
                        <a:t>optimized</a:t>
                      </a:r>
                    </a:p>
                  </a:txBody>
                  <a:tcPr anchor="ctr" marT="25400" marB="25400">
                    <a:solidFill>
                      <a:srgbClr val="1B2A4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222730"/>
                          </a:solidFill>
                        </a:rPr>
                        <a:t>채번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22730"/>
                          </a:solidFill>
                        </a:rPr>
                        <a:t>매 반복 MAX(ORDER_ID)+1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22730"/>
                          </a:solidFill>
                        </a:rPr>
                        <a:t>SEQUENCE CACHE (O(1))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222730"/>
                          </a:solidFill>
                        </a:rPr>
                        <a:t>유효 ID 선택</a:t>
                      </a:r>
                    </a:p>
                  </a:txBody>
                  <a:tcPr anchor="ctr" marT="12700" marB="12700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22730"/>
                          </a:solidFill>
                        </a:rPr>
                        <a:t>매 반복 랜덤 전체정렬</a:t>
                      </a:r>
                    </a:p>
                  </a:txBody>
                  <a:tcPr anchor="ctr" marT="12700" marB="12700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22730"/>
                          </a:solidFill>
                        </a:rPr>
                        <a:t>BULK COLLECT 배열 1회 적재</a:t>
                      </a:r>
                    </a:p>
                  </a:txBody>
                  <a:tcPr anchor="ctr" marT="12700" marB="12700">
                    <a:solidFill>
                      <a:srgbClr val="F2F4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222730"/>
                          </a:solidFill>
                        </a:rPr>
                        <a:t>커밋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22730"/>
                          </a:solidFill>
                        </a:rPr>
                        <a:t>주문당 1커밋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22730"/>
                          </a:solidFill>
                        </a:rPr>
                        <a:t>주문당 1커밋(동일)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텍스트 개체 틀 3"/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pPr algn="r"/>
            <a:r>
              <a:rPr lang="en-US" altLang="ko-KR" sz="1600" dirty="0" smtClean="0"/>
              <a:t>Integrity</a:t>
            </a:r>
            <a:r>
              <a:rPr lang="ko-KR" altLang="en-US" sz="1600" dirty="0" smtClean="0"/>
              <a:t/>
            </a:r>
            <a:endParaRPr lang="ko-KR" altLang="en-US" sz="1600" dirty="0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ko-KR" altLang="en-US" dirty="0" smtClean="0"/>
              <a:t>정합성 보장 — 설계로 해결</a:t>
            </a:r>
            <a:r>
              <a:rPr lang="en-US" altLang="ko-KR" dirty="0" smtClean="0"/>
              <a:t/>
            </a:r>
            <a:endParaRPr lang="ko-KR" altLang="en-US" dirty="0"/>
          </a:p>
        </p:txBody>
      </p:sp>
      <p:sp>
        <p:nvSpPr>
          <p:cNvPr id="10" name="텍스트 개체 틀 4"/>
          <p:cNvSpPr>
            <a:spLocks noGrp="1"/>
          </p:cNvSpPr>
          <p:nvPr>
            <p:ph type="body" sz="quarter" idx="12"/>
          </p:nvPr>
        </p:nvSpPr>
        <p:spPr>
          <a:xfrm>
            <a:off x="234132" y="828303"/>
            <a:ext cx="7956884" cy="835266"/>
          </a:xfrm>
        </p:spPr>
        <p:txBody>
          <a:bodyPr vert="horz" lIns="91440" tIns="45720" rIns="91440" bIns="45720" rtlCol="0">
            <a:normAutofit/>
          </a:bodyPr>
          <a:lstStyle/>
          <a:p>
            <a:pPr defTabSz="914400">
              <a:spcBef>
                <a:spcPct val="20000"/>
              </a:spcBef>
            </a:pPr>
            <a:r>
              <a:rPr lang="en-US" altLang="ko-KR" sz="1600" dirty="0">
                <a:solidFill>
                  <a:srgbClr val="50646E"/>
                </a:solidFill>
              </a:rPr>
              <a:t>검증 코드가 아니라 구조로 FK 위반 차단</a:t>
            </a:r>
            <a:r>
              <a:rPr lang="ko-KR" altLang="en-US" sz="1600" dirty="0">
                <a:solidFill>
                  <a:srgbClr val="50646E"/>
                </a:solidFill>
              </a:rPr>
              <a:t/>
            </a:r>
            <a:r>
              <a:rPr lang="en-US" altLang="ko-KR" sz="1600" dirty="0">
                <a:solidFill>
                  <a:srgbClr val="50646E"/>
                </a:solidFill>
              </a:rPr>
              <a:t/>
            </a:r>
          </a:p>
        </p:txBody>
      </p:sp>
      <p:sp>
        <p:nvSpPr>
          <p:cNvPr id="11" name="내용 개체 틀 10"/>
          <p:cNvSpPr>
            <a:spLocks noGrp="1"/>
          </p:cNvSpPr>
          <p:nvPr>
            <p:ph idx="13"/>
          </p:nvPr>
        </p:nvSpPr>
        <p:spPr/>
        <p:txBody>
          <a:bodyPr wrap="square"/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730"/>
                </a:solidFill>
              </a:rPr>
              <a:t>• CUSTOMERS·PRODUCTS·EMPLOYEES의 실제 존재 키만 배열로 적재</a:t>
            </a:r>
            <a:endParaRPr lang="ko-KR" altLang="en-US" dirty="0"/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730"/>
                </a:solidFill>
              </a:rPr>
              <a:t>• 그 안에서만 랜덤 선택 → 잘못된 ID가 생성될 수 없는 구조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730"/>
                </a:solidFill>
              </a:rPr>
              <a:t>• FK 제약(ORDER_ITEMS_R2 등)은 이중 안전망 역할만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텍스트 개체 틀 3"/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pPr algn="r"/>
            <a:r>
              <a:rPr lang="en-US" altLang="ko-KR" sz="1600" dirty="0" smtClean="0"/>
              <a:t>Commit</a:t>
            </a:r>
            <a:r>
              <a:rPr lang="ko-KR" altLang="en-US" sz="1600" dirty="0" smtClean="0"/>
              <a:t/>
            </a:r>
            <a:endParaRPr lang="ko-KR" altLang="en-US" sz="1600" dirty="0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ko-KR" altLang="en-US" dirty="0" smtClean="0"/>
              <a:t>커밋 설계 근거 — 업무 시나리오</a:t>
            </a:r>
            <a:r>
              <a:rPr lang="en-US" altLang="ko-KR" dirty="0" smtClean="0"/>
              <a:t/>
            </a:r>
            <a:endParaRPr lang="ko-KR" altLang="en-US" dirty="0"/>
          </a:p>
        </p:txBody>
      </p:sp>
      <p:sp>
        <p:nvSpPr>
          <p:cNvPr id="10" name="텍스트 개체 틀 4"/>
          <p:cNvSpPr>
            <a:spLocks noGrp="1"/>
          </p:cNvSpPr>
          <p:nvPr>
            <p:ph type="body" sz="quarter" idx="12"/>
          </p:nvPr>
        </p:nvSpPr>
        <p:spPr>
          <a:xfrm>
            <a:off x="234132" y="828303"/>
            <a:ext cx="7956884" cy="835266"/>
          </a:xfrm>
        </p:spPr>
        <p:txBody>
          <a:bodyPr vert="horz" lIns="91440" tIns="45720" rIns="91440" bIns="45720" rtlCol="0">
            <a:normAutofit/>
          </a:bodyPr>
          <a:lstStyle/>
          <a:p>
            <a:pPr defTabSz="914400">
              <a:spcBef>
                <a:spcPct val="20000"/>
              </a:spcBef>
            </a:pPr>
            <a:r>
              <a:rPr lang="en-US" altLang="ko-KR" sz="1600" dirty="0">
                <a:solidFill>
                  <a:srgbClr val="50646E"/>
                </a:solidFill>
              </a:rPr>
              <a:t>은행 점검 후 순차 도착하는 승인 처리</a:t>
            </a:r>
            <a:r>
              <a:rPr lang="ko-KR" altLang="en-US" sz="1600" dirty="0">
                <a:solidFill>
                  <a:srgbClr val="50646E"/>
                </a:solidFill>
              </a:rPr>
              <a:t/>
            </a:r>
            <a:r>
              <a:rPr lang="en-US" altLang="ko-KR" sz="1600" dirty="0">
                <a:solidFill>
                  <a:srgbClr val="50646E"/>
                </a:solidFill>
              </a:rPr>
              <a:t/>
            </a:r>
          </a:p>
        </p:txBody>
      </p:sp>
      <p:sp>
        <p:nvSpPr>
          <p:cNvPr id="11" name="내용 개체 틀 10"/>
          <p:cNvSpPr>
            <a:spLocks noGrp="1"/>
          </p:cNvSpPr>
          <p:nvPr>
            <p:ph idx="13"/>
          </p:nvPr>
        </p:nvSpPr>
        <p:spPr/>
        <p:txBody>
          <a:bodyPr wrap="square"/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730"/>
                </a:solidFill>
              </a:rPr>
              <a:t>• 자정~새벽 은행 점검으로 결제 승인이 밀림(약 10만 건)</a:t>
            </a:r>
            <a:endParaRPr lang="ko-KR" altLang="en-US" dirty="0"/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730"/>
                </a:solidFill>
              </a:rPr>
              <a:t>• 점검 후 승인이 건별·순서대로 스트림으로 도착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730"/>
                </a:solidFill>
              </a:rPr>
              <a:t>• 승인 즉시 주문 1건 확정·커밋 → 배치 커밋으로 묶을 수 없음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730"/>
                </a:solidFill>
              </a:rPr>
              <a:t>• 즉 주문당 1커밋은 임의 스펙이 아니라 업무 구조가 요구하는 필연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텍스트 개체 틀 3"/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pPr algn="r"/>
            <a:r>
              <a:rPr lang="en-US" altLang="ko-KR" sz="1600" dirty="0" smtClean="0"/>
              <a:t>Cleanup</a:t>
            </a:r>
            <a:r>
              <a:rPr lang="ko-KR" altLang="en-US" sz="1600" dirty="0" smtClean="0"/>
              <a:t/>
            </a:r>
            <a:endParaRPr lang="ko-KR" altLang="en-US" sz="1600" dirty="0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ko-KR" altLang="en-US" dirty="0" smtClean="0"/>
              <a:t>반복 테스트 데이터 삭제</a:t>
            </a:r>
            <a:r>
              <a:rPr lang="en-US" altLang="ko-KR" dirty="0" smtClean="0"/>
              <a:t/>
            </a:r>
            <a:endParaRPr lang="ko-KR" altLang="en-US" dirty="0"/>
          </a:p>
        </p:txBody>
      </p:sp>
      <p:sp>
        <p:nvSpPr>
          <p:cNvPr id="10" name="텍스트 개체 틀 4"/>
          <p:cNvSpPr>
            <a:spLocks noGrp="1"/>
          </p:cNvSpPr>
          <p:nvPr>
            <p:ph type="body" sz="quarter" idx="12"/>
          </p:nvPr>
        </p:nvSpPr>
        <p:spPr>
          <a:xfrm>
            <a:off x="234132" y="828303"/>
            <a:ext cx="7956884" cy="835266"/>
          </a:xfrm>
        </p:spPr>
        <p:txBody>
          <a:bodyPr vert="horz" lIns="91440" tIns="45720" rIns="91440" bIns="45720" rtlCol="0">
            <a:normAutofit/>
          </a:bodyPr>
          <a:lstStyle/>
          <a:p>
            <a:pPr defTabSz="914400">
              <a:spcBef>
                <a:spcPct val="20000"/>
              </a:spcBef>
            </a:pPr>
            <a:r>
              <a:rPr lang="en-US" altLang="ko-KR" sz="1600" dirty="0">
                <a:solidFill>
                  <a:srgbClr val="50646E"/>
                </a:solidFill>
              </a:rPr>
              <a:t>BATCH_RUN_LOG 구간으로 안전 삭제</a:t>
            </a:r>
            <a:r>
              <a:rPr lang="ko-KR" altLang="en-US" sz="1600" dirty="0">
                <a:solidFill>
                  <a:srgbClr val="50646E"/>
                </a:solidFill>
              </a:rPr>
              <a:t/>
            </a:r>
            <a:r>
              <a:rPr lang="en-US" altLang="ko-KR" sz="1600" dirty="0">
                <a:solidFill>
                  <a:srgbClr val="50646E"/>
                </a:solidFill>
              </a:rPr>
              <a:t/>
            </a:r>
          </a:p>
        </p:txBody>
      </p:sp>
      <p:sp>
        <p:nvSpPr>
          <p:cNvPr id="11" name="내용 개체 틀 10"/>
          <p:cNvSpPr>
            <a:spLocks noGrp="1"/>
          </p:cNvSpPr>
          <p:nvPr>
            <p:ph idx="13"/>
          </p:nvPr>
        </p:nvSpPr>
        <p:spPr/>
        <p:txBody>
          <a:bodyPr wrap="square"/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730"/>
                </a:solidFill>
              </a:rPr>
              <a:t>• 실행마다 시작~종료 ORDER_ID 구간을 BATCH_RUN_LOG에 기록</a:t>
            </a:r>
            <a:endParaRPr lang="ko-KR" altLang="en-US" dirty="0"/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730"/>
                </a:solidFill>
              </a:rPr>
              <a:t>• 자식→부모 순서(SHIPMENTS→ORDER_ITEMS→ORDERS)로 삭제 → FK 위반 방지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730"/>
                </a:solidFill>
              </a:rPr>
              <a:t>• CLEANUP_BATCH_RUN(run_id) 프로시저로 특정 실행분만 정리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텍스트 개체 틀 3"/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pPr algn="r"/>
            <a:r>
              <a:rPr lang="en-US" altLang="ko-KR" sz="1600" dirty="0" smtClean="0"/>
              <a:t>Setup</a:t>
            </a:r>
            <a:r>
              <a:rPr lang="ko-KR" altLang="en-US" sz="1600" dirty="0" smtClean="0"/>
              <a:t/>
            </a:r>
            <a:endParaRPr lang="ko-KR" altLang="en-US" sz="1600" dirty="0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ko-KR" altLang="en-US" dirty="0" smtClean="0"/>
              <a:t>실행 환경 구성</a:t>
            </a:r>
            <a:r>
              <a:rPr lang="en-US" altLang="ko-KR" dirty="0" smtClean="0"/>
              <a:t/>
            </a:r>
            <a:endParaRPr lang="ko-KR" altLang="en-US" dirty="0"/>
          </a:p>
        </p:txBody>
      </p:sp>
      <p:sp>
        <p:nvSpPr>
          <p:cNvPr id="10" name="텍스트 개체 틀 4"/>
          <p:cNvSpPr>
            <a:spLocks noGrp="1"/>
          </p:cNvSpPr>
          <p:nvPr>
            <p:ph type="body" sz="quarter" idx="12"/>
          </p:nvPr>
        </p:nvSpPr>
        <p:spPr>
          <a:xfrm>
            <a:off x="234132" y="828303"/>
            <a:ext cx="7956884" cy="835266"/>
          </a:xfrm>
        </p:spPr>
        <p:txBody>
          <a:bodyPr vert="horz" lIns="91440" tIns="45720" rIns="91440" bIns="45720" rtlCol="0">
            <a:normAutofit/>
          </a:bodyPr>
          <a:lstStyle/>
          <a:p>
            <a:pPr defTabSz="914400">
              <a:spcBef>
                <a:spcPct val="20000"/>
              </a:spcBef>
            </a:pPr>
            <a:r>
              <a:rPr lang="en-US" altLang="ko-KR" sz="1600" dirty="0">
                <a:solidFill>
                  <a:srgbClr val="50646E"/>
                </a:solidFill>
              </a:rPr>
              <a:t>컨트롤 테이블·시퀀스·프로시저 사전 생성</a:t>
            </a:r>
            <a:r>
              <a:rPr lang="ko-KR" altLang="en-US" sz="1600" dirty="0">
                <a:solidFill>
                  <a:srgbClr val="50646E"/>
                </a:solidFill>
              </a:rPr>
              <a:t/>
            </a:r>
            <a:r>
              <a:rPr lang="en-US" altLang="ko-KR" sz="1600" dirty="0">
                <a:solidFill>
                  <a:srgbClr val="50646E"/>
                </a:solidFill>
              </a:rPr>
              <a:t/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17624" y="1764296"/>
          <a:ext cx="10058400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9200"/>
                <a:gridCol w="5029200"/>
              </a:tblGrid>
              <a:tr h="384048">
                <a:tc>
                  <a:txBody>
                    <a:bodyPr/>
                    <a:lstStyle/>
                    <a:p>
                      <a:pPr algn="ctr"/>
                      <a:r>
                        <a:rPr b="1" sz="1150">
                          <a:solidFill>
                            <a:srgbClr val="FFFFFF"/>
                          </a:solidFill>
                        </a:rPr>
                        <a:t>객체</a:t>
                      </a:r>
                    </a:p>
                  </a:txBody>
                  <a:tcPr anchor="ctr" marT="25400" marB="25400"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150">
                          <a:solidFill>
                            <a:srgbClr val="FFFFFF"/>
                          </a:solidFill>
                        </a:rPr>
                        <a:t>역할</a:t>
                      </a:r>
                    </a:p>
                  </a:txBody>
                  <a:tcPr anchor="ctr" marT="25400" marB="25400">
                    <a:solidFill>
                      <a:srgbClr val="1B2A4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222730"/>
                          </a:solidFill>
                        </a:rPr>
                        <a:t>BATCH_RUN_LOG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22730"/>
                          </a:solidFill>
                        </a:rPr>
                        <a:t>실행별 시작~종료 ORDER_ID·시간 기록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222730"/>
                          </a:solidFill>
                        </a:rPr>
                        <a:t>SEQ_BATCH_ORDER</a:t>
                      </a:r>
                    </a:p>
                  </a:txBody>
                  <a:tcPr anchor="ctr" marT="12700" marB="12700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22730"/>
                          </a:solidFill>
                        </a:rPr>
                        <a:t>MAX(ORDER_ID)+1부터 동적 생성한 채번 시퀀스</a:t>
                      </a:r>
                    </a:p>
                  </a:txBody>
                  <a:tcPr anchor="ctr" marT="12700" marB="12700">
                    <a:solidFill>
                      <a:srgbClr val="F2F4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222730"/>
                          </a:solidFill>
                        </a:rPr>
                        <a:t>PROC naive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22730"/>
                          </a:solidFill>
                        </a:rPr>
                        <a:t>병목 재현용 프로시저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222730"/>
                          </a:solidFill>
                        </a:rPr>
                        <a:t>PROC optimized</a:t>
                      </a:r>
                    </a:p>
                  </a:txBody>
                  <a:tcPr anchor="ctr" marT="12700" marB="12700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22730"/>
                          </a:solidFill>
                        </a:rPr>
                        <a:t>비효율만 제거한 프로시저</a:t>
                      </a:r>
                    </a:p>
                  </a:txBody>
                  <a:tcPr anchor="ctr" marT="12700" marB="12700">
                    <a:solidFill>
                      <a:srgbClr val="F2F4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222730"/>
                          </a:solidFill>
                        </a:rPr>
                        <a:t>PROC cleanup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22730"/>
                          </a:solidFill>
                        </a:rPr>
                        <a:t>실행분만 정리하는 프로시저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텍스트 개체 틀 3"/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pPr algn="r"/>
            <a:r>
              <a:rPr lang="en-US" altLang="ko-KR" sz="1600" dirty="0" smtClean="0"/>
              <a:t>Naive</a:t>
            </a:r>
            <a:r>
              <a:rPr lang="ko-KR" altLang="en-US" sz="1600" dirty="0" smtClean="0"/>
              <a:t/>
            </a:r>
            <a:endParaRPr lang="ko-KR" altLang="en-US" sz="1600" dirty="0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ko-KR" altLang="en-US" dirty="0" smtClean="0"/>
              <a:t>naive 프로시저 로직</a:t>
            </a:r>
            <a:r>
              <a:rPr lang="en-US" altLang="ko-KR" dirty="0" smtClean="0"/>
              <a:t/>
            </a:r>
            <a:endParaRPr lang="ko-KR" altLang="en-US" dirty="0"/>
          </a:p>
        </p:txBody>
      </p:sp>
      <p:sp>
        <p:nvSpPr>
          <p:cNvPr id="10" name="텍스트 개체 틀 4"/>
          <p:cNvSpPr>
            <a:spLocks noGrp="1"/>
          </p:cNvSpPr>
          <p:nvPr>
            <p:ph type="body" sz="quarter" idx="12"/>
          </p:nvPr>
        </p:nvSpPr>
        <p:spPr>
          <a:xfrm>
            <a:off x="234132" y="828303"/>
            <a:ext cx="7956884" cy="835266"/>
          </a:xfrm>
        </p:spPr>
        <p:txBody>
          <a:bodyPr vert="horz" lIns="91440" tIns="45720" rIns="91440" bIns="45720" rtlCol="0">
            <a:normAutofit/>
          </a:bodyPr>
          <a:lstStyle/>
          <a:p>
            <a:pPr defTabSz="914400">
              <a:spcBef>
                <a:spcPct val="20000"/>
              </a:spcBef>
            </a:pPr>
            <a:r>
              <a:rPr lang="en-US" altLang="ko-KR" sz="1600" dirty="0">
                <a:solidFill>
                  <a:srgbClr val="50646E"/>
                </a:solidFill>
              </a:rPr>
              <a:t>제거 가능한 병목을 그대로 노출</a:t>
            </a:r>
            <a:r>
              <a:rPr lang="ko-KR" altLang="en-US" sz="1600" dirty="0">
                <a:solidFill>
                  <a:srgbClr val="50646E"/>
                </a:solidFill>
              </a:rPr>
              <a:t/>
            </a:r>
            <a:r>
              <a:rPr lang="en-US" altLang="ko-KR" sz="1600" dirty="0">
                <a:solidFill>
                  <a:srgbClr val="50646E"/>
                </a:solidFill>
              </a:rPr>
              <a:t/>
            </a:r>
          </a:p>
        </p:txBody>
      </p:sp>
      <p:sp>
        <p:nvSpPr>
          <p:cNvPr id="11" name="내용 개체 틀 10"/>
          <p:cNvSpPr>
            <a:spLocks noGrp="1"/>
          </p:cNvSpPr>
          <p:nvPr>
            <p:ph idx="13"/>
          </p:nvPr>
        </p:nvSpPr>
        <p:spPr/>
        <p:txBody>
          <a:bodyPr wrap="square"/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730"/>
                </a:solidFill>
              </a:rPr>
              <a:t>• 매 반복마다 SELECT MAX(ORDER_ID)+1로 채번 재조회</a:t>
            </a:r>
            <a:endParaRPr lang="ko-KR" altLang="en-US" dirty="0"/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730"/>
                </a:solidFill>
              </a:rPr>
              <a:t>• 매 반복마다 유효 고객/상품 ID를 랜덤 전체정렬로 조회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730"/>
                </a:solidFill>
              </a:rPr>
              <a:t>• 주문 1건마다 ORDERS·ORDER_ITEMS·SHIPMENTS INSERT 후 COMMIT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730"/>
                </a:solidFill>
              </a:rPr>
              <a:t>• 조회 반복이 행 단위 컨텍스트 스위칭을 유발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텍스트 개체 틀 3"/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pPr algn="r"/>
            <a:r>
              <a:rPr lang="en-US" altLang="ko-KR" sz="1600" dirty="0" smtClean="0"/>
              <a:t>Optimized</a:t>
            </a:r>
            <a:r>
              <a:rPr lang="ko-KR" altLang="en-US" sz="1600" dirty="0" smtClean="0"/>
              <a:t/>
            </a:r>
            <a:endParaRPr lang="ko-KR" altLang="en-US" sz="1600" dirty="0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ko-KR" altLang="en-US" dirty="0" smtClean="0"/>
              <a:t>optimized 프로시저 로직</a:t>
            </a:r>
            <a:r>
              <a:rPr lang="en-US" altLang="ko-KR" dirty="0" smtClean="0"/>
              <a:t/>
            </a:r>
            <a:endParaRPr lang="ko-KR" altLang="en-US" dirty="0"/>
          </a:p>
        </p:txBody>
      </p:sp>
      <p:sp>
        <p:nvSpPr>
          <p:cNvPr id="10" name="텍스트 개체 틀 4"/>
          <p:cNvSpPr>
            <a:spLocks noGrp="1"/>
          </p:cNvSpPr>
          <p:nvPr>
            <p:ph type="body" sz="quarter" idx="12"/>
          </p:nvPr>
        </p:nvSpPr>
        <p:spPr>
          <a:xfrm>
            <a:off x="234132" y="828303"/>
            <a:ext cx="7956884" cy="835266"/>
          </a:xfrm>
        </p:spPr>
        <p:txBody>
          <a:bodyPr vert="horz" lIns="91440" tIns="45720" rIns="91440" bIns="45720" rtlCol="0">
            <a:normAutofit/>
          </a:bodyPr>
          <a:lstStyle/>
          <a:p>
            <a:pPr defTabSz="914400">
              <a:spcBef>
                <a:spcPct val="20000"/>
              </a:spcBef>
            </a:pPr>
            <a:r>
              <a:rPr lang="en-US" altLang="ko-KR" sz="1600" dirty="0">
                <a:solidFill>
                  <a:srgbClr val="50646E"/>
                </a:solidFill>
              </a:rPr>
              <a:t>조회 반복 비용만 제거, 커밋은 유지</a:t>
            </a:r>
            <a:r>
              <a:rPr lang="ko-KR" altLang="en-US" sz="1600" dirty="0">
                <a:solidFill>
                  <a:srgbClr val="50646E"/>
                </a:solidFill>
              </a:rPr>
              <a:t/>
            </a:r>
            <a:r>
              <a:rPr lang="en-US" altLang="ko-KR" sz="1600" dirty="0">
                <a:solidFill>
                  <a:srgbClr val="50646E"/>
                </a:solidFill>
              </a:rPr>
              <a:t/>
            </a:r>
          </a:p>
        </p:txBody>
      </p:sp>
      <p:sp>
        <p:nvSpPr>
          <p:cNvPr id="11" name="내용 개체 틀 10"/>
          <p:cNvSpPr>
            <a:spLocks noGrp="1"/>
          </p:cNvSpPr>
          <p:nvPr>
            <p:ph idx="13"/>
          </p:nvPr>
        </p:nvSpPr>
        <p:spPr/>
        <p:txBody>
          <a:bodyPr wrap="square"/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730"/>
                </a:solidFill>
              </a:rPr>
              <a:t>• 채번을 SEQUENCE CACHE로 대체 → 매 반복 재조회 제거</a:t>
            </a:r>
            <a:endParaRPr lang="ko-KR" altLang="en-US" dirty="0"/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730"/>
                </a:solidFill>
              </a:rPr>
              <a:t>• 유효 ID를 BULK COLLECT로 배열에 1회 적재 후 인덱스 랜덤 선택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730"/>
                </a:solidFill>
              </a:rPr>
              <a:t>• 주문당 1커밋은 요구사항이므로 동일하게 유지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730"/>
                </a:solidFill>
              </a:rPr>
              <a:t>• 집합적 사전적재 → 반복 SQL 호출·전환 비용 최소화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텍스트 개체 틀 3"/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pPr algn="r"/>
            <a:r>
              <a:rPr lang="en-US" altLang="ko-KR" sz="1600" dirty="0" smtClean="0"/>
              <a:t>Sequence</a:t>
            </a:r>
            <a:r>
              <a:rPr lang="ko-KR" altLang="en-US" sz="1600" dirty="0" smtClean="0"/>
              <a:t/>
            </a:r>
            <a:endParaRPr lang="ko-KR" altLang="en-US" sz="1600" dirty="0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ko-KR" altLang="en-US" dirty="0" smtClean="0"/>
              <a:t>채번 시퀀스 동적 생성</a:t>
            </a:r>
            <a:r>
              <a:rPr lang="en-US" altLang="ko-KR" dirty="0" smtClean="0"/>
              <a:t/>
            </a:r>
            <a:endParaRPr lang="ko-KR" altLang="en-US" dirty="0"/>
          </a:p>
        </p:txBody>
      </p:sp>
      <p:sp>
        <p:nvSpPr>
          <p:cNvPr id="10" name="텍스트 개체 틀 4"/>
          <p:cNvSpPr>
            <a:spLocks noGrp="1"/>
          </p:cNvSpPr>
          <p:nvPr>
            <p:ph type="body" sz="quarter" idx="12"/>
          </p:nvPr>
        </p:nvSpPr>
        <p:spPr>
          <a:xfrm>
            <a:off x="234132" y="828303"/>
            <a:ext cx="7956884" cy="835266"/>
          </a:xfrm>
        </p:spPr>
        <p:txBody>
          <a:bodyPr vert="horz" lIns="91440" tIns="45720" rIns="91440" bIns="45720" rtlCol="0">
            <a:normAutofit/>
          </a:bodyPr>
          <a:lstStyle/>
          <a:p>
            <a:pPr defTabSz="914400">
              <a:spcBef>
                <a:spcPct val="20000"/>
              </a:spcBef>
            </a:pPr>
            <a:r>
              <a:rPr lang="en-US" altLang="ko-KR" sz="1600" dirty="0">
                <a:solidFill>
                  <a:srgbClr val="50646E"/>
                </a:solidFill>
              </a:rPr>
              <a:t>배치 ID를 원본과 분리</a:t>
            </a:r>
            <a:r>
              <a:rPr lang="ko-KR" altLang="en-US" sz="1600" dirty="0">
                <a:solidFill>
                  <a:srgbClr val="50646E"/>
                </a:solidFill>
              </a:rPr>
              <a:t/>
            </a:r>
            <a:r>
              <a:rPr lang="en-US" altLang="ko-KR" sz="1600" dirty="0">
                <a:solidFill>
                  <a:srgbClr val="50646E"/>
                </a:solidFill>
              </a:rPr>
              <a:t/>
            </a:r>
          </a:p>
        </p:txBody>
      </p:sp>
      <p:sp>
        <p:nvSpPr>
          <p:cNvPr id="11" name="내용 개체 틀 10"/>
          <p:cNvSpPr>
            <a:spLocks noGrp="1"/>
          </p:cNvSpPr>
          <p:nvPr>
            <p:ph idx="13"/>
          </p:nvPr>
        </p:nvSpPr>
        <p:spPr/>
        <p:txBody>
          <a:bodyPr wrap="square"/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730"/>
                </a:solidFill>
              </a:rPr>
              <a:t>• 실행 시점 MAX(ORDER_ID)+1부터 시작하도록 시퀀스 동적 생성</a:t>
            </a:r>
            <a:endParaRPr lang="ko-KR" altLang="en-US" dirty="0"/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730"/>
                </a:solidFill>
              </a:rPr>
              <a:t>• 기존 원본 데이터와 ID 충돌 방지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730"/>
                </a:solidFill>
              </a:rPr>
              <a:t>• cleanup 시 배치 데이터만 명확히 구분해 삭제 가능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730"/>
                </a:solidFill>
              </a:rPr>
              <a:t>• CACHE 1000으로 채번 I/O 최소화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텍스트 개체 틀 3"/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pPr algn="r"/>
            <a:r>
              <a:rPr lang="en-US" altLang="ko-KR" sz="1600" dirty="0" smtClean="0"/>
              <a:t>Tables</a:t>
            </a:r>
            <a:r>
              <a:rPr lang="ko-KR" altLang="en-US" sz="1600" dirty="0" smtClean="0"/>
              <a:t/>
            </a:r>
            <a:endParaRPr lang="ko-KR" altLang="en-US" sz="1600" dirty="0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ko-KR" altLang="en-US" dirty="0" smtClean="0"/>
              <a:t>대상 3테이블 관계</a:t>
            </a:r>
            <a:r>
              <a:rPr lang="en-US" altLang="ko-KR" dirty="0" smtClean="0"/>
              <a:t/>
            </a:r>
            <a:endParaRPr lang="ko-KR" altLang="en-US" dirty="0"/>
          </a:p>
        </p:txBody>
      </p:sp>
      <p:sp>
        <p:nvSpPr>
          <p:cNvPr id="10" name="텍스트 개체 틀 4"/>
          <p:cNvSpPr>
            <a:spLocks noGrp="1"/>
          </p:cNvSpPr>
          <p:nvPr>
            <p:ph type="body" sz="quarter" idx="12"/>
          </p:nvPr>
        </p:nvSpPr>
        <p:spPr>
          <a:xfrm>
            <a:off x="234132" y="828303"/>
            <a:ext cx="7956884" cy="835266"/>
          </a:xfrm>
        </p:spPr>
        <p:txBody>
          <a:bodyPr vert="horz" lIns="91440" tIns="45720" rIns="91440" bIns="45720" rtlCol="0">
            <a:normAutofit/>
          </a:bodyPr>
          <a:lstStyle/>
          <a:p>
            <a:pPr defTabSz="914400">
              <a:spcBef>
                <a:spcPct val="20000"/>
              </a:spcBef>
            </a:pPr>
            <a:r>
              <a:rPr lang="en-US" altLang="ko-KR" sz="1600" dirty="0">
                <a:solidFill>
                  <a:srgbClr val="50646E"/>
                </a:solidFill>
              </a:rPr>
              <a:t>Part1 구조를 그대로 활용</a:t>
            </a:r>
            <a:r>
              <a:rPr lang="ko-KR" altLang="en-US" sz="1600" dirty="0">
                <a:solidFill>
                  <a:srgbClr val="50646E"/>
                </a:solidFill>
              </a:rPr>
              <a:t/>
            </a:r>
            <a:r>
              <a:rPr lang="en-US" altLang="ko-KR" sz="1600" dirty="0">
                <a:solidFill>
                  <a:srgbClr val="50646E"/>
                </a:solidFill>
              </a:rPr>
              <a:t/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17624" y="1764296"/>
          <a:ext cx="10058400" cy="15361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52800"/>
                <a:gridCol w="3352800"/>
                <a:gridCol w="3352800"/>
              </a:tblGrid>
              <a:tr h="384048">
                <a:tc>
                  <a:txBody>
                    <a:bodyPr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테이블</a:t>
                      </a:r>
                    </a:p>
                  </a:txBody>
                  <a:tcPr anchor="ctr" marT="25400" marB="25400"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생성 내용</a:t>
                      </a:r>
                    </a:p>
                  </a:txBody>
                  <a:tcPr anchor="ctr" marT="25400" marB="25400"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관계</a:t>
                      </a:r>
                    </a:p>
                  </a:txBody>
                  <a:tcPr anchor="ctr" marT="25400" marB="25400">
                    <a:solidFill>
                      <a:srgbClr val="1B2A4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222730"/>
                          </a:solidFill>
                        </a:rPr>
                        <a:t>ORDERS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>
                          <a:solidFill>
                            <a:srgbClr val="222730"/>
                          </a:solidFill>
                        </a:rPr>
                        <a:t>주문 헤더 1건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>
                          <a:solidFill>
                            <a:srgbClr val="222730"/>
                          </a:solidFill>
                        </a:rPr>
                        <a:t>CUST_ID·EMP_ID FK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222730"/>
                          </a:solidFill>
                        </a:rPr>
                        <a:t>ORDER_ITEMS</a:t>
                      </a:r>
                    </a:p>
                  </a:txBody>
                  <a:tcPr anchor="ctr" marT="12700" marB="12700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>
                          <a:solidFill>
                            <a:srgbClr val="222730"/>
                          </a:solidFill>
                        </a:rPr>
                        <a:t>주문 상세 N건</a:t>
                      </a:r>
                    </a:p>
                  </a:txBody>
                  <a:tcPr anchor="ctr" marT="12700" marB="12700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>
                          <a:solidFill>
                            <a:srgbClr val="222730"/>
                          </a:solidFill>
                        </a:rPr>
                        <a:t>ORDER_ID·PRODUCT_ID FK</a:t>
                      </a:r>
                    </a:p>
                  </a:txBody>
                  <a:tcPr anchor="ctr" marT="12700" marB="12700">
                    <a:solidFill>
                      <a:srgbClr val="F2F4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222730"/>
                          </a:solidFill>
                        </a:rPr>
                        <a:t>SHIPMENTS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>
                          <a:solidFill>
                            <a:srgbClr val="222730"/>
                          </a:solidFill>
                        </a:rPr>
                        <a:t>배송 1건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>
                          <a:solidFill>
                            <a:srgbClr val="222730"/>
                          </a:solidFill>
                        </a:rPr>
                        <a:t>ORDER_ID(PK,FK) 1:1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텍스트 개체 틀 3"/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pPr algn="r"/>
            <a:r>
              <a:rPr lang="en-US" altLang="ko-KR" sz="1600" dirty="0" smtClean="0"/>
              <a:t>Rule</a:t>
            </a:r>
            <a:r>
              <a:rPr lang="ko-KR" altLang="en-US" sz="1600" dirty="0" smtClean="0"/>
              <a:t/>
            </a:r>
            <a:endParaRPr lang="ko-KR" altLang="en-US" sz="1600" dirty="0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ko-KR" altLang="en-US" dirty="0" smtClean="0"/>
              <a:t>데이터 생성 규칙</a:t>
            </a:r>
            <a:r>
              <a:rPr lang="en-US" altLang="ko-KR" dirty="0" smtClean="0"/>
              <a:t/>
            </a:r>
            <a:endParaRPr lang="ko-KR" altLang="en-US" dirty="0"/>
          </a:p>
        </p:txBody>
      </p:sp>
      <p:sp>
        <p:nvSpPr>
          <p:cNvPr id="10" name="텍스트 개체 틀 4"/>
          <p:cNvSpPr>
            <a:spLocks noGrp="1"/>
          </p:cNvSpPr>
          <p:nvPr>
            <p:ph type="body" sz="quarter" idx="12"/>
          </p:nvPr>
        </p:nvSpPr>
        <p:spPr>
          <a:xfrm>
            <a:off x="234132" y="828303"/>
            <a:ext cx="7956884" cy="835266"/>
          </a:xfrm>
        </p:spPr>
        <p:txBody>
          <a:bodyPr vert="horz" lIns="91440" tIns="45720" rIns="91440" bIns="45720" rtlCol="0">
            <a:normAutofit/>
          </a:bodyPr>
          <a:lstStyle/>
          <a:p>
            <a:pPr defTabSz="914400">
              <a:spcBef>
                <a:spcPct val="20000"/>
              </a:spcBef>
            </a:pPr>
            <a:r>
              <a:rPr lang="en-US" altLang="ko-KR" sz="1600" dirty="0">
                <a:solidFill>
                  <a:srgbClr val="50646E"/>
                </a:solidFill>
              </a:rPr>
              <a:t>유효 키 안에서만 랜덤 조합</a:t>
            </a:r>
            <a:r>
              <a:rPr lang="ko-KR" altLang="en-US" sz="1600" dirty="0">
                <a:solidFill>
                  <a:srgbClr val="50646E"/>
                </a:solidFill>
              </a:rPr>
              <a:t/>
            </a:r>
            <a:r>
              <a:rPr lang="en-US" altLang="ko-KR" sz="1600" dirty="0">
                <a:solidFill>
                  <a:srgbClr val="50646E"/>
                </a:solidFill>
              </a:rPr>
              <a:t/>
            </a:r>
          </a:p>
        </p:txBody>
      </p:sp>
      <p:sp>
        <p:nvSpPr>
          <p:cNvPr id="11" name="내용 개체 틀 10"/>
          <p:cNvSpPr>
            <a:spLocks noGrp="1"/>
          </p:cNvSpPr>
          <p:nvPr>
            <p:ph idx="13"/>
          </p:nvPr>
        </p:nvSpPr>
        <p:spPr/>
        <p:txBody>
          <a:bodyPr wrap="square"/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730"/>
                </a:solidFill>
              </a:rPr>
              <a:t>• 고객·상품·사원은 실제 존재하는 ID 배열에서만 선택</a:t>
            </a:r>
            <a:endParaRPr lang="ko-KR" altLang="en-US" dirty="0"/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730"/>
                </a:solidFill>
              </a:rPr>
              <a:t>• 주문일자는 현재 시점 기준으로 생성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730"/>
                </a:solidFill>
              </a:rPr>
              <a:t>• 상세 건수·수량·가격은 합리적 범위에서 랜덤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730"/>
                </a:solidFill>
              </a:rPr>
              <a:t>• → FK 위반이 구조적으로 발생 불가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텍스트 개체 틀 3"/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pPr algn="r"/>
            <a:r>
              <a:rPr lang="en-US" altLang="ko-KR" sz="1600" dirty="0" smtClean="0"/>
              <a:t>Timeline</a:t>
            </a:r>
            <a:r>
              <a:rPr lang="ko-KR" altLang="en-US" sz="1600" dirty="0" smtClean="0"/>
              <a:t/>
            </a:r>
            <a:endParaRPr lang="ko-KR" altLang="en-US" sz="1600" dirty="0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ko-KR" altLang="en-US" dirty="0" smtClean="0"/>
              <a:t>커밋 시나리오</a:t>
            </a:r>
            <a:r>
              <a:rPr lang="en-US" altLang="ko-KR" dirty="0" smtClean="0"/>
              <a:t/>
            </a:r>
            <a:endParaRPr lang="ko-KR" altLang="en-US" dirty="0"/>
          </a:p>
        </p:txBody>
      </p:sp>
      <p:sp>
        <p:nvSpPr>
          <p:cNvPr id="10" name="텍스트 개체 틀 4"/>
          <p:cNvSpPr>
            <a:spLocks noGrp="1"/>
          </p:cNvSpPr>
          <p:nvPr>
            <p:ph type="body" sz="quarter" idx="12"/>
          </p:nvPr>
        </p:nvSpPr>
        <p:spPr>
          <a:xfrm>
            <a:off x="234132" y="828303"/>
            <a:ext cx="7956884" cy="835266"/>
          </a:xfrm>
        </p:spPr>
        <p:txBody>
          <a:bodyPr vert="horz" lIns="91440" tIns="45720" rIns="91440" bIns="45720" rtlCol="0">
            <a:normAutofit/>
          </a:bodyPr>
          <a:lstStyle/>
          <a:p>
            <a:pPr defTabSz="914400">
              <a:spcBef>
                <a:spcPct val="20000"/>
              </a:spcBef>
            </a:pPr>
            <a:r>
              <a:rPr lang="en-US" altLang="ko-KR" sz="1600" dirty="0">
                <a:solidFill>
                  <a:srgbClr val="50646E"/>
                </a:solidFill>
              </a:rPr>
              <a:t>은행 점검 후 순차 승인 스트림</a:t>
            </a:r>
            <a:r>
              <a:rPr lang="ko-KR" altLang="en-US" sz="1600" dirty="0">
                <a:solidFill>
                  <a:srgbClr val="50646E"/>
                </a:solidFill>
              </a:rPr>
              <a:t/>
            </a:r>
            <a:r>
              <a:rPr lang="en-US" altLang="ko-KR" sz="1600" dirty="0">
                <a:solidFill>
                  <a:srgbClr val="50646E"/>
                </a:solidFill>
              </a:rPr>
              <a:t/>
            </a:r>
          </a:p>
        </p:txBody>
      </p:sp>
      <p:pic>
        <p:nvPicPr>
          <p:cNvPr id="11" name="Picture 10" descr="commit_tim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6388" y="2648590"/>
            <a:ext cx="10080872" cy="3431540"/>
          </a:xfrm>
          <a:prstGeom prst="rect">
            <a:avLst/>
          </a:prstGeom>
        </p:spPr>
      </p:pic>
    </p:spTree>
  </p:cSld>
  <p:clrMapOvr>
    <a:masterClrMapping/>
  </p:clrMapOvr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제목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배치 성능 측정 및 병목 분석/개선</a:t>
            </a:r>
            <a:r>
              <a:rPr lang="en-US" altLang="ko-KR" dirty="0"/>
              <a:t/>
            </a:r>
            <a:br>
              <a:rPr lang="en-US" altLang="ko-KR" dirty="0"/>
            </a:br>
            <a:r>
              <a:rPr lang="ko-KR" altLang="en-US" dirty="0"/>
              <a:t/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10"/>
          </p:nvPr>
        </p:nvSpPr>
        <p:spPr/>
        <p:txBody>
          <a:bodyPr anchor="ctr"/>
          <a:lstStyle/>
          <a:p>
            <a:pPr>
              <a:lnSpc>
                <a:spcPct val="150000"/>
              </a:lnSpc>
            </a:pPr>
            <a:r>
              <a:rPr lang="en-US" altLang="ko-KR" dirty="0">
                <a:latin typeface="다키 L" pitchFamily="2" charset="-127"/>
                <a:ea typeface="다키 L" pitchFamily="2" charset="-127"/>
              </a:rPr>
              <a:t>1) 병목 3종 진단   2) 컨텍스트 스위칭·BULK COLLECT   3) 성능 실측</a:t>
            </a:r>
            <a:r>
              <a:rPr lang="ko-KR" altLang="en-US" dirty="0">
                <a:latin typeface="다키 L" pitchFamily="2" charset="-127"/>
                <a:ea typeface="다키 L" pitchFamily="2" charset="-127"/>
              </a:rPr>
              <a:t/>
            </a:r>
            <a:r>
              <a:rPr lang="en-US" altLang="ko-KR" dirty="0">
                <a:latin typeface="다키 L" pitchFamily="2" charset="-127"/>
                <a:ea typeface="다키 L" pitchFamily="2" charset="-127"/>
              </a:rPr>
              <a:t/>
            </a:r>
          </a:p>
        </p:txBody>
      </p:sp>
      <p:sp>
        <p:nvSpPr>
          <p:cNvPr id="6" name="텍스트 개체 틀 5"/>
          <p:cNvSpPr>
            <a:spLocks noGrp="1"/>
          </p:cNvSpPr>
          <p:nvPr>
            <p:ph type="body" sz="quarter" idx="11"/>
          </p:nvPr>
        </p:nvSpPr>
        <p:spPr/>
        <p:txBody>
          <a:bodyPr>
            <a:noAutofit/>
          </a:bodyPr>
          <a:lstStyle/>
          <a:p>
            <a:r>
              <a:rPr lang="en-US" altLang="ko-KR" sz="6000" dirty="0" smtClean="0">
                <a:solidFill>
                  <a:srgbClr val="2484C6"/>
                </a:solidFill>
                <a:latin typeface="다키 M Title" pitchFamily="2" charset="-127"/>
                <a:ea typeface="다키 M Title" pitchFamily="2" charset="-127"/>
              </a:rPr>
              <a:t>05</a:t>
            </a:r>
            <a:endParaRPr lang="ko-KR" altLang="en-US" sz="6000" dirty="0">
              <a:solidFill>
                <a:srgbClr val="2484C6"/>
              </a:solidFill>
              <a:latin typeface="다키 M Title" pitchFamily="2" charset="-127"/>
              <a:ea typeface="다키 M Title" pitchFamily="2" charset="-127"/>
            </a:endParaRP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텍스트 개체 틀 3"/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pPr algn="r"/>
            <a:r>
              <a:rPr lang="en-US" altLang="ko-KR" sz="1600" dirty="0" smtClean="0"/>
              <a:t>Overview</a:t>
            </a:r>
            <a:r>
              <a:rPr lang="ko-KR" altLang="en-US" sz="1600" dirty="0" smtClean="0"/>
              <a:t/>
            </a:r>
            <a:endParaRPr lang="ko-KR" altLang="en-US" sz="1600" dirty="0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ko-KR" altLang="en-US" dirty="0" smtClean="0"/>
              <a:t>개요 — 무엇을 측정했나</a:t>
            </a:r>
            <a:r>
              <a:rPr lang="en-US" altLang="ko-KR" dirty="0" smtClean="0"/>
              <a:t/>
            </a:r>
            <a:endParaRPr lang="ko-KR" altLang="en-US" dirty="0"/>
          </a:p>
        </p:txBody>
      </p:sp>
      <p:sp>
        <p:nvSpPr>
          <p:cNvPr id="10" name="텍스트 개체 틀 4"/>
          <p:cNvSpPr>
            <a:spLocks noGrp="1"/>
          </p:cNvSpPr>
          <p:nvPr>
            <p:ph type="body" sz="quarter" idx="12"/>
          </p:nvPr>
        </p:nvSpPr>
        <p:spPr>
          <a:xfrm>
            <a:off x="234132" y="828303"/>
            <a:ext cx="7956884" cy="835266"/>
          </a:xfrm>
        </p:spPr>
        <p:txBody>
          <a:bodyPr vert="horz" lIns="91440" tIns="45720" rIns="91440" bIns="45720" rtlCol="0">
            <a:normAutofit/>
          </a:bodyPr>
          <a:lstStyle/>
          <a:p>
            <a:pPr defTabSz="914400">
              <a:spcBef>
                <a:spcPct val="20000"/>
              </a:spcBef>
            </a:pPr>
            <a:r>
              <a:rPr lang="en-US" altLang="ko-KR" sz="1600" dirty="0">
                <a:solidFill>
                  <a:srgbClr val="50646E"/>
                </a:solidFill>
              </a:rPr>
              <a:t>제거 가능한 병목만 제거하고 구조적 비용은 유지</a:t>
            </a:r>
            <a:r>
              <a:rPr lang="ko-KR" altLang="en-US" sz="1600" dirty="0">
                <a:solidFill>
                  <a:srgbClr val="50646E"/>
                </a:solidFill>
              </a:rPr>
              <a:t/>
            </a:r>
            <a:r>
              <a:rPr lang="en-US" altLang="ko-KR" sz="1600" dirty="0">
                <a:solidFill>
                  <a:srgbClr val="50646E"/>
                </a:solidFill>
              </a:rPr>
              <a:t/>
            </a:r>
          </a:p>
        </p:txBody>
      </p:sp>
      <p:sp>
        <p:nvSpPr>
          <p:cNvPr id="11" name="내용 개체 틀 10"/>
          <p:cNvSpPr>
            <a:spLocks noGrp="1"/>
          </p:cNvSpPr>
          <p:nvPr>
            <p:ph idx="13"/>
          </p:nvPr>
        </p:nvSpPr>
        <p:spPr/>
        <p:txBody>
          <a:bodyPr wrap="square"/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730"/>
                </a:solidFill>
              </a:rPr>
              <a:t>• naive/optimized를 동일 건수로 실행해 처리시간·건당 비용 비교</a:t>
            </a:r>
            <a:endParaRPr lang="ko-KR" altLang="en-US" dirty="0"/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730"/>
                </a:solidFill>
              </a:rPr>
              <a:t>• BATCH_RUN_LOG로 실행별 소요시간·구간을 기록·재현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730"/>
                </a:solidFill>
              </a:rPr>
              <a:t>• 병목을 "제거 가능"과 "구조적(요구사항)"으로 분리해 판단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텍스트 개체 틀 3"/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pPr algn="r"/>
            <a:r>
              <a:rPr lang="en-US" altLang="ko-KR" sz="1600" dirty="0" smtClean="0"/>
              <a:t>Bottleneck</a:t>
            </a:r>
            <a:r>
              <a:rPr lang="ko-KR" altLang="en-US" sz="1600" dirty="0" smtClean="0"/>
              <a:t/>
            </a:r>
            <a:endParaRPr lang="ko-KR" altLang="en-US" sz="1600" dirty="0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ko-KR" altLang="en-US" dirty="0" smtClean="0"/>
              <a:t>병목 분석</a:t>
            </a:r>
            <a:r>
              <a:rPr lang="en-US" altLang="ko-KR" dirty="0" smtClean="0"/>
              <a:t/>
            </a:r>
            <a:endParaRPr lang="ko-KR" altLang="en-US" dirty="0"/>
          </a:p>
        </p:txBody>
      </p:sp>
      <p:sp>
        <p:nvSpPr>
          <p:cNvPr id="10" name="텍스트 개체 틀 4"/>
          <p:cNvSpPr>
            <a:spLocks noGrp="1"/>
          </p:cNvSpPr>
          <p:nvPr>
            <p:ph type="body" sz="quarter" idx="12"/>
          </p:nvPr>
        </p:nvSpPr>
        <p:spPr>
          <a:xfrm>
            <a:off x="234132" y="828303"/>
            <a:ext cx="7956884" cy="835266"/>
          </a:xfrm>
        </p:spPr>
        <p:txBody>
          <a:bodyPr vert="horz" lIns="91440" tIns="45720" rIns="91440" bIns="45720" rtlCol="0">
            <a:normAutofit/>
          </a:bodyPr>
          <a:lstStyle/>
          <a:p>
            <a:pPr defTabSz="914400">
              <a:spcBef>
                <a:spcPct val="20000"/>
              </a:spcBef>
            </a:pPr>
            <a:r>
              <a:rPr lang="en-US" altLang="ko-KR" sz="1600" dirty="0">
                <a:solidFill>
                  <a:srgbClr val="50646E"/>
                </a:solidFill>
              </a:rPr>
              <a:t>제거 가능 2가지 vs 구조적 1가지</a:t>
            </a:r>
            <a:r>
              <a:rPr lang="ko-KR" altLang="en-US" sz="1600" dirty="0">
                <a:solidFill>
                  <a:srgbClr val="50646E"/>
                </a:solidFill>
              </a:rPr>
              <a:t/>
            </a:r>
            <a:r>
              <a:rPr lang="en-US" altLang="ko-KR" sz="1600" dirty="0">
                <a:solidFill>
                  <a:srgbClr val="50646E"/>
                </a:solidFill>
              </a:rPr>
              <a:t/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17624" y="1764296"/>
          <a:ext cx="10058400" cy="15361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52800"/>
                <a:gridCol w="3352800"/>
                <a:gridCol w="3352800"/>
              </a:tblGrid>
              <a:tr h="384048">
                <a:tc>
                  <a:txBody>
                    <a:bodyPr/>
                    <a:lstStyle/>
                    <a:p>
                      <a:pPr algn="ctr"/>
                      <a:r>
                        <a:rPr b="1" sz="1150">
                          <a:solidFill>
                            <a:srgbClr val="FFFFFF"/>
                          </a:solidFill>
                        </a:rPr>
                        <a:t>#</a:t>
                      </a:r>
                    </a:p>
                  </a:txBody>
                  <a:tcPr anchor="ctr" marT="25400" marB="25400"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150">
                          <a:solidFill>
                            <a:srgbClr val="FFFFFF"/>
                          </a:solidFill>
                        </a:rPr>
                        <a:t>병목</a:t>
                      </a:r>
                    </a:p>
                  </a:txBody>
                  <a:tcPr anchor="ctr" marT="25400" marB="25400"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150">
                          <a:solidFill>
                            <a:srgbClr val="FFFFFF"/>
                          </a:solidFill>
                        </a:rPr>
                        <a:t>성격</a:t>
                      </a:r>
                    </a:p>
                  </a:txBody>
                  <a:tcPr anchor="ctr" marT="25400" marB="25400">
                    <a:solidFill>
                      <a:srgbClr val="1B2A4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222730"/>
                          </a:solidFill>
                        </a:rPr>
                        <a:t>1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22730"/>
                          </a:solidFill>
                        </a:rPr>
                        <a:t>MAX(ORDER_ID)+1 매 반복 재조회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22730"/>
                          </a:solidFill>
                        </a:rPr>
                        <a:t>제거 가능(설계 결함)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222730"/>
                          </a:solidFill>
                        </a:rPr>
                        <a:t>2</a:t>
                      </a:r>
                    </a:p>
                  </a:txBody>
                  <a:tcPr anchor="ctr" marT="12700" marB="12700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22730"/>
                          </a:solidFill>
                        </a:rPr>
                        <a:t>ID를 매 반복 랜덤 전체정렬 조회</a:t>
                      </a:r>
                    </a:p>
                  </a:txBody>
                  <a:tcPr anchor="ctr" marT="12700" marB="12700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22730"/>
                          </a:solidFill>
                        </a:rPr>
                        <a:t>제거 가능(가장 큰 비용)</a:t>
                      </a:r>
                    </a:p>
                  </a:txBody>
                  <a:tcPr anchor="ctr" marT="12700" marB="12700">
                    <a:solidFill>
                      <a:srgbClr val="F2F4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222730"/>
                          </a:solidFill>
                        </a:rPr>
                        <a:t>3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22730"/>
                          </a:solidFill>
                        </a:rPr>
                        <a:t>주문당 1커밋 (log file sync)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22730"/>
                          </a:solidFill>
                        </a:rPr>
                        <a:t>제거 불가(구조적)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텍스트 개체 틀 3"/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pPr algn="r"/>
            <a:r>
              <a:rPr lang="en-US" altLang="ko-KR" sz="1600" dirty="0" smtClean="0"/>
              <a:t>Concept</a:t>
            </a:r>
            <a:r>
              <a:rPr lang="ko-KR" altLang="en-US" sz="1600" dirty="0" smtClean="0"/>
              <a:t/>
            </a:r>
            <a:endParaRPr lang="ko-KR" altLang="en-US" sz="1600" dirty="0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ko-KR" altLang="en-US" dirty="0" smtClean="0"/>
              <a:t>컨텍스트 스위칭 관점</a:t>
            </a:r>
            <a:r>
              <a:rPr lang="en-US" altLang="ko-KR" dirty="0" smtClean="0"/>
              <a:t/>
            </a:r>
            <a:endParaRPr lang="ko-KR" altLang="en-US" dirty="0"/>
          </a:p>
        </p:txBody>
      </p:sp>
      <p:sp>
        <p:nvSpPr>
          <p:cNvPr id="10" name="텍스트 개체 틀 4"/>
          <p:cNvSpPr>
            <a:spLocks noGrp="1"/>
          </p:cNvSpPr>
          <p:nvPr>
            <p:ph type="body" sz="quarter" idx="12"/>
          </p:nvPr>
        </p:nvSpPr>
        <p:spPr>
          <a:xfrm>
            <a:off x="234132" y="828303"/>
            <a:ext cx="7956884" cy="835266"/>
          </a:xfrm>
        </p:spPr>
        <p:txBody>
          <a:bodyPr vert="horz" lIns="91440" tIns="45720" rIns="91440" bIns="45720" rtlCol="0">
            <a:normAutofit/>
          </a:bodyPr>
          <a:lstStyle/>
          <a:p>
            <a:pPr defTabSz="914400">
              <a:spcBef>
                <a:spcPct val="20000"/>
              </a:spcBef>
            </a:pPr>
            <a:r>
              <a:rPr lang="en-US" altLang="ko-KR" sz="1600" dirty="0">
                <a:solidFill>
                  <a:srgbClr val="50646E"/>
                </a:solidFill>
              </a:rPr>
              <a:t>BULK COLLECT로 조회 반복의 전환 비용 제거</a:t>
            </a:r>
            <a:r>
              <a:rPr lang="ko-KR" altLang="en-US" sz="1600" dirty="0">
                <a:solidFill>
                  <a:srgbClr val="50646E"/>
                </a:solidFill>
              </a:rPr>
              <a:t/>
            </a:r>
            <a:r>
              <a:rPr lang="en-US" altLang="ko-KR" sz="1600" dirty="0">
                <a:solidFill>
                  <a:srgbClr val="50646E"/>
                </a:solidFill>
              </a:rPr>
              <a:t/>
            </a:r>
          </a:p>
        </p:txBody>
      </p:sp>
      <p:pic>
        <p:nvPicPr>
          <p:cNvPr id="11" name="Picture 10" descr="context_swit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6388" y="2042863"/>
            <a:ext cx="10080872" cy="4642995"/>
          </a:xfrm>
          <a:prstGeom prst="rect">
            <a:avLst/>
          </a:prstGeom>
        </p:spPr>
      </p:pic>
    </p:spTree>
  </p:cSld>
  <p:clrMapOvr>
    <a:masterClrMapping/>
  </p:clrMapOvr>
</p:sld>
</file>

<file path=ppt/slides/slide1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텍스트 개체 틀 3"/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pPr algn="r"/>
            <a:r>
              <a:rPr lang="en-US" altLang="ko-KR" sz="1600" dirty="0" smtClean="0"/>
              <a:t>Improve</a:t>
            </a:r>
            <a:r>
              <a:rPr lang="ko-KR" altLang="en-US" sz="1600" dirty="0" smtClean="0"/>
              <a:t/>
            </a:r>
            <a:endParaRPr lang="ko-KR" altLang="en-US" sz="1600" dirty="0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ko-KR" altLang="en-US" dirty="0" smtClean="0"/>
              <a:t>개선 방안</a:t>
            </a:r>
            <a:r>
              <a:rPr lang="en-US" altLang="ko-KR" dirty="0" smtClean="0"/>
              <a:t/>
            </a:r>
            <a:endParaRPr lang="ko-KR" altLang="en-US" dirty="0"/>
          </a:p>
        </p:txBody>
      </p:sp>
      <p:sp>
        <p:nvSpPr>
          <p:cNvPr id="10" name="텍스트 개체 틀 4"/>
          <p:cNvSpPr>
            <a:spLocks noGrp="1"/>
          </p:cNvSpPr>
          <p:nvPr>
            <p:ph type="body" sz="quarter" idx="12"/>
          </p:nvPr>
        </p:nvSpPr>
        <p:spPr>
          <a:xfrm>
            <a:off x="234132" y="828303"/>
            <a:ext cx="7956884" cy="835266"/>
          </a:xfrm>
        </p:spPr>
        <p:txBody>
          <a:bodyPr vert="horz" lIns="91440" tIns="45720" rIns="91440" bIns="45720" rtlCol="0">
            <a:normAutofit/>
          </a:bodyPr>
          <a:lstStyle/>
          <a:p>
            <a:pPr defTabSz="914400">
              <a:spcBef>
                <a:spcPct val="20000"/>
              </a:spcBef>
            </a:pPr>
            <a:r>
              <a:rPr lang="en-US" altLang="ko-KR" sz="1600" dirty="0">
                <a:solidFill>
                  <a:srgbClr val="50646E"/>
                </a:solidFill>
              </a:rPr>
              <a:t>채번·조회는 제거, 커밋은 완화만 검토</a:t>
            </a:r>
            <a:r>
              <a:rPr lang="ko-KR" altLang="en-US" sz="1600" dirty="0">
                <a:solidFill>
                  <a:srgbClr val="50646E"/>
                </a:solidFill>
              </a:rPr>
              <a:t/>
            </a:r>
            <a:r>
              <a:rPr lang="en-US" altLang="ko-KR" sz="1600" dirty="0">
                <a:solidFill>
                  <a:srgbClr val="50646E"/>
                </a:solidFill>
              </a:rPr>
              <a:t/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17624" y="1764296"/>
          <a:ext cx="10058400" cy="15361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52800"/>
                <a:gridCol w="3352800"/>
                <a:gridCol w="3352800"/>
              </a:tblGrid>
              <a:tr h="384048">
                <a:tc>
                  <a:txBody>
                    <a:bodyPr/>
                    <a:lstStyle/>
                    <a:p>
                      <a:pPr algn="ctr"/>
                      <a:r>
                        <a:rPr b="1" sz="1150">
                          <a:solidFill>
                            <a:srgbClr val="FFFFFF"/>
                          </a:solidFill>
                        </a:rPr>
                        <a:t>병목</a:t>
                      </a:r>
                    </a:p>
                  </a:txBody>
                  <a:tcPr anchor="ctr" marT="25400" marB="25400"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150">
                          <a:solidFill>
                            <a:srgbClr val="FFFFFF"/>
                          </a:solidFill>
                        </a:rPr>
                        <a:t>개선</a:t>
                      </a:r>
                    </a:p>
                  </a:txBody>
                  <a:tcPr anchor="ctr" marT="25400" marB="25400"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150">
                          <a:solidFill>
                            <a:srgbClr val="FFFFFF"/>
                          </a:solidFill>
                        </a:rPr>
                        <a:t>관련 개념</a:t>
                      </a:r>
                    </a:p>
                  </a:txBody>
                  <a:tcPr anchor="ctr" marT="25400" marB="25400">
                    <a:solidFill>
                      <a:srgbClr val="1B2A4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222730"/>
                          </a:solidFill>
                        </a:rPr>
                        <a:t>채번 재조회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22730"/>
                          </a:solidFill>
                        </a:rPr>
                        <a:t>SEQUENCE CACHE 1000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22730"/>
                          </a:solidFill>
                        </a:rPr>
                        <a:t>시퀀스 캐시·원자성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222730"/>
                          </a:solidFill>
                        </a:rPr>
                        <a:t>랜덤 전체정렬</a:t>
                      </a:r>
                    </a:p>
                  </a:txBody>
                  <a:tcPr anchor="ctr" marT="12700" marB="12700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22730"/>
                          </a:solidFill>
                        </a:rPr>
                        <a:t>BULK COLLECT 배열</a:t>
                      </a:r>
                    </a:p>
                  </a:txBody>
                  <a:tcPr anchor="ctr" marT="12700" marB="12700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22730"/>
                          </a:solidFill>
                        </a:rPr>
                        <a:t>집합적 처리</a:t>
                      </a:r>
                    </a:p>
                  </a:txBody>
                  <a:tcPr anchor="ctr" marT="12700" marB="12700">
                    <a:solidFill>
                      <a:srgbClr val="F2F4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222730"/>
                          </a:solidFill>
                        </a:rPr>
                        <a:t>건별 커밋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22730"/>
                          </a:solidFill>
                        </a:rPr>
                        <a:t>요구사항상 제거 불가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22730"/>
                          </a:solidFill>
                        </a:rPr>
                        <a:t>Durability·log file sync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텍스트 개체 틀 3"/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pPr algn="r"/>
            <a:r>
              <a:rPr lang="en-US" altLang="ko-KR" sz="1600" dirty="0" smtClean="0"/>
              <a:t>Result</a:t>
            </a:r>
            <a:r>
              <a:rPr lang="ko-KR" altLang="en-US" sz="1600" dirty="0" smtClean="0"/>
              <a:t/>
            </a:r>
            <a:endParaRPr lang="ko-KR" altLang="en-US" sz="1600" dirty="0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ko-KR" altLang="en-US" dirty="0" smtClean="0"/>
              <a:t>성능 결과 (실측)</a:t>
            </a:r>
            <a:r>
              <a:rPr lang="en-US" altLang="ko-KR" dirty="0" smtClean="0"/>
              <a:t/>
            </a:r>
            <a:endParaRPr lang="ko-KR" altLang="en-US" dirty="0"/>
          </a:p>
        </p:txBody>
      </p:sp>
      <p:sp>
        <p:nvSpPr>
          <p:cNvPr id="10" name="텍스트 개체 틀 4"/>
          <p:cNvSpPr>
            <a:spLocks noGrp="1"/>
          </p:cNvSpPr>
          <p:nvPr>
            <p:ph type="body" sz="quarter" idx="12"/>
          </p:nvPr>
        </p:nvSpPr>
        <p:spPr>
          <a:xfrm>
            <a:off x="234132" y="828303"/>
            <a:ext cx="7956884" cy="835266"/>
          </a:xfrm>
        </p:spPr>
        <p:txBody>
          <a:bodyPr vert="horz" lIns="91440" tIns="45720" rIns="91440" bIns="45720" rtlCol="0">
            <a:normAutofit/>
          </a:bodyPr>
          <a:lstStyle/>
          <a:p>
            <a:pPr defTabSz="914400">
              <a:spcBef>
                <a:spcPct val="20000"/>
              </a:spcBef>
            </a:pPr>
            <a:r>
              <a:rPr lang="en-US" altLang="ko-KR" sz="1600" dirty="0">
                <a:solidFill>
                  <a:srgbClr val="50646E"/>
                </a:solidFill>
              </a:rPr>
              <a:t>OPTIMIZED 100,000건 57초 · 건당 0.57ms</a:t>
            </a:r>
            <a:r>
              <a:rPr lang="ko-KR" altLang="en-US" sz="1600" dirty="0">
                <a:solidFill>
                  <a:srgbClr val="50646E"/>
                </a:solidFill>
              </a:rPr>
              <a:t/>
            </a:r>
            <a:r>
              <a:rPr lang="en-US" altLang="ko-KR" sz="1600" dirty="0">
                <a:solidFill>
                  <a:srgbClr val="50646E"/>
                </a:solidFill>
              </a:rPr>
              <a:t/>
            </a:r>
          </a:p>
        </p:txBody>
      </p:sp>
      <p:pic>
        <p:nvPicPr>
          <p:cNvPr id="11" name="Picture 10" descr="batch_per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6388" y="2688767"/>
            <a:ext cx="5645288" cy="335118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153293" y="1764296"/>
            <a:ext cx="4233966" cy="52001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730"/>
                </a:solidFill>
              </a:rPr>
              <a:t>• 건수 100배 증가에도 건당 처리시간 2.00→0.57ms 감소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730"/>
                </a:solidFill>
              </a:rPr>
              <a:t>• 이유: BULK COLLECT 고정 초기비용이 건수 많을수록 분산(amortize)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730"/>
                </a:solidFill>
              </a:rPr>
              <a:t>• 57초에도 주문당 1커밋(구조적 비용)은 여전히 포함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730"/>
                </a:solidFill>
              </a:rPr>
              <a:t>• → 제거 가능한 병목 2가지를 제거해 이론적 최선에 근접</a:t>
            </a: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텍스트 개체 틀 3"/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pPr algn="r"/>
            <a:r>
              <a:rPr lang="en-US" altLang="ko-KR" sz="1600" dirty="0" smtClean="0"/>
              <a:t>Conclusion</a:t>
            </a:r>
            <a:r>
              <a:rPr lang="ko-KR" altLang="en-US" sz="1600" dirty="0" smtClean="0"/>
              <a:t/>
            </a:r>
            <a:endParaRPr lang="ko-KR" altLang="en-US" sz="1600" dirty="0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ko-KR" altLang="en-US" dirty="0" smtClean="0"/>
              <a:t>결론</a:t>
            </a:r>
            <a:r>
              <a:rPr lang="en-US" altLang="ko-KR" dirty="0" smtClean="0"/>
              <a:t/>
            </a:r>
            <a:endParaRPr lang="ko-KR" altLang="en-US" dirty="0"/>
          </a:p>
        </p:txBody>
      </p:sp>
      <p:sp>
        <p:nvSpPr>
          <p:cNvPr id="10" name="텍스트 개체 틀 4"/>
          <p:cNvSpPr>
            <a:spLocks noGrp="1"/>
          </p:cNvSpPr>
          <p:nvPr>
            <p:ph type="body" sz="quarter" idx="12"/>
          </p:nvPr>
        </p:nvSpPr>
        <p:spPr>
          <a:xfrm>
            <a:off x="234132" y="828303"/>
            <a:ext cx="7956884" cy="835266"/>
          </a:xfrm>
        </p:spPr>
        <p:txBody>
          <a:bodyPr vert="horz" lIns="91440" tIns="45720" rIns="91440" bIns="45720" rtlCol="0">
            <a:normAutofit/>
          </a:bodyPr>
          <a:lstStyle/>
          <a:p>
            <a:pPr defTabSz="914400">
              <a:spcBef>
                <a:spcPct val="20000"/>
              </a:spcBef>
            </a:pPr>
            <a:r>
              <a:rPr lang="en-US" altLang="ko-KR" sz="1600" dirty="0">
                <a:solidFill>
                  <a:srgbClr val="50646E"/>
                </a:solidFill>
              </a:rPr>
              <a:t>정합성=설계, 병목=제거 가능/불가 구분</a:t>
            </a:r>
            <a:r>
              <a:rPr lang="ko-KR" altLang="en-US" sz="1600" dirty="0">
                <a:solidFill>
                  <a:srgbClr val="50646E"/>
                </a:solidFill>
              </a:rPr>
              <a:t/>
            </a:r>
            <a:r>
              <a:rPr lang="en-US" altLang="ko-KR" sz="1600" dirty="0">
                <a:solidFill>
                  <a:srgbClr val="50646E"/>
                </a:solidFill>
              </a:rPr>
              <a:t/>
            </a:r>
          </a:p>
        </p:txBody>
      </p:sp>
      <p:sp>
        <p:nvSpPr>
          <p:cNvPr id="11" name="내용 개체 틀 10"/>
          <p:cNvSpPr>
            <a:spLocks noGrp="1"/>
          </p:cNvSpPr>
          <p:nvPr>
            <p:ph idx="13"/>
          </p:nvPr>
        </p:nvSpPr>
        <p:spPr/>
        <p:txBody>
          <a:bodyPr wrap="square"/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730"/>
                </a:solidFill>
              </a:rPr>
              <a:t>• 정합성은 검증 코드가 아니라 "존재하는 키만 배열로 선택" 설계로 해결</a:t>
            </a:r>
            <a:endParaRPr lang="ko-KR" altLang="en-US" dirty="0"/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730"/>
                </a:solidFill>
              </a:rPr>
              <a:t>• 병목을 제거 가능(채번·조회)과 구조적(건별 커밋)으로 구분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730"/>
                </a:solidFill>
              </a:rPr>
              <a:t>• optimized는 후자를 유지한 채 전자만 제거한 최적화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텍스트 개체 틀 3"/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pPr algn="r"/>
            <a:r>
              <a:rPr lang="en-US" altLang="ko-KR" sz="1600" dirty="0" smtClean="0"/>
              <a:t>TOCTOU</a:t>
            </a:r>
            <a:r>
              <a:rPr lang="ko-KR" altLang="en-US" sz="1600" dirty="0" smtClean="0"/>
              <a:t/>
            </a:r>
            <a:endParaRPr lang="ko-KR" altLang="en-US" sz="1600" dirty="0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ko-KR" altLang="en-US" dirty="0" smtClean="0"/>
              <a:t>채번 병목의 본질 — TOCTOU</a:t>
            </a:r>
            <a:r>
              <a:rPr lang="en-US" altLang="ko-KR" dirty="0" smtClean="0"/>
              <a:t/>
            </a:r>
            <a:endParaRPr lang="ko-KR" altLang="en-US" dirty="0"/>
          </a:p>
        </p:txBody>
      </p:sp>
      <p:sp>
        <p:nvSpPr>
          <p:cNvPr id="10" name="텍스트 개체 틀 4"/>
          <p:cNvSpPr>
            <a:spLocks noGrp="1"/>
          </p:cNvSpPr>
          <p:nvPr>
            <p:ph type="body" sz="quarter" idx="12"/>
          </p:nvPr>
        </p:nvSpPr>
        <p:spPr>
          <a:xfrm>
            <a:off x="234132" y="828303"/>
            <a:ext cx="7956884" cy="835266"/>
          </a:xfrm>
        </p:spPr>
        <p:txBody>
          <a:bodyPr vert="horz" lIns="91440" tIns="45720" rIns="91440" bIns="45720" rtlCol="0">
            <a:normAutofit/>
          </a:bodyPr>
          <a:lstStyle/>
          <a:p>
            <a:pPr defTabSz="914400">
              <a:spcBef>
                <a:spcPct val="20000"/>
              </a:spcBef>
            </a:pPr>
            <a:r>
              <a:rPr lang="en-US" altLang="ko-KR" sz="1600" dirty="0">
                <a:solidFill>
                  <a:srgbClr val="50646E"/>
                </a:solidFill>
              </a:rPr>
              <a:t>MAX+1 재조회의 근본 문제</a:t>
            </a:r>
            <a:r>
              <a:rPr lang="ko-KR" altLang="en-US" sz="1600" dirty="0">
                <a:solidFill>
                  <a:srgbClr val="50646E"/>
                </a:solidFill>
              </a:rPr>
              <a:t/>
            </a:r>
            <a:r>
              <a:rPr lang="en-US" altLang="ko-KR" sz="1600" dirty="0">
                <a:solidFill>
                  <a:srgbClr val="50646E"/>
                </a:solidFill>
              </a:rPr>
              <a:t/>
            </a:r>
          </a:p>
        </p:txBody>
      </p:sp>
      <p:sp>
        <p:nvSpPr>
          <p:cNvPr id="11" name="내용 개체 틀 10"/>
          <p:cNvSpPr>
            <a:spLocks noGrp="1"/>
          </p:cNvSpPr>
          <p:nvPr>
            <p:ph idx="13"/>
          </p:nvPr>
        </p:nvSpPr>
        <p:spPr/>
        <p:txBody>
          <a:bodyPr wrap="square"/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730"/>
                </a:solidFill>
              </a:rPr>
              <a:t>• 확인 시점과 사용 시점 사이에 다른 세션이 끼어들 수 있음</a:t>
            </a:r>
            <a:endParaRPr lang="ko-KR" altLang="en-US" dirty="0"/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730"/>
                </a:solidFill>
              </a:rPr>
              <a:t>• 여러 세션이 MAX(ORDER_ID)+1을 동시에 계산하면 같은 값 채번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730"/>
                </a:solidFill>
              </a:rPr>
              <a:t>• 시퀀스는 원자적 채번으로 이 경쟁 상태를 원천 차단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730"/>
                </a:solidFill>
              </a:rPr>
              <a:t>• 단건 재조회 자체가 반복 SQL 호출 비용도 동반</a:t>
            </a:r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텍스트 개체 틀 3"/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pPr algn="r"/>
            <a:r>
              <a:rPr lang="en-US" altLang="ko-KR" sz="1600" dirty="0" smtClean="0"/>
              <a:t>SetBased</a:t>
            </a:r>
            <a:r>
              <a:rPr lang="ko-KR" altLang="en-US" sz="1600" dirty="0" smtClean="0"/>
              <a:t/>
            </a:r>
            <a:endParaRPr lang="ko-KR" altLang="en-US" sz="1600" dirty="0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ko-KR" altLang="en-US" dirty="0" smtClean="0"/>
              <a:t>집합적 처리 vs 행 단위</a:t>
            </a:r>
            <a:r>
              <a:rPr lang="en-US" altLang="ko-KR" dirty="0" smtClean="0"/>
              <a:t/>
            </a:r>
            <a:endParaRPr lang="ko-KR" altLang="en-US" dirty="0"/>
          </a:p>
        </p:txBody>
      </p:sp>
      <p:sp>
        <p:nvSpPr>
          <p:cNvPr id="10" name="텍스트 개체 틀 4"/>
          <p:cNvSpPr>
            <a:spLocks noGrp="1"/>
          </p:cNvSpPr>
          <p:nvPr>
            <p:ph type="body" sz="quarter" idx="12"/>
          </p:nvPr>
        </p:nvSpPr>
        <p:spPr>
          <a:xfrm>
            <a:off x="234132" y="828303"/>
            <a:ext cx="7956884" cy="835266"/>
          </a:xfrm>
        </p:spPr>
        <p:txBody>
          <a:bodyPr vert="horz" lIns="91440" tIns="45720" rIns="91440" bIns="45720" rtlCol="0">
            <a:normAutofit/>
          </a:bodyPr>
          <a:lstStyle/>
          <a:p>
            <a:pPr defTabSz="914400">
              <a:spcBef>
                <a:spcPct val="20000"/>
              </a:spcBef>
            </a:pPr>
            <a:r>
              <a:rPr lang="en-US" altLang="ko-KR" sz="1600" dirty="0">
                <a:solidFill>
                  <a:srgbClr val="50646E"/>
                </a:solidFill>
              </a:rPr>
              <a:t>row-by-row = slow-by-slow</a:t>
            </a:r>
            <a:r>
              <a:rPr lang="ko-KR" altLang="en-US" sz="1600" dirty="0">
                <a:solidFill>
                  <a:srgbClr val="50646E"/>
                </a:solidFill>
              </a:rPr>
              <a:t/>
            </a:r>
            <a:r>
              <a:rPr lang="en-US" altLang="ko-KR" sz="1600" dirty="0">
                <a:solidFill>
                  <a:srgbClr val="50646E"/>
                </a:solidFill>
              </a:rPr>
              <a:t/>
            </a:r>
          </a:p>
        </p:txBody>
      </p:sp>
      <p:sp>
        <p:nvSpPr>
          <p:cNvPr id="11" name="내용 개체 틀 10"/>
          <p:cNvSpPr>
            <a:spLocks noGrp="1"/>
          </p:cNvSpPr>
          <p:nvPr>
            <p:ph idx="13"/>
          </p:nvPr>
        </p:nvSpPr>
        <p:spPr/>
        <p:txBody>
          <a:bodyPr wrap="square"/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730"/>
                </a:solidFill>
              </a:rPr>
              <a:t>• 관계형 DB는 집합(set) 연산에 최적화</a:t>
            </a:r>
            <a:endParaRPr lang="ko-KR" altLang="en-US" dirty="0"/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730"/>
                </a:solidFill>
              </a:rPr>
              <a:t>• 반복문 단건 처리(row-by-row)는 전환·호출 비용 누적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730"/>
                </a:solidFill>
              </a:rPr>
              <a:t>• BULK COLLECT로 조회를 집합화 → SQL 실행 횟수 감소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730"/>
                </a:solidFill>
              </a:rPr>
              <a:t>• 단, 커밋 경계(주문 1건)는 집합화 대상이 아님</a:t>
            </a: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텍스트 개체 틀 3"/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pPr algn="r"/>
            <a:r>
              <a:rPr lang="en-US" altLang="ko-KR" sz="1600" dirty="0" smtClean="0"/>
              <a:t>Commit</a:t>
            </a:r>
            <a:r>
              <a:rPr lang="ko-KR" altLang="en-US" sz="1600" dirty="0" smtClean="0"/>
              <a:t/>
            </a:r>
            <a:endParaRPr lang="ko-KR" altLang="en-US" sz="1600" dirty="0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ko-KR" altLang="en-US" dirty="0" smtClean="0"/>
              <a:t>왜 커밋은 못 줄이나</a:t>
            </a:r>
            <a:r>
              <a:rPr lang="en-US" altLang="ko-KR" dirty="0" smtClean="0"/>
              <a:t/>
            </a:r>
            <a:endParaRPr lang="ko-KR" altLang="en-US" dirty="0"/>
          </a:p>
        </p:txBody>
      </p:sp>
      <p:sp>
        <p:nvSpPr>
          <p:cNvPr id="10" name="텍스트 개체 틀 4"/>
          <p:cNvSpPr>
            <a:spLocks noGrp="1"/>
          </p:cNvSpPr>
          <p:nvPr>
            <p:ph type="body" sz="quarter" idx="12"/>
          </p:nvPr>
        </p:nvSpPr>
        <p:spPr>
          <a:xfrm>
            <a:off x="234132" y="828303"/>
            <a:ext cx="7956884" cy="835266"/>
          </a:xfrm>
        </p:spPr>
        <p:txBody>
          <a:bodyPr vert="horz" lIns="91440" tIns="45720" rIns="91440" bIns="45720" rtlCol="0">
            <a:normAutofit/>
          </a:bodyPr>
          <a:lstStyle/>
          <a:p>
            <a:pPr defTabSz="914400">
              <a:spcBef>
                <a:spcPct val="20000"/>
              </a:spcBef>
            </a:pPr>
            <a:r>
              <a:rPr lang="en-US" altLang="ko-KR" sz="1600" dirty="0">
                <a:solidFill>
                  <a:srgbClr val="50646E"/>
                </a:solidFill>
              </a:rPr>
              <a:t>트랜잭션 경계 = 주문 1건 (구조적)</a:t>
            </a:r>
            <a:r>
              <a:rPr lang="ko-KR" altLang="en-US" sz="1600" dirty="0">
                <a:solidFill>
                  <a:srgbClr val="50646E"/>
                </a:solidFill>
              </a:rPr>
              <a:t/>
            </a:r>
            <a:r>
              <a:rPr lang="en-US" altLang="ko-KR" sz="1600" dirty="0">
                <a:solidFill>
                  <a:srgbClr val="50646E"/>
                </a:solidFill>
              </a:rPr>
              <a:t/>
            </a:r>
          </a:p>
        </p:txBody>
      </p:sp>
      <p:sp>
        <p:nvSpPr>
          <p:cNvPr id="11" name="내용 개체 틀 10"/>
          <p:cNvSpPr>
            <a:spLocks noGrp="1"/>
          </p:cNvSpPr>
          <p:nvPr>
            <p:ph idx="13"/>
          </p:nvPr>
        </p:nvSpPr>
        <p:spPr/>
        <p:txBody>
          <a:bodyPr wrap="square"/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730"/>
                </a:solidFill>
              </a:rPr>
              <a:t>• 요구사항이 "주문 1건 완료 시 커밋" → 경계를 임의 확장 불가</a:t>
            </a:r>
            <a:endParaRPr lang="ko-KR" altLang="en-US" dirty="0"/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730"/>
                </a:solidFill>
              </a:rPr>
              <a:t>• FORALL(집합 DML)은 커밋 경계를 넘겨야 해 적용 곤란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730"/>
                </a:solidFill>
              </a:rPr>
              <a:t>• log file sync(LGWR redo 기록 대기)는 Durability의 대가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730"/>
                </a:solidFill>
              </a:rPr>
              <a:t>• → 건별 커밋은 성능 병목이자 정합성 보장의 필연</a:t>
            </a: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텍스트 개체 틀 3"/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pPr algn="r"/>
            <a:r>
              <a:rPr lang="en-US" altLang="ko-KR" sz="1600" dirty="0" smtClean="0"/>
              <a:t>Observability</a:t>
            </a:r>
            <a:r>
              <a:rPr lang="ko-KR" altLang="en-US" sz="1600" dirty="0" smtClean="0"/>
              <a:t/>
            </a:r>
            <a:endParaRPr lang="ko-KR" altLang="en-US" sz="1600" dirty="0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ko-KR" altLang="en-US" dirty="0" smtClean="0"/>
              <a:t>관측가능성·재현성</a:t>
            </a:r>
            <a:r>
              <a:rPr lang="en-US" altLang="ko-KR" dirty="0" smtClean="0"/>
              <a:t/>
            </a:r>
            <a:endParaRPr lang="ko-KR" altLang="en-US" dirty="0"/>
          </a:p>
        </p:txBody>
      </p:sp>
      <p:sp>
        <p:nvSpPr>
          <p:cNvPr id="10" name="텍스트 개체 틀 4"/>
          <p:cNvSpPr>
            <a:spLocks noGrp="1"/>
          </p:cNvSpPr>
          <p:nvPr>
            <p:ph type="body" sz="quarter" idx="12"/>
          </p:nvPr>
        </p:nvSpPr>
        <p:spPr>
          <a:xfrm>
            <a:off x="234132" y="828303"/>
            <a:ext cx="7956884" cy="835266"/>
          </a:xfrm>
        </p:spPr>
        <p:txBody>
          <a:bodyPr vert="horz" lIns="91440" tIns="45720" rIns="91440" bIns="45720" rtlCol="0">
            <a:normAutofit/>
          </a:bodyPr>
          <a:lstStyle/>
          <a:p>
            <a:pPr defTabSz="914400">
              <a:spcBef>
                <a:spcPct val="20000"/>
              </a:spcBef>
            </a:pPr>
            <a:r>
              <a:rPr lang="en-US" altLang="ko-KR" sz="1600" dirty="0">
                <a:solidFill>
                  <a:srgbClr val="50646E"/>
                </a:solidFill>
              </a:rPr>
              <a:t>체감이 아니라 수치로 증명</a:t>
            </a:r>
            <a:r>
              <a:rPr lang="ko-KR" altLang="en-US" sz="1600" dirty="0">
                <a:solidFill>
                  <a:srgbClr val="50646E"/>
                </a:solidFill>
              </a:rPr>
              <a:t/>
            </a:r>
            <a:r>
              <a:rPr lang="en-US" altLang="ko-KR" sz="1600" dirty="0">
                <a:solidFill>
                  <a:srgbClr val="50646E"/>
                </a:solidFill>
              </a:rPr>
              <a:t/>
            </a:r>
          </a:p>
        </p:txBody>
      </p:sp>
      <p:sp>
        <p:nvSpPr>
          <p:cNvPr id="11" name="내용 개체 틀 10"/>
          <p:cNvSpPr>
            <a:spLocks noGrp="1"/>
          </p:cNvSpPr>
          <p:nvPr>
            <p:ph idx="13"/>
          </p:nvPr>
        </p:nvSpPr>
        <p:spPr/>
        <p:txBody>
          <a:bodyPr wrap="square"/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730"/>
                </a:solidFill>
              </a:rPr>
              <a:t>• BATCH_RUN_LOG로 실행별 소요시간·구간을 기록</a:t>
            </a:r>
            <a:endParaRPr lang="ko-KR" altLang="en-US" dirty="0"/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730"/>
                </a:solidFill>
              </a:rPr>
              <a:t>• 같은 조건 재실행으로 결과 재현 가능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730"/>
                </a:solidFill>
              </a:rPr>
              <a:t>• Oracle Wait Interface(OWI): CPU 시간 vs 대기 시간 구분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730"/>
                </a:solidFill>
              </a:rPr>
              <a:t>• V$SESSION_EVENT로 "느린 이유"를 실측 증명</a:t>
            </a: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텍스트 개체 틀 3"/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pPr algn="r"/>
            <a:r>
              <a:rPr lang="en-US" altLang="ko-KR" sz="1600" dirty="0" smtClean="0"/>
              <a:t>Metric</a:t>
            </a:r>
            <a:r>
              <a:rPr lang="ko-KR" altLang="en-US" sz="1600" dirty="0" smtClean="0"/>
              <a:t/>
            </a:r>
            <a:endParaRPr lang="ko-KR" altLang="en-US" sz="1600" dirty="0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ko-KR" altLang="en-US" dirty="0" smtClean="0"/>
              <a:t>성능 측정 지표</a:t>
            </a:r>
            <a:r>
              <a:rPr lang="en-US" altLang="ko-KR" dirty="0" smtClean="0"/>
              <a:t/>
            </a:r>
            <a:endParaRPr lang="ko-KR" altLang="en-US" dirty="0"/>
          </a:p>
        </p:txBody>
      </p:sp>
      <p:sp>
        <p:nvSpPr>
          <p:cNvPr id="10" name="텍스트 개체 틀 4"/>
          <p:cNvSpPr>
            <a:spLocks noGrp="1"/>
          </p:cNvSpPr>
          <p:nvPr>
            <p:ph type="body" sz="quarter" idx="12"/>
          </p:nvPr>
        </p:nvSpPr>
        <p:spPr>
          <a:xfrm>
            <a:off x="234132" y="828303"/>
            <a:ext cx="7956884" cy="835266"/>
          </a:xfrm>
        </p:spPr>
        <p:txBody>
          <a:bodyPr vert="horz" lIns="91440" tIns="45720" rIns="91440" bIns="45720" rtlCol="0">
            <a:normAutofit/>
          </a:bodyPr>
          <a:lstStyle/>
          <a:p>
            <a:pPr defTabSz="914400">
              <a:spcBef>
                <a:spcPct val="20000"/>
              </a:spcBef>
            </a:pPr>
            <a:r>
              <a:rPr lang="en-US" altLang="ko-KR" sz="1600" dirty="0">
                <a:solidFill>
                  <a:srgbClr val="50646E"/>
                </a:solidFill>
              </a:rPr>
              <a:t>무엇을 재고 무엇을 비교했나</a:t>
            </a:r>
            <a:r>
              <a:rPr lang="ko-KR" altLang="en-US" sz="1600" dirty="0">
                <a:solidFill>
                  <a:srgbClr val="50646E"/>
                </a:solidFill>
              </a:rPr>
              <a:t/>
            </a:r>
            <a:r>
              <a:rPr lang="en-US" altLang="ko-KR" sz="1600" dirty="0">
                <a:solidFill>
                  <a:srgbClr val="50646E"/>
                </a:solidFill>
              </a:rPr>
              <a:t/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17624" y="1764296"/>
          <a:ext cx="1005840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9200"/>
                <a:gridCol w="5029200"/>
              </a:tblGrid>
              <a:tr h="384048">
                <a:tc>
                  <a:txBody>
                    <a:bodyPr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지표</a:t>
                      </a:r>
                    </a:p>
                  </a:txBody>
                  <a:tcPr anchor="ctr" marT="25400" marB="25400"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의미</a:t>
                      </a:r>
                    </a:p>
                  </a:txBody>
                  <a:tcPr anchor="ctr" marT="25400" marB="25400">
                    <a:solidFill>
                      <a:srgbClr val="1B2A4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222730"/>
                          </a:solidFill>
                        </a:rPr>
                        <a:t>총 소요시간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>
                          <a:solidFill>
                            <a:srgbClr val="222730"/>
                          </a:solidFill>
                        </a:rPr>
                        <a:t>배치 전체 경과(초)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222730"/>
                          </a:solidFill>
                        </a:rPr>
                        <a:t>건당 처리시간</a:t>
                      </a:r>
                    </a:p>
                  </a:txBody>
                  <a:tcPr anchor="ctr" marT="12700" marB="12700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>
                          <a:solidFill>
                            <a:srgbClr val="222730"/>
                          </a:solidFill>
                        </a:rPr>
                        <a:t>총시간 / 건수 (ms)</a:t>
                      </a:r>
                    </a:p>
                  </a:txBody>
                  <a:tcPr anchor="ctr" marT="12700" marB="12700">
                    <a:solidFill>
                      <a:srgbClr val="F2F4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222730"/>
                          </a:solidFill>
                        </a:rPr>
                        <a:t>건수 확장성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>
                          <a:solidFill>
                            <a:srgbClr val="222730"/>
                          </a:solidFill>
                        </a:rPr>
                        <a:t>건수 증가 시 건당 시간 추이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50">
                          <a:solidFill>
                            <a:srgbClr val="222730"/>
                          </a:solidFill>
                        </a:rPr>
                        <a:t>구간 기록</a:t>
                      </a:r>
                    </a:p>
                  </a:txBody>
                  <a:tcPr anchor="ctr" marT="12700" marB="12700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>
                          <a:solidFill>
                            <a:srgbClr val="222730"/>
                          </a:solidFill>
                        </a:rPr>
                        <a:t>BATCH_RUN_LOG의 start~end ORDER_ID</a:t>
                      </a:r>
                    </a:p>
                  </a:txBody>
                  <a:tcPr anchor="ctr" marT="12700" marB="12700"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텍스트 개체 틀 3"/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pPr algn="r"/>
            <a:r>
              <a:rPr lang="en-US" altLang="ko-KR" sz="1600" dirty="0" smtClean="0"/>
              <a:t>LogSync</a:t>
            </a:r>
            <a:r>
              <a:rPr lang="ko-KR" altLang="en-US" sz="1600" dirty="0" smtClean="0"/>
              <a:t/>
            </a:r>
            <a:endParaRPr lang="ko-KR" altLang="en-US" sz="1600" dirty="0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ko-KR" altLang="en-US" dirty="0" smtClean="0"/>
              <a:t>log file sync 심화</a:t>
            </a:r>
            <a:r>
              <a:rPr lang="en-US" altLang="ko-KR" dirty="0" smtClean="0"/>
              <a:t/>
            </a:r>
            <a:endParaRPr lang="ko-KR" altLang="en-US" dirty="0"/>
          </a:p>
        </p:txBody>
      </p:sp>
      <p:sp>
        <p:nvSpPr>
          <p:cNvPr id="10" name="텍스트 개체 틀 4"/>
          <p:cNvSpPr>
            <a:spLocks noGrp="1"/>
          </p:cNvSpPr>
          <p:nvPr>
            <p:ph type="body" sz="quarter" idx="12"/>
          </p:nvPr>
        </p:nvSpPr>
        <p:spPr>
          <a:xfrm>
            <a:off x="234132" y="828303"/>
            <a:ext cx="7956884" cy="835266"/>
          </a:xfrm>
        </p:spPr>
        <p:txBody>
          <a:bodyPr vert="horz" lIns="91440" tIns="45720" rIns="91440" bIns="45720" rtlCol="0">
            <a:normAutofit/>
          </a:bodyPr>
          <a:lstStyle/>
          <a:p>
            <a:pPr defTabSz="914400">
              <a:spcBef>
                <a:spcPct val="20000"/>
              </a:spcBef>
            </a:pPr>
            <a:r>
              <a:rPr lang="en-US" altLang="ko-KR" sz="1600" dirty="0">
                <a:solidFill>
                  <a:srgbClr val="50646E"/>
                </a:solidFill>
              </a:rPr>
              <a:t>건별 커밋이 남기는 구조적 대기</a:t>
            </a:r>
            <a:r>
              <a:rPr lang="ko-KR" altLang="en-US" sz="1600" dirty="0">
                <a:solidFill>
                  <a:srgbClr val="50646E"/>
                </a:solidFill>
              </a:rPr>
              <a:t/>
            </a:r>
            <a:r>
              <a:rPr lang="en-US" altLang="ko-KR" sz="1600" dirty="0">
                <a:solidFill>
                  <a:srgbClr val="50646E"/>
                </a:solidFill>
              </a:rPr>
              <a:t/>
            </a:r>
          </a:p>
        </p:txBody>
      </p:sp>
      <p:sp>
        <p:nvSpPr>
          <p:cNvPr id="11" name="내용 개체 틀 10"/>
          <p:cNvSpPr>
            <a:spLocks noGrp="1"/>
          </p:cNvSpPr>
          <p:nvPr>
            <p:ph idx="13"/>
          </p:nvPr>
        </p:nvSpPr>
        <p:spPr/>
        <p:txBody>
          <a:bodyPr wrap="square"/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730"/>
                </a:solidFill>
              </a:rPr>
              <a:t>• COMMIT 시 LGWR가 redo를 디스크에 동기 기록</a:t>
            </a:r>
            <a:endParaRPr lang="ko-KR" altLang="en-US" dirty="0"/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730"/>
                </a:solidFill>
              </a:rPr>
              <a:t>• 그 완료를 기다리는 대기 이벤트가 log file sync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730"/>
                </a:solidFill>
              </a:rPr>
              <a:t>• Durability(지속성)의 대가 → 제거하면 정합성 훼손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730"/>
                </a:solidFill>
              </a:rPr>
              <a:t>• 10만 건 = 10만 번의 동기 기록 → 구조적 하한선</a:t>
            </a:r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텍스트 개체 틀 3"/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pPr algn="r"/>
            <a:r>
              <a:rPr lang="en-US" altLang="ko-KR" sz="1600" dirty="0" smtClean="0"/>
              <a:t>BeforeAfter</a:t>
            </a:r>
            <a:r>
              <a:rPr lang="ko-KR" altLang="en-US" sz="1600" dirty="0" smtClean="0"/>
              <a:t/>
            </a:r>
            <a:endParaRPr lang="ko-KR" altLang="en-US" sz="1600" dirty="0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ko-KR" altLang="en-US" dirty="0" smtClean="0"/>
              <a:t>개선 전후 요약</a:t>
            </a:r>
            <a:r>
              <a:rPr lang="en-US" altLang="ko-KR" dirty="0" smtClean="0"/>
              <a:t/>
            </a:r>
            <a:endParaRPr lang="ko-KR" altLang="en-US" dirty="0"/>
          </a:p>
        </p:txBody>
      </p:sp>
      <p:sp>
        <p:nvSpPr>
          <p:cNvPr id="10" name="텍스트 개체 틀 4"/>
          <p:cNvSpPr>
            <a:spLocks noGrp="1"/>
          </p:cNvSpPr>
          <p:nvPr>
            <p:ph type="body" sz="quarter" idx="12"/>
          </p:nvPr>
        </p:nvSpPr>
        <p:spPr>
          <a:xfrm>
            <a:off x="234132" y="828303"/>
            <a:ext cx="7956884" cy="835266"/>
          </a:xfrm>
        </p:spPr>
        <p:txBody>
          <a:bodyPr vert="horz" lIns="91440" tIns="45720" rIns="91440" bIns="45720" rtlCol="0">
            <a:normAutofit/>
          </a:bodyPr>
          <a:lstStyle/>
          <a:p>
            <a:pPr defTabSz="914400">
              <a:spcBef>
                <a:spcPct val="20000"/>
              </a:spcBef>
            </a:pPr>
            <a:r>
              <a:rPr lang="en-US" altLang="ko-KR" sz="1600" dirty="0">
                <a:solidFill>
                  <a:srgbClr val="50646E"/>
                </a:solidFill>
              </a:rPr>
              <a:t>제거 가능한 병목만 사라짐</a:t>
            </a:r>
            <a:r>
              <a:rPr lang="ko-KR" altLang="en-US" sz="1600" dirty="0">
                <a:solidFill>
                  <a:srgbClr val="50646E"/>
                </a:solidFill>
              </a:rPr>
              <a:t/>
            </a:r>
            <a:r>
              <a:rPr lang="en-US" altLang="ko-KR" sz="1600" dirty="0">
                <a:solidFill>
                  <a:srgbClr val="50646E"/>
                </a:solidFill>
              </a:rPr>
              <a:t/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17624" y="1764296"/>
          <a:ext cx="1005840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52800"/>
                <a:gridCol w="3352800"/>
                <a:gridCol w="3352800"/>
              </a:tblGrid>
              <a:tr h="384048">
                <a:tc>
                  <a:txBody>
                    <a:bodyPr/>
                    <a:lstStyle/>
                    <a:p>
                      <a:pPr algn="ctr"/>
                      <a:r>
                        <a:rPr b="1" sz="1150">
                          <a:solidFill>
                            <a:srgbClr val="FFFFFF"/>
                          </a:solidFill>
                        </a:rPr>
                        <a:t>항목</a:t>
                      </a:r>
                    </a:p>
                  </a:txBody>
                  <a:tcPr anchor="ctr" marT="25400" marB="25400"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150">
                          <a:solidFill>
                            <a:srgbClr val="FFFFFF"/>
                          </a:solidFill>
                        </a:rPr>
                        <a:t>naive</a:t>
                      </a:r>
                    </a:p>
                  </a:txBody>
                  <a:tcPr anchor="ctr" marT="25400" marB="25400"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150">
                          <a:solidFill>
                            <a:srgbClr val="FFFFFF"/>
                          </a:solidFill>
                        </a:rPr>
                        <a:t>optimized</a:t>
                      </a:r>
                    </a:p>
                  </a:txBody>
                  <a:tcPr anchor="ctr" marT="25400" marB="25400">
                    <a:solidFill>
                      <a:srgbClr val="1B2A4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222730"/>
                          </a:solidFill>
                        </a:rPr>
                        <a:t>채번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22730"/>
                          </a:solidFill>
                        </a:rPr>
                        <a:t>MAX+1 재조회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22730"/>
                          </a:solidFill>
                        </a:rPr>
                        <a:t>SEQUENCE CACHE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222730"/>
                          </a:solidFill>
                        </a:rPr>
                        <a:t>ID 조회</a:t>
                      </a:r>
                    </a:p>
                  </a:txBody>
                  <a:tcPr anchor="ctr" marT="12700" marB="12700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22730"/>
                          </a:solidFill>
                        </a:rPr>
                        <a:t>매 반복 전체정렬</a:t>
                      </a:r>
                    </a:p>
                  </a:txBody>
                  <a:tcPr anchor="ctr" marT="12700" marB="12700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22730"/>
                          </a:solidFill>
                        </a:rPr>
                        <a:t>BULK COLLECT 1회</a:t>
                      </a:r>
                    </a:p>
                  </a:txBody>
                  <a:tcPr anchor="ctr" marT="12700" marB="12700">
                    <a:solidFill>
                      <a:srgbClr val="F2F4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222730"/>
                          </a:solidFill>
                        </a:rPr>
                        <a:t>커밋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22730"/>
                          </a:solidFill>
                        </a:rPr>
                        <a:t>건별(유지)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22730"/>
                          </a:solidFill>
                        </a:rPr>
                        <a:t>건별(유지)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222730"/>
                          </a:solidFill>
                        </a:rPr>
                        <a:t>건당시간</a:t>
                      </a:r>
                    </a:p>
                  </a:txBody>
                  <a:tcPr anchor="ctr" marT="12700" marB="12700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22730"/>
                          </a:solidFill>
                        </a:rPr>
                        <a:t>상대적 느림</a:t>
                      </a:r>
                    </a:p>
                  </a:txBody>
                  <a:tcPr anchor="ctr" marT="12700" marB="12700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22730"/>
                          </a:solidFill>
                        </a:rPr>
                        <a:t>2.0→0.57ms(건수↑)</a:t>
                      </a:r>
                    </a:p>
                  </a:txBody>
                  <a:tcPr anchor="ctr" marT="12700" marB="12700"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텍스트 개체 틀 3"/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pPr algn="r"/>
            <a:r>
              <a:rPr lang="en-US" altLang="ko-KR" sz="1600" dirty="0" smtClean="0"/>
              <a:t>Appendix</a:t>
            </a:r>
            <a:r>
              <a:rPr lang="ko-KR" altLang="en-US" sz="1600" dirty="0" smtClean="0"/>
              <a:t/>
            </a:r>
            <a:endParaRPr lang="ko-KR" altLang="en-US" sz="1600" dirty="0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ko-KR" altLang="en-US" dirty="0" smtClean="0"/>
              <a:t>부록 A — 핵심 개념 (1/2)</a:t>
            </a:r>
            <a:r>
              <a:rPr lang="en-US" altLang="ko-KR" dirty="0" smtClean="0"/>
              <a:t/>
            </a:r>
            <a:endParaRPr lang="ko-KR" altLang="en-US" dirty="0"/>
          </a:p>
        </p:txBody>
      </p:sp>
      <p:sp>
        <p:nvSpPr>
          <p:cNvPr id="10" name="텍스트 개체 틀 4"/>
          <p:cNvSpPr>
            <a:spLocks noGrp="1"/>
          </p:cNvSpPr>
          <p:nvPr>
            <p:ph type="body" sz="quarter" idx="12"/>
          </p:nvPr>
        </p:nvSpPr>
        <p:spPr>
          <a:xfrm>
            <a:off x="234132" y="828303"/>
            <a:ext cx="7956884" cy="835266"/>
          </a:xfrm>
        </p:spPr>
        <p:txBody>
          <a:bodyPr vert="horz" lIns="91440" tIns="45720" rIns="91440" bIns="45720" rtlCol="0">
            <a:normAutofit/>
          </a:bodyPr>
          <a:lstStyle/>
          <a:p>
            <a:pPr defTabSz="914400">
              <a:spcBef>
                <a:spcPct val="20000"/>
              </a:spcBef>
            </a:pPr>
            <a:r>
              <a:rPr lang="en-US" altLang="ko-KR" sz="1600" dirty="0">
                <a:solidFill>
                  <a:srgbClr val="50646E"/>
                </a:solidFill>
              </a:rPr>
              <a:t>발표 중 등장한 성능·정합성 용어</a:t>
            </a:r>
            <a:r>
              <a:rPr lang="ko-KR" altLang="en-US" sz="1600" dirty="0">
                <a:solidFill>
                  <a:srgbClr val="50646E"/>
                </a:solidFill>
              </a:rPr>
              <a:t/>
            </a:r>
            <a:r>
              <a:rPr lang="en-US" altLang="ko-KR" sz="1600" dirty="0">
                <a:solidFill>
                  <a:srgbClr val="50646E"/>
                </a:solidFill>
              </a:rPr>
              <a:t/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17624" y="1764296"/>
          <a:ext cx="10058400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9200"/>
                <a:gridCol w="5029200"/>
              </a:tblGrid>
              <a:tr h="384048">
                <a:tc>
                  <a:txBody>
                    <a:bodyPr/>
                    <a:lstStyle/>
                    <a:p>
                      <a:pPr algn="ctr"/>
                      <a:r>
                        <a:rPr b="1" sz="1150">
                          <a:solidFill>
                            <a:srgbClr val="FFFFFF"/>
                          </a:solidFill>
                        </a:rPr>
                        <a:t>용어</a:t>
                      </a:r>
                    </a:p>
                  </a:txBody>
                  <a:tcPr anchor="ctr" marT="25400" marB="25400"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150">
                          <a:solidFill>
                            <a:srgbClr val="FFFFFF"/>
                          </a:solidFill>
                        </a:rPr>
                        <a:t>요약</a:t>
                      </a:r>
                    </a:p>
                  </a:txBody>
                  <a:tcPr anchor="ctr" marT="25400" marB="25400">
                    <a:solidFill>
                      <a:srgbClr val="1B2A4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222730"/>
                          </a:solidFill>
                        </a:rPr>
                        <a:t>컨텍스트 스위칭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22730"/>
                          </a:solidFill>
                        </a:rPr>
                        <a:t>PL/SQL↔SQL 엔진 전환의 고정 비용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222730"/>
                          </a:solidFill>
                        </a:rPr>
                        <a:t>TOCTOU 경쟁상태</a:t>
                      </a:r>
                    </a:p>
                  </a:txBody>
                  <a:tcPr anchor="ctr" marT="12700" marB="12700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22730"/>
                          </a:solidFill>
                        </a:rPr>
                        <a:t>확인~사용 사이 값이 바뀌는 상황</a:t>
                      </a:r>
                    </a:p>
                  </a:txBody>
                  <a:tcPr anchor="ctr" marT="12700" marB="12700">
                    <a:solidFill>
                      <a:srgbClr val="F2F4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222730"/>
                          </a:solidFill>
                        </a:rPr>
                        <a:t>시퀀스 캐시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22730"/>
                          </a:solidFill>
                        </a:rPr>
                        <a:t>CACHE n으로 채번값을 SGA에 선확보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222730"/>
                          </a:solidFill>
                        </a:rPr>
                        <a:t>BULK COLLECT</a:t>
                      </a:r>
                    </a:p>
                  </a:txBody>
                  <a:tcPr anchor="ctr" marT="12700" marB="12700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22730"/>
                          </a:solidFill>
                        </a:rPr>
                        <a:t>다행 조회를 배열에 1회 적재</a:t>
                      </a:r>
                    </a:p>
                  </a:txBody>
                  <a:tcPr anchor="ctr" marT="12700" marB="12700">
                    <a:solidFill>
                      <a:srgbClr val="F2F4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222730"/>
                          </a:solidFill>
                        </a:rPr>
                        <a:t>집합적 처리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22730"/>
                          </a:solidFill>
                        </a:rPr>
                        <a:t>set 연산 최적화(vs row-by-row)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텍스트 개체 틀 3"/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pPr algn="r"/>
            <a:r>
              <a:rPr lang="en-US" altLang="ko-KR" sz="1600" dirty="0" smtClean="0"/>
              <a:t>Appendix</a:t>
            </a:r>
            <a:r>
              <a:rPr lang="ko-KR" altLang="en-US" sz="1600" dirty="0" smtClean="0"/>
              <a:t/>
            </a:r>
            <a:endParaRPr lang="ko-KR" altLang="en-US" sz="1600" dirty="0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ko-KR" altLang="en-US" dirty="0" smtClean="0"/>
              <a:t>부록 A — 핵심 개념 (2/2)</a:t>
            </a:r>
            <a:r>
              <a:rPr lang="en-US" altLang="ko-KR" dirty="0" smtClean="0"/>
              <a:t/>
            </a:r>
            <a:endParaRPr lang="ko-KR" altLang="en-US" dirty="0"/>
          </a:p>
        </p:txBody>
      </p:sp>
      <p:sp>
        <p:nvSpPr>
          <p:cNvPr id="10" name="텍스트 개체 틀 4"/>
          <p:cNvSpPr>
            <a:spLocks noGrp="1"/>
          </p:cNvSpPr>
          <p:nvPr>
            <p:ph type="body" sz="quarter" idx="12"/>
          </p:nvPr>
        </p:nvSpPr>
        <p:spPr>
          <a:xfrm>
            <a:off x="234132" y="828303"/>
            <a:ext cx="7956884" cy="835266"/>
          </a:xfrm>
        </p:spPr>
        <p:txBody>
          <a:bodyPr vert="horz" lIns="91440" tIns="45720" rIns="91440" bIns="45720" rtlCol="0">
            <a:normAutofit/>
          </a:bodyPr>
          <a:lstStyle/>
          <a:p>
            <a:pPr defTabSz="914400">
              <a:spcBef>
                <a:spcPct val="20000"/>
              </a:spcBef>
            </a:pPr>
            <a:r>
              <a:rPr lang="en-US" altLang="ko-KR" sz="1600" dirty="0">
                <a:solidFill>
                  <a:srgbClr val="50646E"/>
                </a:solidFill>
              </a:rPr>
              <a:t>트랜잭션·복구 관련 용어</a:t>
            </a:r>
            <a:r>
              <a:rPr lang="ko-KR" altLang="en-US" sz="1600" dirty="0">
                <a:solidFill>
                  <a:srgbClr val="50646E"/>
                </a:solidFill>
              </a:rPr>
              <a:t/>
            </a:r>
            <a:r>
              <a:rPr lang="en-US" altLang="ko-KR" sz="1600" dirty="0">
                <a:solidFill>
                  <a:srgbClr val="50646E"/>
                </a:solidFill>
              </a:rPr>
              <a:t/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17624" y="1764296"/>
          <a:ext cx="10058400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9200"/>
                <a:gridCol w="5029200"/>
              </a:tblGrid>
              <a:tr h="384048">
                <a:tc>
                  <a:txBody>
                    <a:bodyPr/>
                    <a:lstStyle/>
                    <a:p>
                      <a:pPr algn="ctr"/>
                      <a:r>
                        <a:rPr b="1" sz="1150">
                          <a:solidFill>
                            <a:srgbClr val="FFFFFF"/>
                          </a:solidFill>
                        </a:rPr>
                        <a:t>용어</a:t>
                      </a:r>
                    </a:p>
                  </a:txBody>
                  <a:tcPr anchor="ctr" marT="25400" marB="25400"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150">
                          <a:solidFill>
                            <a:srgbClr val="FFFFFF"/>
                          </a:solidFill>
                        </a:rPr>
                        <a:t>요약</a:t>
                      </a:r>
                    </a:p>
                  </a:txBody>
                  <a:tcPr anchor="ctr" marT="25400" marB="25400">
                    <a:solidFill>
                      <a:srgbClr val="1B2A4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222730"/>
                          </a:solidFill>
                        </a:rPr>
                        <a:t>트랜잭션 경계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22730"/>
                          </a:solidFill>
                        </a:rPr>
                        <a:t>한 트랜잭션의 범위(=주문 1건)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222730"/>
                          </a:solidFill>
                        </a:rPr>
                        <a:t>Durability</a:t>
                      </a:r>
                    </a:p>
                  </a:txBody>
                  <a:tcPr anchor="ctr" marT="12700" marB="12700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22730"/>
                          </a:solidFill>
                        </a:rPr>
                        <a:t>커밋 데이터의 장애 내구성(ACID D)</a:t>
                      </a:r>
                    </a:p>
                  </a:txBody>
                  <a:tcPr anchor="ctr" marT="12700" marB="12700">
                    <a:solidFill>
                      <a:srgbClr val="F2F4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222730"/>
                          </a:solidFill>
                        </a:rPr>
                        <a:t>Redo Log / LGWR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22730"/>
                          </a:solidFill>
                        </a:rPr>
                        <a:t>커밋 시 redo 기록 → log file sync 대기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222730"/>
                          </a:solidFill>
                        </a:rPr>
                        <a:t>관측가능성/재현성</a:t>
                      </a:r>
                    </a:p>
                  </a:txBody>
                  <a:tcPr anchor="ctr" marT="12700" marB="12700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22730"/>
                          </a:solidFill>
                        </a:rPr>
                        <a:t>수치 기록·재현(BATCH_RUN_LOG)</a:t>
                      </a:r>
                    </a:p>
                  </a:txBody>
                  <a:tcPr anchor="ctr" marT="12700" marB="12700">
                    <a:solidFill>
                      <a:srgbClr val="F2F4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222730"/>
                          </a:solidFill>
                        </a:rPr>
                        <a:t>Oracle Wait Interface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22730"/>
                          </a:solidFill>
                        </a:rPr>
                        <a:t>CPU vs 대기 구분 진단 체계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텍스트 개체 틀 3"/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pPr algn="r"/>
            <a:r>
              <a:rPr lang="en-US" altLang="ko-KR" sz="1600" dirty="0" smtClean="0"/>
              <a:t>Appendix</a:t>
            </a:r>
            <a:r>
              <a:rPr lang="ko-KR" altLang="en-US" sz="1600" dirty="0" smtClean="0"/>
              <a:t/>
            </a:r>
            <a:endParaRPr lang="ko-KR" altLang="en-US" sz="1600" dirty="0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ko-KR" altLang="en-US" dirty="0" smtClean="0"/>
              <a:t>부록 B — 실습 환경·도구</a:t>
            </a:r>
            <a:r>
              <a:rPr lang="en-US" altLang="ko-KR" dirty="0" smtClean="0"/>
              <a:t/>
            </a:r>
            <a:endParaRPr lang="ko-KR" altLang="en-US" dirty="0"/>
          </a:p>
        </p:txBody>
      </p:sp>
      <p:sp>
        <p:nvSpPr>
          <p:cNvPr id="10" name="텍스트 개체 틀 4"/>
          <p:cNvSpPr>
            <a:spLocks noGrp="1"/>
          </p:cNvSpPr>
          <p:nvPr>
            <p:ph type="body" sz="quarter" idx="12"/>
          </p:nvPr>
        </p:nvSpPr>
        <p:spPr>
          <a:xfrm>
            <a:off x="234132" y="828303"/>
            <a:ext cx="7956884" cy="835266"/>
          </a:xfrm>
        </p:spPr>
        <p:txBody>
          <a:bodyPr vert="horz" lIns="91440" tIns="45720" rIns="91440" bIns="45720" rtlCol="0">
            <a:normAutofit/>
          </a:bodyPr>
          <a:lstStyle/>
          <a:p>
            <a:pPr defTabSz="914400">
              <a:spcBef>
                <a:spcPct val="20000"/>
              </a:spcBef>
            </a:pPr>
            <a:r>
              <a:rPr lang="en-US" altLang="ko-KR" sz="1600" dirty="0">
                <a:solidFill>
                  <a:srgbClr val="50646E"/>
                </a:solidFill>
              </a:rPr>
              <a:t>재현 가능한 분석 기반</a:t>
            </a:r>
            <a:r>
              <a:rPr lang="ko-KR" altLang="en-US" sz="1600" dirty="0">
                <a:solidFill>
                  <a:srgbClr val="50646E"/>
                </a:solidFill>
              </a:rPr>
              <a:t/>
            </a:r>
            <a:r>
              <a:rPr lang="en-US" altLang="ko-KR" sz="1600" dirty="0">
                <a:solidFill>
                  <a:srgbClr val="50646E"/>
                </a:solidFill>
              </a:rPr>
              <a:t/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17624" y="1764296"/>
          <a:ext cx="10058400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9200"/>
                <a:gridCol w="5029200"/>
              </a:tblGrid>
              <a:tr h="384048">
                <a:tc>
                  <a:txBody>
                    <a:bodyPr/>
                    <a:lstStyle/>
                    <a:p>
                      <a:pPr algn="ctr"/>
                      <a:r>
                        <a:rPr b="1" sz="1150">
                          <a:solidFill>
                            <a:srgbClr val="FFFFFF"/>
                          </a:solidFill>
                        </a:rPr>
                        <a:t>구분</a:t>
                      </a:r>
                    </a:p>
                  </a:txBody>
                  <a:tcPr anchor="ctr" marT="25400" marB="25400"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150">
                          <a:solidFill>
                            <a:srgbClr val="FFFFFF"/>
                          </a:solidFill>
                        </a:rPr>
                        <a:t>도구/환경</a:t>
                      </a:r>
                    </a:p>
                  </a:txBody>
                  <a:tcPr anchor="ctr" marT="25400" marB="25400">
                    <a:solidFill>
                      <a:srgbClr val="1B2A4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222730"/>
                          </a:solidFill>
                        </a:rPr>
                        <a:t>DBMS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22730"/>
                          </a:solidFill>
                        </a:rPr>
                        <a:t>Oracle Database (ARCHIVELOG)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222730"/>
                          </a:solidFill>
                        </a:rPr>
                        <a:t>클라이언트</a:t>
                      </a:r>
                    </a:p>
                  </a:txBody>
                  <a:tcPr anchor="ctr" marT="12700" marB="12700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22730"/>
                          </a:solidFill>
                        </a:rPr>
                        <a:t>SQL*Plus / DBeaver</a:t>
                      </a:r>
                    </a:p>
                  </a:txBody>
                  <a:tcPr anchor="ctr" marT="12700" marB="12700">
                    <a:solidFill>
                      <a:srgbClr val="F2F4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222730"/>
                          </a:solidFill>
                        </a:rPr>
                        <a:t>실행계획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22730"/>
                          </a:solidFill>
                        </a:rPr>
                        <a:t>EXPLAIN·AUTOTRACE·DBMS_XPLAN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222730"/>
                          </a:solidFill>
                        </a:rPr>
                        <a:t>복구</a:t>
                      </a:r>
                    </a:p>
                  </a:txBody>
                  <a:tcPr anchor="ctr" marT="12700" marB="12700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22730"/>
                          </a:solidFill>
                        </a:rPr>
                        <a:t>RMAN · Flashback</a:t>
                      </a:r>
                    </a:p>
                  </a:txBody>
                  <a:tcPr anchor="ctr" marT="12700" marB="12700">
                    <a:solidFill>
                      <a:srgbClr val="F2F4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222730"/>
                          </a:solidFill>
                        </a:rPr>
                        <a:t>배치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22730"/>
                          </a:solidFill>
                        </a:rPr>
                        <a:t>PL/SQL · BULK COLLECT · SEQUENCE</a:t>
                      </a:r>
                    </a:p>
                  </a:txBody>
                  <a:tcPr anchor="ctr" marT="12700" marB="127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텍스트 개체 틀 3"/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pPr algn="r"/>
            <a:r>
              <a:rPr lang="en-US" altLang="ko-KR" sz="1600" dirty="0" smtClean="0"/>
              <a:t>Appendix</a:t>
            </a:r>
            <a:r>
              <a:rPr lang="ko-KR" altLang="en-US" sz="1600" dirty="0" smtClean="0"/>
              <a:t/>
            </a:r>
            <a:endParaRPr lang="ko-KR" altLang="en-US" sz="1600" dirty="0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ko-KR" altLang="en-US" dirty="0" smtClean="0"/>
              <a:t>부록 C — 산출물</a:t>
            </a:r>
            <a:r>
              <a:rPr lang="en-US" altLang="ko-KR" dirty="0" smtClean="0"/>
              <a:t/>
            </a:r>
            <a:endParaRPr lang="ko-KR" altLang="en-US" dirty="0"/>
          </a:p>
        </p:txBody>
      </p:sp>
      <p:sp>
        <p:nvSpPr>
          <p:cNvPr id="10" name="텍스트 개체 틀 4"/>
          <p:cNvSpPr>
            <a:spLocks noGrp="1"/>
          </p:cNvSpPr>
          <p:nvPr>
            <p:ph type="body" sz="quarter" idx="12"/>
          </p:nvPr>
        </p:nvSpPr>
        <p:spPr>
          <a:xfrm>
            <a:off x="234132" y="828303"/>
            <a:ext cx="7956884" cy="835266"/>
          </a:xfrm>
        </p:spPr>
        <p:txBody>
          <a:bodyPr vert="horz" lIns="91440" tIns="45720" rIns="91440" bIns="45720" rtlCol="0">
            <a:normAutofit/>
          </a:bodyPr>
          <a:lstStyle/>
          <a:p>
            <a:pPr defTabSz="914400">
              <a:spcBef>
                <a:spcPct val="20000"/>
              </a:spcBef>
            </a:pPr>
            <a:r>
              <a:rPr lang="en-US" altLang="ko-KR" sz="1600" dirty="0">
                <a:solidFill>
                  <a:srgbClr val="50646E"/>
                </a:solidFill>
              </a:rPr>
              <a:t>파트별 스크립트·기록</a:t>
            </a:r>
            <a:r>
              <a:rPr lang="ko-KR" altLang="en-US" sz="1600" dirty="0">
                <a:solidFill>
                  <a:srgbClr val="50646E"/>
                </a:solidFill>
              </a:rPr>
              <a:t/>
            </a:r>
            <a:r>
              <a:rPr lang="en-US" altLang="ko-KR" sz="1600" dirty="0">
                <a:solidFill>
                  <a:srgbClr val="50646E"/>
                </a:solidFill>
              </a:rPr>
              <a:t/>
            </a:r>
          </a:p>
        </p:txBody>
      </p:sp>
      <p:sp>
        <p:nvSpPr>
          <p:cNvPr id="11" name="내용 개체 틀 10"/>
          <p:cNvSpPr>
            <a:spLocks noGrp="1"/>
          </p:cNvSpPr>
          <p:nvPr>
            <p:ph idx="13"/>
          </p:nvPr>
        </p:nvSpPr>
        <p:spPr/>
        <p:txBody>
          <a:bodyPr wrap="square"/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730"/>
                </a:solidFill>
              </a:rPr>
              <a:t>• Part1: 역공학 조회·검증 SQL, 트랜잭션 T1~T7 스크립트</a:t>
            </a:r>
            <a:endParaRPr lang="ko-KR" altLang="en-US" dirty="0"/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730"/>
                </a:solidFill>
              </a:rPr>
              <a:t>• Part2: 분석 쿼리, 실행계획·복합 인덱스 실험 스크립트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730"/>
                </a:solidFill>
              </a:rPr>
              <a:t>• Part3: TS 격리 setup, Case1~4 복구 스크립트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730"/>
                </a:solidFill>
              </a:rPr>
              <a:t>• Part4·5: naive/optimized/cleanup 프로시저, BATCH_RUN_LOG</a:t>
            </a:r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텍스트 개체 틀 3"/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pPr algn="r"/>
            <a:r>
              <a:rPr lang="en-US" altLang="ko-KR" sz="1600" dirty="0" smtClean="0"/>
              <a:t>Appendix</a:t>
            </a:r>
            <a:r>
              <a:rPr lang="ko-KR" altLang="en-US" sz="1600" dirty="0" smtClean="0"/>
              <a:t/>
            </a:r>
            <a:endParaRPr lang="ko-KR" altLang="en-US" sz="1600" dirty="0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ko-KR" altLang="en-US" dirty="0" smtClean="0"/>
              <a:t>부록 D — 한계 &amp; 향후 과제</a:t>
            </a:r>
            <a:r>
              <a:rPr lang="en-US" altLang="ko-KR" dirty="0" smtClean="0"/>
              <a:t/>
            </a:r>
            <a:endParaRPr lang="ko-KR" altLang="en-US" dirty="0"/>
          </a:p>
        </p:txBody>
      </p:sp>
      <p:sp>
        <p:nvSpPr>
          <p:cNvPr id="10" name="텍스트 개체 틀 4"/>
          <p:cNvSpPr>
            <a:spLocks noGrp="1"/>
          </p:cNvSpPr>
          <p:nvPr>
            <p:ph type="body" sz="quarter" idx="12"/>
          </p:nvPr>
        </p:nvSpPr>
        <p:spPr>
          <a:xfrm>
            <a:off x="234132" y="828303"/>
            <a:ext cx="7956884" cy="835266"/>
          </a:xfrm>
        </p:spPr>
        <p:txBody>
          <a:bodyPr vert="horz" lIns="91440" tIns="45720" rIns="91440" bIns="45720" rtlCol="0">
            <a:normAutofit/>
          </a:bodyPr>
          <a:lstStyle/>
          <a:p>
            <a:pPr defTabSz="914400">
              <a:spcBef>
                <a:spcPct val="20000"/>
              </a:spcBef>
            </a:pPr>
            <a:r>
              <a:rPr lang="en-US" altLang="ko-KR" sz="1600" dirty="0">
                <a:solidFill>
                  <a:srgbClr val="50646E"/>
                </a:solidFill>
              </a:rPr>
              <a:t>남은 실측·검증 항목</a:t>
            </a:r>
            <a:r>
              <a:rPr lang="ko-KR" altLang="en-US" sz="1600" dirty="0">
                <a:solidFill>
                  <a:srgbClr val="50646E"/>
                </a:solidFill>
              </a:rPr>
              <a:t/>
            </a:r>
            <a:r>
              <a:rPr lang="en-US" altLang="ko-KR" sz="1600" dirty="0">
                <a:solidFill>
                  <a:srgbClr val="50646E"/>
                </a:solidFill>
              </a:rPr>
              <a:t/>
            </a:r>
          </a:p>
        </p:txBody>
      </p:sp>
      <p:sp>
        <p:nvSpPr>
          <p:cNvPr id="11" name="내용 개체 틀 10"/>
          <p:cNvSpPr>
            <a:spLocks noGrp="1"/>
          </p:cNvSpPr>
          <p:nvPr>
            <p:ph idx="13"/>
          </p:nvPr>
        </p:nvSpPr>
        <p:spPr/>
        <p:txBody>
          <a:bodyPr wrap="square"/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730"/>
                </a:solidFill>
              </a:rPr>
              <a:t>• A-Rows·Buffers 실측치, 2세션 고립성 결과 등 일부 캡처 필요</a:t>
            </a:r>
            <a:endParaRPr lang="ko-KR" altLang="en-US" dirty="0"/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730"/>
                </a:solidFill>
              </a:rPr>
              <a:t>• 합성 데이터 특성상 실운영 시계열과 차이 존재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730"/>
                </a:solidFill>
              </a:rPr>
              <a:t>• Case별 정확한 다운타임은 정량 측정으로 보강 여지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730"/>
                </a:solidFill>
              </a:rPr>
              <a:t>• 향후: 파티셔닝·병렬 DML 등 추가 튜닝 검토</a:t>
            </a: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텍스트 개체 틀 3"/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pPr algn="r"/>
            <a:r>
              <a:rPr lang="en-US" altLang="ko-KR" sz="1600" dirty="0" smtClean="0"/>
              <a:t>Wrap-up</a:t>
            </a:r>
            <a:r>
              <a:rPr lang="ko-KR" altLang="en-US" sz="1600" dirty="0" smtClean="0"/>
              <a:t/>
            </a:r>
            <a:endParaRPr lang="ko-KR" altLang="en-US" sz="1600" dirty="0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ko-KR" altLang="en-US" dirty="0" smtClean="0"/>
              <a:t>종합 결론</a:t>
            </a:r>
            <a:r>
              <a:rPr lang="en-US" altLang="ko-KR" dirty="0" smtClean="0"/>
              <a:t/>
            </a:r>
            <a:endParaRPr lang="ko-KR" altLang="en-US" dirty="0"/>
          </a:p>
        </p:txBody>
      </p:sp>
      <p:sp>
        <p:nvSpPr>
          <p:cNvPr id="10" name="텍스트 개체 틀 4"/>
          <p:cNvSpPr>
            <a:spLocks noGrp="1"/>
          </p:cNvSpPr>
          <p:nvPr>
            <p:ph type="body" sz="quarter" idx="12"/>
          </p:nvPr>
        </p:nvSpPr>
        <p:spPr>
          <a:xfrm>
            <a:off x="234132" y="828303"/>
            <a:ext cx="7956884" cy="835266"/>
          </a:xfrm>
        </p:spPr>
        <p:txBody>
          <a:bodyPr vert="horz" lIns="91440" tIns="45720" rIns="91440" bIns="45720" rtlCol="0">
            <a:normAutofit/>
          </a:bodyPr>
          <a:lstStyle/>
          <a:p>
            <a:pPr defTabSz="914400">
              <a:spcBef>
                <a:spcPct val="20000"/>
              </a:spcBef>
            </a:pPr>
            <a:r>
              <a:rPr lang="en-US" altLang="ko-KR" sz="1600" dirty="0">
                <a:solidFill>
                  <a:srgbClr val="50646E"/>
                </a:solidFill>
              </a:rPr>
              <a:t>5개 Part를 관통하는 실무 교훈</a:t>
            </a:r>
            <a:r>
              <a:rPr lang="ko-KR" altLang="en-US" sz="1600" dirty="0">
                <a:solidFill>
                  <a:srgbClr val="50646E"/>
                </a:solidFill>
              </a:rPr>
              <a:t/>
            </a:r>
            <a:r>
              <a:rPr lang="en-US" altLang="ko-KR" sz="1600" dirty="0">
                <a:solidFill>
                  <a:srgbClr val="50646E"/>
                </a:solidFill>
              </a:rPr>
              <a:t/>
            </a:r>
          </a:p>
        </p:txBody>
      </p:sp>
      <p:sp>
        <p:nvSpPr>
          <p:cNvPr id="11" name="내용 개체 틀 10"/>
          <p:cNvSpPr>
            <a:spLocks noGrp="1"/>
          </p:cNvSpPr>
          <p:nvPr>
            <p:ph idx="13"/>
          </p:nvPr>
        </p:nvSpPr>
        <p:spPr/>
        <p:txBody>
          <a:bodyPr wrap="square"/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730"/>
                </a:solidFill>
              </a:rPr>
              <a:t>• 스키마: 제약조건(PK/FK)이 업무 규칙을 드러냄 — 실측으로 검증</a:t>
            </a:r>
            <a:endParaRPr lang="ko-KR" altLang="en-US" dirty="0"/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730"/>
                </a:solidFill>
              </a:rPr>
              <a:t>• 트랜잭션: 다중 테이블 갱신은 하나의 트랜잭션으로 묶어 정합성 보장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730"/>
                </a:solidFill>
              </a:rPr>
              <a:t>• SQL 튜닝: 인덱스 효용은 워크로드(OLTP vs DSS)에 따라 다름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730"/>
                </a:solidFill>
              </a:rPr>
              <a:t>• 백업/복구: 사전 테이블스페이스 격리 설계가 무중단 복구의 전제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730"/>
                </a:solidFill>
              </a:rPr>
              <a:t>• 배치: 정합성은 설계로, 병목은 제거 가능/구조적으로 구분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 테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테마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디자인 사용자 지정">
  <a:themeElements>
    <a:clrScheme name="다우색상">
      <a:dk1>
        <a:sysClr val="windowText" lastClr="000000"/>
      </a:dk1>
      <a:lt1>
        <a:srgbClr val="FFFFFF"/>
      </a:lt1>
      <a:dk2>
        <a:srgbClr val="323C46"/>
      </a:dk2>
      <a:lt2>
        <a:srgbClr val="FFFFFF"/>
      </a:lt2>
      <a:accent1>
        <a:srgbClr val="2482C8"/>
      </a:accent1>
      <a:accent2>
        <a:srgbClr val="005AAA"/>
      </a:accent2>
      <a:accent3>
        <a:srgbClr val="68AEE0"/>
      </a:accent3>
      <a:accent4>
        <a:srgbClr val="50646E"/>
      </a:accent4>
      <a:accent5>
        <a:srgbClr val="8C9398"/>
      </a:accent5>
      <a:accent6>
        <a:srgbClr val="B4BCBE"/>
      </a:accent6>
      <a:hlink>
        <a:srgbClr val="005AAA"/>
      </a:hlink>
      <a:folHlink>
        <a:srgbClr val="8C9398"/>
      </a:folHlink>
    </a:clrScheme>
    <a:fontScheme name="다우글꼴">
      <a:majorFont>
        <a:latin typeface="다키 M Title"/>
        <a:ea typeface="다키 L"/>
        <a:cs typeface=""/>
      </a:majorFont>
      <a:minorFont>
        <a:latin typeface="다키 M"/>
        <a:ea typeface="다키 L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58</TotalTime>
  <Words>73</Words>
  <Application>Microsoft Office PowerPoint</Application>
  <PresentationFormat>사용자 지정</PresentationFormat>
  <Paragraphs>28</Paragraphs>
  <Slides>5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8</vt:i4>
      </vt:variant>
      <vt:variant>
        <vt:lpstr>테마</vt:lpstr>
      </vt:variant>
      <vt:variant>
        <vt:i4>2</vt:i4>
      </vt:variant>
      <vt:variant>
        <vt:lpstr>슬라이드 제목</vt:lpstr>
      </vt:variant>
      <vt:variant>
        <vt:i4>5</vt:i4>
      </vt:variant>
    </vt:vector>
  </HeadingPairs>
  <TitlesOfParts>
    <vt:vector size="15" baseType="lpstr">
      <vt:lpstr>다키 B</vt:lpstr>
      <vt:lpstr>다키 L</vt:lpstr>
      <vt:lpstr>다키 M</vt:lpstr>
      <vt:lpstr>다키 M Title</vt:lpstr>
      <vt:lpstr>맑은 고딕</vt:lpstr>
      <vt:lpstr>Arial</vt:lpstr>
      <vt:lpstr>Calibri</vt:lpstr>
      <vt:lpstr>Calibri Light</vt:lpstr>
      <vt:lpstr>Office 테마</vt:lpstr>
      <vt:lpstr>디자인 사용자 지정</vt:lpstr>
      <vt:lpstr>표지 부제목 입력</vt:lpstr>
      <vt:lpstr>Table of Contents</vt:lpstr>
      <vt:lpstr>간지 타이틀 입력</vt:lpstr>
      <vt:lpstr>PowerPoint 프레젠테이션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Windows 사용자</dc:creator>
  <cp:lastModifiedBy>DAOU</cp:lastModifiedBy>
  <cp:revision>121</cp:revision>
  <dcterms:created xsi:type="dcterms:W3CDTF">2018-09-10T06:50:11Z</dcterms:created>
  <dcterms:modified xsi:type="dcterms:W3CDTF">2026-07-07T10:38:47Z</dcterms:modified>
</cp:coreProperties>
</file>
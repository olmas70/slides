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F6FED"/>
                </a:solidFill>
                <a:latin typeface="Malgun Gothic"/>
              </a:rPr>
              <a:t>스키마 분석 및 트랜잭션 시뮬레이션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1B2A4A"/>
                </a:solidFill>
                <a:latin typeface="Malgun Gothic"/>
              </a:rPr>
              <a:t>인터넷 서점(BO) 스키마</a:t>
            </a:r>
          </a:p>
          <a:p>
            <a:pPr algn="l">
              <a:lnSpc>
                <a:spcPct val="110000"/>
              </a:lnSpc>
            </a:pPr>
            <a:r>
              <a:rPr sz="3800" b="1">
                <a:solidFill>
                  <a:srgbClr val="1B2A4A"/>
                </a:solidFill>
                <a:latin typeface="Malgun Gothic"/>
              </a:rPr>
              <a:t>ERD 역공학 및 구조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370"/>
                </a:solidFill>
                <a:latin typeface="Malgun Gothic"/>
              </a:rPr>
              <a:t>DBMS_METADATA.GET_DDL 기반 테이블/인덱스 구조 추출 및 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572000"/>
            <a:ext cx="2011680" cy="381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370"/>
                </a:solidFill>
                <a:latin typeface="Malgun Gothic"/>
              </a:rPr>
              <a:t>Oracle DB 스키마 분석 실습 — Part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0"/>
                </a:solidFill>
                <a:latin typeface="Malgun Gothic"/>
              </a:rPr>
              <a:t>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ED"/>
                </a:solidFill>
                <a:latin typeface="Malgun Gothic"/>
              </a:rPr>
              <a:t>01  TASK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Malgun Gothic"/>
              </a:rPr>
              <a:t>과제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370"/>
                </a:solidFill>
                <a:latin typeface="Malgun Gothic"/>
              </a:rPr>
              <a:t>제공된 인터넷 사업체 데이터의 ERD를 역공학(Reverse Engineering)으로 추출한다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Malgun Gothic"/>
              </a:rPr>
              <a:t>과제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22730"/>
                </a:solidFill>
                <a:latin typeface="Malgun Gothic"/>
              </a:rPr>
              <a:t>▪ 회원, 주문/결제, 상품, 로그 등 인터넷 사업체 데이터를 대상으로</a:t>
            </a:r>
          </a:p>
          <a:p>
            <a:pPr marL="228600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22730"/>
                </a:solidFill>
                <a:latin typeface="Malgun Gothic"/>
              </a:rPr>
              <a:t>▪ 실제 운영 중인 스키마의 ERD를 정방향 설계서가 아닌</a:t>
            </a:r>
          </a:p>
          <a:p>
            <a:pPr marL="228600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22730"/>
                </a:solidFill>
                <a:latin typeface="Malgun Gothic"/>
              </a:rPr>
              <a:t>▪ 데이터베이스 딕셔너리(메타데이터) 조회를 통해 역으로 복원한다.</a:t>
            </a: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B6370"/>
                </a:solidFill>
                <a:latin typeface="Malgun Gothic"/>
              </a:rPr>
              <a:t>– 목표: 문서화되지 않은 테이블·관계까지 빠짐없이 식별</a:t>
            </a: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B6370"/>
                </a:solidFill>
                <a:latin typeface="Malgun Gothic"/>
              </a:rPr>
              <a:t>– 목표: PK/FK/인덱스 구조를 실측 기준으로 검증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03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Malgun Gothic"/>
              </a:rPr>
              <a:t>실습 활동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56032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22730"/>
                </a:solidFill>
                <a:latin typeface="Malgun Gothic"/>
              </a:rPr>
              <a:t>▪ DBMS_METADATA.GET_DDL 로 테이블·인덱스 DDL 원본 추출</a:t>
            </a:r>
          </a:p>
          <a:p>
            <a:pPr marL="228600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22730"/>
                </a:solidFill>
                <a:latin typeface="Malgun Gothic"/>
              </a:rPr>
              <a:t>▪ USER_TAB_COLUMNS / USER_COL_COMMENTS 로 컬럼·코멘트 조회</a:t>
            </a:r>
          </a:p>
          <a:p>
            <a:pPr marL="228600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22730"/>
                </a:solidFill>
                <a:latin typeface="Malgun Gothic"/>
              </a:rPr>
              <a:t>▪ USER_CONSTRAINTS / USER_CONS_COLUMNS 로 PK·FK 관계 추출</a:t>
            </a:r>
          </a:p>
          <a:p>
            <a:pPr marL="228600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22730"/>
                </a:solidFill>
                <a:latin typeface="Malgun Gothic"/>
              </a:rPr>
              <a:t>▪ USER_IND_COLUMNS 로 인덱스 구성 컬럼 및 순서 확인</a:t>
            </a:r>
          </a:p>
          <a:p>
            <a:pPr marL="228600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22730"/>
                </a:solidFill>
                <a:latin typeface="Malgun Gothic"/>
              </a:rPr>
              <a:t>▪ 추출 결과를 도메인 설계 문서와 교차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Malgun Gothic"/>
              </a:rPr>
              <a:t>2 /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370"/>
                </a:solidFill>
                <a:latin typeface="Malgun Gothic"/>
              </a:rPr>
              <a:t>BO 스키마 분석 프로젝트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ED"/>
                </a:solidFill>
                <a:latin typeface="Malgun Gothic"/>
              </a:rPr>
              <a:t>02 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Malgun Gothic"/>
              </a:rPr>
              <a:t>분석 대상: BO 스키마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370"/>
                </a:solidFill>
                <a:latin typeface="Malgun Gothic"/>
              </a:rPr>
              <a:t>업무 테이블 12종 + 참고용(스크래치) 테이블 4종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1064239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383280"/>
                <a:gridCol w="3749039"/>
                <a:gridCol w="2651760"/>
              </a:tblGrid>
              <a:tr h="374903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영역</a:t>
                      </a:r>
                    </a:p>
                  </a:txBody>
                  <a:tcPr anchor="ctr" marT="50800" marB="508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테이블명</a:t>
                      </a:r>
                    </a:p>
                  </a:txBody>
                  <a:tcPr anchor="ctr" marT="50800" marB="508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anchor="ctr" marT="50800" marB="508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PK</a:t>
                      </a:r>
                    </a:p>
                  </a:txBody>
                  <a:tcPr anchor="ctr" marT="50800" marB="50800">
                    <a:solidFill>
                      <a:srgbClr val="1B2A4A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고객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CUSTOMERS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고객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CUST_ID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고객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CUST_CONTACTS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고객연락처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CUST_ID, CONTACT_TYPE, CONTACT_ORD_NUM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고객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SHIPMENT_ADDRESSES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배송주소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CUST_ID, SHIP_ADDR_ORD_NUM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주문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ORDERS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주문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ORDER_ID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주문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ORDER_ITEMS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주문내역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ORDER_ID, ORDER_SEQ_ID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상품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PRODUCTS / CATEGORIES / CORPORATIONS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상품 / 상품분류 / 협력업체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PRODUCT_ID 외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배송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SHIPMENTS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배송내역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ORDER_ID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문의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INQUIRIES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상담내역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CUST_ID, INQ_DT, INQ_TYPE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</a:tr>
              <a:tr h="37491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사원/부서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EMPLOYEES / DEPARTMENTS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사원 / 부서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EMP_ID / DEPT_ID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B6370"/>
                </a:solidFill>
                <a:latin typeface="Malgun Gothic"/>
              </a:rPr>
              <a:t>▪ 제외 테이블(업무 무관, 코멘트 없음): BO_TEST, PERF_STAT, PERF_STAT_P, TBL_IDX01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Malgun Gothic"/>
              </a:rPr>
              <a:t>3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370"/>
                </a:solidFill>
                <a:latin typeface="Malgun Gothic"/>
              </a:rPr>
              <a:t>BO 스키마 분석 프로젝트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ED"/>
                </a:solidFill>
                <a:latin typeface="Malgun Gothic"/>
              </a:rPr>
              <a:t>03 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Malgun Gothic"/>
              </a:rPr>
              <a:t>역공학 방법론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370"/>
                </a:solidFill>
                <a:latin typeface="Malgun Gothic"/>
              </a:rPr>
              <a:t>DBMS_METADATA.GET_DDL 및 딕셔너리 뷰 조합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577840" cy="420624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FC1FF"/>
                </a:solidFill>
                <a:latin typeface="Malgun Gothic"/>
              </a:rPr>
              <a:t>① DDL 원본 추출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E8EEFB"/>
                </a:solidFill>
                <a:latin typeface="Consolas"/>
              </a:rPr>
              <a:t>SELECT DBMS_METADATA.GET_DDL(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EEFB"/>
                </a:solidFill>
                <a:latin typeface="Consolas"/>
              </a:rPr>
              <a:t>  'TABLE', table_name, 'BO')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EEFB"/>
                </a:solidFill>
                <a:latin typeface="Consolas"/>
              </a:rPr>
              <a:t>FROM user_tables;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EEFB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EEFB"/>
                </a:solidFill>
                <a:latin typeface="Consolas"/>
              </a:rPr>
              <a:t>SELECT DBMS_METADATA.GET_DDL(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EEFB"/>
                </a:solidFill>
                <a:latin typeface="Consolas"/>
              </a:rPr>
              <a:t>  'INDEX', index_name, 'BO')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EEFB"/>
                </a:solidFill>
                <a:latin typeface="Consolas"/>
              </a:rPr>
              <a:t>FROM user_indexes;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EEFB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EEFB"/>
                </a:solidFill>
                <a:latin typeface="Consolas"/>
              </a:rPr>
              <a:t>SELECT DBMS_METADATA.GET_DDL(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EEFB"/>
                </a:solidFill>
                <a:latin typeface="Consolas"/>
              </a:rPr>
              <a:t>  'REF_CONSTRAINT', constraint_name)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EEFB"/>
                </a:solidFill>
                <a:latin typeface="Consolas"/>
              </a:rPr>
              <a:t>FROM user_constraints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EEFB"/>
                </a:solidFill>
                <a:latin typeface="Consolas"/>
              </a:rPr>
              <a:t>WHERE constraint_type = 'R';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257800" cy="420624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057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Malgun Gothic"/>
              </a:rPr>
              <a:t>② 구조 검증에 사용한 딕셔너리 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51460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800"/>
              </a:spcAft>
            </a:pPr>
            <a:r>
              <a:rPr sz="1450" b="0">
                <a:solidFill>
                  <a:srgbClr val="222730"/>
                </a:solidFill>
                <a:latin typeface="Malgun Gothic"/>
              </a:rPr>
              <a:t>▪ USER_TAB_COLUMNS — 컬럼명/타입/길이/NULL 여부</a:t>
            </a:r>
          </a:p>
          <a:p>
            <a:pPr marL="228600">
              <a:lnSpc>
                <a:spcPct val="115000"/>
              </a:lnSpc>
              <a:spcAft>
                <a:spcPts val="800"/>
              </a:spcAft>
            </a:pPr>
            <a:r>
              <a:rPr sz="1450" b="0">
                <a:solidFill>
                  <a:srgbClr val="222730"/>
                </a:solidFill>
                <a:latin typeface="Malgun Gothic"/>
              </a:rPr>
              <a:t>▪ USER_COL_COMMENTS, USER_TAB_COMMENTS — 컬럼·테이블 코멘트</a:t>
            </a:r>
          </a:p>
          <a:p>
            <a:pPr marL="228600">
              <a:lnSpc>
                <a:spcPct val="115000"/>
              </a:lnSpc>
              <a:spcAft>
                <a:spcPts val="800"/>
              </a:spcAft>
            </a:pPr>
            <a:r>
              <a:rPr sz="1450" b="0">
                <a:solidFill>
                  <a:srgbClr val="222730"/>
                </a:solidFill>
                <a:latin typeface="Malgun Gothic"/>
              </a:rPr>
              <a:t>▪ USER_CONSTRAINTS + USER_CONS_COLUMNS — PK/FK 제약조건 및 참조 컬럼</a:t>
            </a:r>
          </a:p>
          <a:p>
            <a:pPr marL="228600">
              <a:lnSpc>
                <a:spcPct val="115000"/>
              </a:lnSpc>
              <a:spcAft>
                <a:spcPts val="800"/>
              </a:spcAft>
            </a:pPr>
            <a:r>
              <a:rPr sz="1450" b="0">
                <a:solidFill>
                  <a:srgbClr val="222730"/>
                </a:solidFill>
                <a:latin typeface="Malgun Gothic"/>
              </a:rPr>
              <a:t>▪ USER_IND_COLUMNS — 인덱스 구성 컬럼 및 순서(Cardinality 설계 파악)</a:t>
            </a:r>
          </a:p>
          <a:p>
            <a:pPr marL="228600">
              <a:lnSpc>
                <a:spcPct val="115000"/>
              </a:lnSpc>
              <a:spcAft>
                <a:spcPts val="800"/>
              </a:spcAft>
            </a:pPr>
            <a:r>
              <a:rPr sz="1450" b="0">
                <a:solidFill>
                  <a:srgbClr val="222730"/>
                </a:solidFill>
                <a:latin typeface="Malgun Gothic"/>
              </a:rPr>
              <a:t>▪ DBA_* 뷰로 스키마 간 참조까지 넓혀 재확인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Malgun Gothic"/>
              </a:rPr>
              <a:t>4 /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370"/>
                </a:solidFill>
                <a:latin typeface="Malgun Gothic"/>
              </a:rPr>
              <a:t>BO 스키마 분석 프로젝트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ED"/>
                </a:solidFill>
                <a:latin typeface="Malgun Gothic"/>
              </a:rPr>
              <a:t>04  ERD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Malgun Gothic"/>
              </a:rPr>
              <a:t>전체 ERD 관계도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370"/>
                </a:solidFill>
                <a:latin typeface="Malgun Gothic"/>
              </a:rPr>
              <a:t>6개 도메인(고객/주문/상품/배송/문의/사원-부서)으로 재구성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1600200" cy="566928"/>
          </a:xfrm>
          <a:prstGeom prst="roundRect">
            <a:avLst>
              <a:gd name="adj" fmla="val 12000"/>
            </a:avLst>
          </a:prstGeom>
          <a:solidFill>
            <a:srgbClr val="E9F1FF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B2A4A"/>
                </a:solidFill>
                <a:latin typeface="Malgun Gothic"/>
              </a:rPr>
              <a:t>CUSTOMERS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1600200" cy="566928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B2A4A"/>
                </a:solidFill>
                <a:latin typeface="Malgun Gothic"/>
              </a:rPr>
              <a:t>CUST_CONTACTS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526280"/>
            <a:ext cx="1600200" cy="566928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B2A4A"/>
                </a:solidFill>
                <a:latin typeface="Malgun Gothic"/>
              </a:rPr>
              <a:t>SHIPMENT_
ADDRESSES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3246120"/>
            <a:ext cx="1600200" cy="566928"/>
          </a:xfrm>
          <a:prstGeom prst="roundRect">
            <a:avLst>
              <a:gd name="adj" fmla="val 12000"/>
            </a:avLst>
          </a:prstGeom>
          <a:solidFill>
            <a:srgbClr val="E9F1FF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B2A4A"/>
                </a:solidFill>
                <a:latin typeface="Malgun Gothic"/>
              </a:rPr>
              <a:t>ORDERS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3246120"/>
            <a:ext cx="1600200" cy="566928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B2A4A"/>
                </a:solidFill>
                <a:latin typeface="Malgun Gothic"/>
              </a:rPr>
              <a:t>ORDER_ITEMS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4526280"/>
            <a:ext cx="1600200" cy="566928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B2A4A"/>
                </a:solidFill>
                <a:latin typeface="Malgun Gothic"/>
              </a:rPr>
              <a:t>SHIPMENTS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1965960"/>
            <a:ext cx="1600200" cy="566928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B2A4A"/>
                </a:solidFill>
                <a:latin typeface="Malgun Gothic"/>
              </a:rPr>
              <a:t>INQUIRIES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246120"/>
            <a:ext cx="1600200" cy="566928"/>
          </a:xfrm>
          <a:prstGeom prst="roundRect">
            <a:avLst>
              <a:gd name="adj" fmla="val 12000"/>
            </a:avLst>
          </a:prstGeom>
          <a:solidFill>
            <a:srgbClr val="E9F1FF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B2A4A"/>
                </a:solidFill>
                <a:latin typeface="Malgun Gothic"/>
              </a:rPr>
              <a:t>PRODUCTS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965960"/>
            <a:ext cx="1600200" cy="566928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B2A4A"/>
                </a:solidFill>
                <a:latin typeface="Malgun Gothic"/>
              </a:rPr>
              <a:t>CATEGORIES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4526280"/>
            <a:ext cx="1600200" cy="566928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B2A4A"/>
                </a:solidFill>
                <a:latin typeface="Malgun Gothic"/>
              </a:rPr>
              <a:t>CORPORATIONS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1965960"/>
            <a:ext cx="1600200" cy="566928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B2A4A"/>
                </a:solidFill>
                <a:latin typeface="Malgun Gothic"/>
              </a:rPr>
              <a:t>EMPLOYEES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965960"/>
            <a:ext cx="1600200" cy="566928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B2A4A"/>
                </a:solidFill>
                <a:latin typeface="Malgun Gothic"/>
              </a:rPr>
              <a:t>DEPARTMENTS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03020" y="2249424"/>
            <a:ext cx="0" cy="1280160"/>
          </a:xfrm>
          <a:prstGeom prst="line">
            <a:avLst/>
          </a:prstGeom>
          <a:ln w="15875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303020" y="3529584"/>
            <a:ext cx="0" cy="1280160"/>
          </a:xfrm>
          <a:prstGeom prst="line">
            <a:avLst/>
          </a:prstGeom>
          <a:ln w="15875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303020" y="3529584"/>
            <a:ext cx="2103120" cy="0"/>
          </a:xfrm>
          <a:prstGeom prst="line">
            <a:avLst/>
          </a:prstGeom>
          <a:ln w="15875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03020" y="2249424"/>
            <a:ext cx="2103120" cy="1280160"/>
          </a:xfrm>
          <a:prstGeom prst="line">
            <a:avLst/>
          </a:prstGeom>
          <a:ln w="15875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303020" y="3529584"/>
            <a:ext cx="2103120" cy="1280160"/>
          </a:xfrm>
          <a:prstGeom prst="line">
            <a:avLst/>
          </a:prstGeom>
          <a:ln w="15875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06140" y="3529584"/>
            <a:ext cx="2103120" cy="0"/>
          </a:xfrm>
          <a:prstGeom prst="line">
            <a:avLst/>
          </a:prstGeom>
          <a:ln w="15875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406140" y="2249424"/>
            <a:ext cx="0" cy="1280160"/>
          </a:xfrm>
          <a:prstGeom prst="line">
            <a:avLst/>
          </a:prstGeom>
          <a:ln w="15875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406140" y="3529584"/>
            <a:ext cx="0" cy="1280160"/>
          </a:xfrm>
          <a:prstGeom prst="line">
            <a:avLst/>
          </a:prstGeom>
          <a:ln w="15875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509260" y="3529584"/>
            <a:ext cx="2103120" cy="0"/>
          </a:xfrm>
          <a:prstGeom prst="line">
            <a:avLst/>
          </a:prstGeom>
          <a:ln w="15875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406140" y="2249424"/>
            <a:ext cx="4206240" cy="1280160"/>
          </a:xfrm>
          <a:prstGeom prst="line">
            <a:avLst/>
          </a:prstGeom>
          <a:ln w="15875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612380" y="2249424"/>
            <a:ext cx="2103120" cy="1280160"/>
          </a:xfrm>
          <a:prstGeom prst="line">
            <a:avLst/>
          </a:prstGeom>
          <a:ln w="15875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12380" y="3529584"/>
            <a:ext cx="2103120" cy="1280160"/>
          </a:xfrm>
          <a:prstGeom prst="line">
            <a:avLst/>
          </a:prstGeom>
          <a:ln w="15875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406140" y="4809744"/>
            <a:ext cx="6309360" cy="0"/>
          </a:xfrm>
          <a:prstGeom prst="line">
            <a:avLst/>
          </a:prstGeom>
          <a:ln w="15875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3406140" y="2249424"/>
            <a:ext cx="4206240" cy="1280160"/>
          </a:xfrm>
          <a:prstGeom prst="line">
            <a:avLst/>
          </a:prstGeom>
          <a:ln w="15875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3406140" y="2249424"/>
            <a:ext cx="4206240" cy="0"/>
          </a:xfrm>
          <a:prstGeom prst="line">
            <a:avLst/>
          </a:prstGeom>
          <a:ln w="15875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612380" y="2249424"/>
            <a:ext cx="2103120" cy="0"/>
          </a:xfrm>
          <a:prstGeom prst="line">
            <a:avLst/>
          </a:prstGeom>
          <a:ln w="15875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8640" y="5989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70"/>
                </a:solidFill>
                <a:latin typeface="Malgun Gothic"/>
              </a:rPr>
              <a:t>실선: FK 관계  |  주황 박스: 신규 발견 도메인(EMPLOYEES/DEPARTMENTS)  |  SHIPMENTS-ORDERS는 PK 공유로 1:1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Malgun Gothic"/>
              </a:rPr>
              <a:t>5 /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370"/>
                </a:solidFill>
                <a:latin typeface="Malgun Gothic"/>
              </a:rPr>
              <a:t>BO 스키마 분석 프로젝트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ED"/>
                </a:solidFill>
                <a:latin typeface="Malgun Gothic"/>
              </a:rPr>
              <a:t>05 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Malgun Gothic"/>
              </a:rPr>
              <a:t>FK 관계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370"/>
                </a:solidFill>
                <a:latin typeface="Malgun Gothic"/>
              </a:rPr>
              <a:t>USER_CONSTRAINTS / USER_CONS_COLUMNS 조회 결과 18건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383280"/>
                <a:gridCol w="2011680"/>
                <a:gridCol w="3383280"/>
              </a:tblGrid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Child Table</a:t>
                      </a:r>
                    </a:p>
                  </a:txBody>
                  <a:tcPr anchor="ctr" marT="50800" marB="508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Child Column</a:t>
                      </a:r>
                    </a:p>
                  </a:txBody>
                  <a:tcPr anchor="ctr" marT="50800" marB="508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FK명</a:t>
                      </a:r>
                    </a:p>
                  </a:txBody>
                  <a:tcPr anchor="ctr" marT="50800" marB="508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Parent Table</a:t>
                      </a:r>
                    </a:p>
                  </a:txBody>
                  <a:tcPr anchor="ctr" marT="50800" marB="50800">
                    <a:solidFill>
                      <a:srgbClr val="1B2A4A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CUST_CONTACTS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CUST_ID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CUST_CONTACTS_R1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CUSTOMERS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SHIPMENT_ADDRESSES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CUST_ID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SHIPMENT_ADDRESS_R1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CUSTOMERS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ORDERS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CUST_ID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ORDERS_R1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CUSTOMERS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ORDERS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ORDER_RCT_EMP_ID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ORDERS_R2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EMPLOYEES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ORDER_ITEMS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ORDER_ID / PRODUCT_ID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ORDER_ITEMS_R1/R2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ORDERS / PRODUCTS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PRODUCTS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CATEGORY_ID / VENDOR_ID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PRODUCTS_R1/R2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CATEGORIES / CORPORATIONS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SHIPMENTS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CUST_ID / ORDER_ID / SHIPMENT_CORPORATION_ID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SHIPMENTS_R1/R2/R3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CUSTOMERS / ORDERS / CORPORATIONS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INQUIRIES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CUST_ID / ORDER_ID / PRODUCT_ID / EMP_ID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INQUIRIES_R1~R4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CUSTOMERS / ORDERS / PRODUCTS / EMPLOYEES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EMPLOYEES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DEPT_ID / ADMIN_EMP_ID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EMPLOYEES_R1/R2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DEPARTMENTS / EMPLOYEES(자기참조)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DEPARTMENTS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UPPER_DEPT_ID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DEPARTMENTS_R1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  <a:latin typeface="Consolas"/>
                        </a:rPr>
                        <a:t>DEPARTMENTS(자기참조)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Malgun Gothic"/>
              </a:rPr>
              <a:t>6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370"/>
                </a:solidFill>
                <a:latin typeface="Malgun Gothic"/>
              </a:rPr>
              <a:t>BO 스키마 분석 프로젝트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ED"/>
                </a:solidFill>
                <a:latin typeface="Malgun Gothic"/>
              </a:rPr>
              <a:t>06  INDEX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Malgun Gothic"/>
              </a:rPr>
              <a:t>인덱스 구조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370"/>
                </a:solidFill>
                <a:latin typeface="Malgun Gothic"/>
              </a:rPr>
              <a:t>USER_IND_COLUMNS 기준 — Cardinality를 고려한 컬럼 순서 설계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77440"/>
                <a:gridCol w="3291840"/>
                <a:gridCol w="356616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테이블</a:t>
                      </a:r>
                    </a:p>
                  </a:txBody>
                  <a:tcPr anchor="ctr" marT="50800" marB="508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인덱스명</a:t>
                      </a:r>
                    </a:p>
                  </a:txBody>
                  <a:tcPr anchor="ctr" marT="50800" marB="508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구성 컬럼(순서)</a:t>
                      </a:r>
                    </a:p>
                  </a:txBody>
                  <a:tcPr anchor="ctr" marT="50800" marB="508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설계 의도(추정)</a:t>
                      </a:r>
                    </a:p>
                  </a:txBody>
                  <a:tcPr anchor="ctr" marT="50800" marB="50800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ORDERS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ORDERS_T1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CUST_ID, ORDER_DT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고객별 최근 주문 조회 최적화(복합)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ORDERS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ORDERS_N1 / N2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ORDER_DT / ORDER_STATUS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기간·상태별 단건 조회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SHIPMENTS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IX_SHIPMENTS_R1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CUST_ID, SHIP_ADDR_ORD_NUM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고객 배송지 참조 조회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INQUIRIES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INQUIRIES_F1~F4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ORDER_ID / EMP_ID / PRODUCT_ID / CUST_ID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FK 컬럼 전체 인덱싱(조인 최적화)</a:t>
                      </a:r>
                    </a:p>
                  </a:txBody>
                  <a:tcPr anchor="ctr" marT="38100" marB="38100">
                    <a:solidFill>
                      <a:srgbClr val="EEF1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EMPLOYEES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EMPLOYEES_F1 / F2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DEPT_ID / ADMIN_EMP_ID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  <a:latin typeface="Consolas"/>
                        </a:rPr>
                        <a:t>부서·상급자 자기참조 조인 최적화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F0C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50468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5A00"/>
                </a:solidFill>
                <a:latin typeface="Malgun Gothic"/>
              </a:rPr>
              <a:t>Part 2 연계 포인트: ORDERS_T1(CUST_ID, ORDER_DT)의 컬럼 순서가 실제 실행계획에서</a:t>
            </a:r>
          </a:p>
          <a:p>
            <a:pPr algn="l"/>
            <a:r>
              <a:rPr sz="1300" b="0">
                <a:solidFill>
                  <a:srgbClr val="8A5A00"/>
                </a:solidFill>
                <a:latin typeface="Malgun Gothic"/>
              </a:rPr>
              <a:t>Index Range Scan을 유도하는지 AUTOTRACE / DBMS_XPLAN으로 검증 예정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Malgun Gothic"/>
              </a:rPr>
              <a:t>7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370"/>
                </a:solidFill>
                <a:latin typeface="Malgun Gothic"/>
              </a:rPr>
              <a:t>BO 스키마 분석 프로젝트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ED"/>
                </a:solidFill>
                <a:latin typeface="Malgun Gothic"/>
              </a:rPr>
              <a:t>07 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Malgun Gothic"/>
              </a:rPr>
              <a:t>역공학 중 발견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370"/>
                </a:solidFill>
                <a:latin typeface="Malgun Gothic"/>
              </a:rPr>
              <a:t>도메인 설계 문서 vs. 실제 DB 메타데이터 교차 검증 결과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874519"/>
            <a:ext cx="457200" cy="45720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47087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Malgun Gothic"/>
              </a:rPr>
              <a:t>사원/부서 영역 누락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828799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370"/>
                </a:solidFill>
                <a:latin typeface="Malgun Gothic"/>
              </a:rPr>
              <a:t>ORDERS.ORDER_RCT_EMP_ID, INQUIRIES.EMP_ID가 EMPLOYEES를 참조하지만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370"/>
                </a:solidFill>
                <a:latin typeface="Malgun Gothic"/>
              </a:rPr>
              <a:t>기존 도메인 문서에는 EMPLOYEES/DEPARTMENTS가 없어 ERD가 단절되어 있었음 → 추가 반영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98647"/>
            <a:ext cx="457200" cy="45720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71215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Malgun Gothic"/>
              </a:rPr>
              <a:t>PK 제약조건명 오탈자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852927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370"/>
                </a:solidFill>
                <a:latin typeface="Malgun Gothic"/>
              </a:rPr>
              <a:t>CORPORATIONS 테이블의 PK 제약조건명이 CORPORATIONS_PK가 아닌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370"/>
                </a:solidFill>
                <a:latin typeface="Malgun Gothic"/>
              </a:rPr>
              <a:t>COOPERATIONS_PK로 등록 (기능 영향 없음, 명명 규칙 예외)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922775"/>
            <a:ext cx="457200" cy="45720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895343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Malgun Gothic"/>
              </a:rPr>
              <a:t>코드값 목록 미확인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877055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370"/>
                </a:solidFill>
                <a:latin typeface="Malgun Gothic"/>
              </a:rPr>
              <a:t>SHIPMENT_ADDRESSES.REGION_TYPE, EMPLOYEES.JOB_POSITION은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370"/>
                </a:solidFill>
                <a:latin typeface="Malgun Gothic"/>
              </a:rPr>
              <a:t>코멘트에 코드 매핑이 없어 값 목록 추가 확인 필요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946903"/>
            <a:ext cx="457200" cy="45720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919471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Malgun Gothic"/>
              </a:rPr>
              <a:t>SHIPMENTS 1:1 관계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901183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370"/>
                </a:solidFill>
                <a:latin typeface="Malgun Gothic"/>
              </a:rPr>
              <a:t>PK가 ORDER_ID 단일 컬럼 → 주문 1건당 배송 레코드 정확히 1건.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370"/>
                </a:solidFill>
                <a:latin typeface="Malgun Gothic"/>
              </a:rPr>
              <a:t>CUST_ID를 ORDERS 경유 없이 직접 FK로 보유(조회 성능을 위한 의도적 비정규화)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Malgun Gothic"/>
              </a:rPr>
              <a:t>8 /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370"/>
                </a:solidFill>
                <a:latin typeface="Malgun Gothic"/>
              </a:rPr>
              <a:t>BO 스키마 분석 프로젝트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ED"/>
                </a:solidFill>
                <a:latin typeface="Malgun Gothic"/>
              </a:rPr>
              <a:t>08 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Malgun Gothic"/>
              </a:rPr>
              <a:t>결론 및 다음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4114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Malgun Gothic"/>
              </a:rPr>
              <a:t>Part 1 결론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22730"/>
                </a:solidFill>
                <a:latin typeface="Malgun Gothic"/>
              </a:rPr>
              <a:t>▪ 업무 테이블 12종, FK 관계 18건, 인덱스 40건 전량 실측 검증 완료</a:t>
            </a:r>
          </a:p>
          <a:p>
            <a:pPr marL="228600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22730"/>
                </a:solidFill>
                <a:latin typeface="Malgun Gothic"/>
              </a:rPr>
              <a:t>▪ 5개 도메인 문서를 6개 도메인(사원/부서 추가)으로 보완</a:t>
            </a:r>
          </a:p>
          <a:p>
            <a:pPr marL="228600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22730"/>
                </a:solidFill>
                <a:latin typeface="Malgun Gothic"/>
              </a:rPr>
              <a:t>▪ PK/FK/인덱스 구조를 반영한 통합 ERD 문서화 완료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Malgun Gothic"/>
              </a:rPr>
              <a:t>Part 2. SQL 튜닝 및 인덱스 전략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6032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22730"/>
                </a:solidFill>
                <a:latin typeface="Malgun Gothic"/>
              </a:rPr>
              <a:t>▪ 2014년 4~6월 우수 회원 구매 패턴 분석 쿼리 작성</a:t>
            </a:r>
          </a:p>
          <a:p>
            <a:pPr marL="228600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22730"/>
                </a:solidFill>
                <a:latin typeface="Malgun Gothic"/>
              </a:rPr>
              <a:t>▪ AUTOTRACE / EXPLAIN PLAN / DBMS_XPLAN.DISPLAY_CURSOR 로 실행계획 분석</a:t>
            </a:r>
          </a:p>
          <a:p>
            <a:pPr marL="228600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22730"/>
                </a:solidFill>
                <a:latin typeface="Malgun Gothic"/>
              </a:rPr>
              <a:t>▪ Full Table Scan → Index Range Scan 유도 튜닝</a:t>
            </a:r>
          </a:p>
          <a:p>
            <a:pPr marL="228600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22730"/>
                </a:solidFill>
                <a:latin typeface="Malgun Gothic"/>
              </a:rPr>
              <a:t>▪ 복합 인덱스 컬럼 순서(Cardinality)에 따른 비용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Malgun Gothic"/>
              </a:rPr>
              <a:t>9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370"/>
                </a:solidFill>
                <a:latin typeface="Malgun Gothic"/>
              </a:rPr>
              <a:t>BO 스키마 분석 프로젝트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B2A4A"/>
                </a:solidFill>
                <a:latin typeface="Malgun Gothic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370"/>
                </a:solidFill>
                <a:latin typeface="Malgun Gothic"/>
              </a:rPr>
              <a:t>BO 스키마 분석 및 트랜잭션 시뮬레이션 —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Malgun Gothic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